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273" r:id="rId5"/>
    <p:sldId id="257" r:id="rId6"/>
    <p:sldId id="274" r:id="rId7"/>
    <p:sldId id="275" r:id="rId8"/>
    <p:sldId id="268" r:id="rId9"/>
    <p:sldId id="258" r:id="rId10"/>
    <p:sldId id="259" r:id="rId11"/>
    <p:sldId id="266" r:id="rId12"/>
    <p:sldId id="272" r:id="rId13"/>
    <p:sldId id="267" r:id="rId14"/>
    <p:sldId id="265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4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4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2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7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1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2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6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75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1588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86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02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79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73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0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76B20F-062E-4219-A0E2-0745ABFF4BA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1C320-BC9B-4541-B8C0-6ABCB83B7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344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7B13-906B-2F5A-8F18-E1544E8EC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99A0B-6496-B968-C609-CFE8B504E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2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B111-F14F-576D-746F-F78BAB9D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520E1-7D54-6E98-3C82-8CA6C6EC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Arrays are containers for data of different dimensions and shapes</a:t>
            </a:r>
          </a:p>
          <a:p>
            <a:r>
              <a:rPr lang="en-GB" dirty="0"/>
              <a:t>Subtle differences between mathematical arrays and </a:t>
            </a:r>
            <a:r>
              <a:rPr lang="en-GB" dirty="0" err="1"/>
              <a:t>numpy</a:t>
            </a:r>
            <a:r>
              <a:rPr lang="en-GB" dirty="0"/>
              <a:t> arrays</a:t>
            </a:r>
          </a:p>
          <a:p>
            <a:pPr lvl="1"/>
            <a:r>
              <a:rPr lang="en-GB" dirty="0"/>
              <a:t>Math arrays have specific properties </a:t>
            </a:r>
            <a:r>
              <a:rPr lang="en-GB" dirty="0" err="1"/>
              <a:t>numpy</a:t>
            </a:r>
            <a:r>
              <a:rPr lang="en-GB" dirty="0"/>
              <a:t> arrays do not</a:t>
            </a:r>
          </a:p>
          <a:p>
            <a:r>
              <a:rPr lang="en-GB" dirty="0"/>
              <a:t>Building blocks of much of quantitative analysis</a:t>
            </a:r>
          </a:p>
        </p:txBody>
      </p:sp>
    </p:spTree>
    <p:extLst>
      <p:ext uri="{BB962C8B-B14F-4D97-AF65-F5344CB8AC3E}">
        <p14:creationId xmlns:p14="http://schemas.microsoft.com/office/powerpoint/2010/main" val="144741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AD34-64F3-FD0D-07F6-9D1CBA43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shapes and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1C95-7FFF-58E6-7849-D0293D07A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Dimensions = Number of groups of elements</a:t>
            </a:r>
          </a:p>
          <a:p>
            <a:r>
              <a:rPr lang="en-US" dirty="0"/>
              <a:t>Shape = number of elements in each dimension or group</a:t>
            </a:r>
          </a:p>
          <a:p>
            <a:pPr lvl="1"/>
            <a:r>
              <a:rPr lang="en-US" dirty="0"/>
              <a:t>1-dimensional array -&gt; One shape value</a:t>
            </a:r>
          </a:p>
          <a:p>
            <a:pPr lvl="1"/>
            <a:r>
              <a:rPr lang="en-US" dirty="0"/>
              <a:t>2-dimensional array -&gt; Two shape values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CE03F33-4DE5-00A5-725A-06072EE47F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2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3E1E3BE-8451-22FE-5332-EA7B101C4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 descr="A diagram of several groups&#10;&#10;Description automatically generated with medium confidence">
            <a:extLst>
              <a:ext uri="{FF2B5EF4-FFF2-40B4-BE49-F238E27FC236}">
                <a16:creationId xmlns:a16="http://schemas.microsoft.com/office/drawing/2014/main" id="{A71E4AC5-D7D4-8FBD-E1D1-0D1240B53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3895" y="435864"/>
            <a:ext cx="8979408" cy="598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06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BDCF-C81B-8D62-64E8-9D1422D0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7DA1-4C4D-74D7-B4C7-E7485747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= 1-dimensional array</a:t>
            </a:r>
          </a:p>
          <a:p>
            <a:r>
              <a:rPr lang="en-US" dirty="0"/>
              <a:t>Matrix = 2-dimensional array</a:t>
            </a:r>
          </a:p>
          <a:p>
            <a:r>
              <a:rPr lang="en-US" dirty="0"/>
              <a:t>Tensor = 3-dimensional or higher array</a:t>
            </a:r>
          </a:p>
          <a:p>
            <a:r>
              <a:rPr lang="en-US" dirty="0"/>
              <a:t>Scalars = single numeric values</a:t>
            </a:r>
          </a:p>
        </p:txBody>
      </p:sp>
    </p:spTree>
    <p:extLst>
      <p:ext uri="{BB962C8B-B14F-4D97-AF65-F5344CB8AC3E}">
        <p14:creationId xmlns:p14="http://schemas.microsoft.com/office/powerpoint/2010/main" val="238204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DF81-FBC9-D1C7-5801-DD62E699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Rows and columns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2A74F4-BD47-1911-CDB4-51CC322D4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matrices, rows always listed first, then columns</a:t>
            </a:r>
          </a:p>
          <a:p>
            <a:pPr lvl="1"/>
            <a:r>
              <a:rPr lang="en-US" dirty="0"/>
              <a:t>Rows = observations</a:t>
            </a:r>
          </a:p>
          <a:p>
            <a:pPr lvl="1"/>
            <a:r>
              <a:rPr lang="en-US" dirty="0"/>
              <a:t>Columns = variables</a:t>
            </a:r>
          </a:p>
          <a:p>
            <a:r>
              <a:rPr lang="en-US" dirty="0"/>
              <a:t>Real-world memory aids</a:t>
            </a:r>
          </a:p>
          <a:p>
            <a:pPr lvl="1"/>
            <a:r>
              <a:rPr lang="en-US" dirty="0"/>
              <a:t>Event seating: Row 11, seat 23</a:t>
            </a:r>
          </a:p>
          <a:p>
            <a:pPr lvl="1"/>
            <a:r>
              <a:rPr lang="en-US" dirty="0"/>
              <a:t>Apartments: Floor as Row, Apt # as column</a:t>
            </a:r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C0ADF211-05AC-8EF8-5A65-C369C583B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753" y="5032185"/>
            <a:ext cx="6811326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3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57BD-29CA-62F7-7197-264695CB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Rows and columns,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7BFDF-B412-BF71-7263-2BD3B1EA1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real world examples, no semantic meaning to rows and columns</a:t>
            </a:r>
          </a:p>
          <a:p>
            <a:r>
              <a:rPr lang="en-US" dirty="0"/>
              <a:t>Matrix: 5,23</a:t>
            </a:r>
          </a:p>
          <a:p>
            <a:pPr lvl="1"/>
            <a:r>
              <a:rPr lang="en-US" dirty="0"/>
              <a:t>Assume row 5 and seat 23</a:t>
            </a:r>
          </a:p>
          <a:p>
            <a:pPr lvl="1"/>
            <a:r>
              <a:rPr lang="en-US" dirty="0"/>
              <a:t>Transpose value: 23,5</a:t>
            </a:r>
          </a:p>
          <a:p>
            <a:pPr lvl="1"/>
            <a:r>
              <a:rPr lang="en-US" dirty="0"/>
              <a:t>Assume row 23, 5</a:t>
            </a:r>
          </a:p>
          <a:p>
            <a:r>
              <a:rPr lang="en-US" dirty="0" err="1"/>
              <a:t>Dataframe</a:t>
            </a:r>
            <a:r>
              <a:rPr lang="en-US" dirty="0"/>
              <a:t>: Labels explicit</a:t>
            </a:r>
          </a:p>
          <a:p>
            <a:pPr lvl="1"/>
            <a:r>
              <a:rPr lang="en-US" dirty="0"/>
              <a:t>Row 5, Seat 23</a:t>
            </a:r>
          </a:p>
          <a:p>
            <a:pPr lvl="1"/>
            <a:r>
              <a:rPr lang="en-US" dirty="0"/>
              <a:t>Transposed: Seat 23, Row 5</a:t>
            </a:r>
          </a:p>
        </p:txBody>
      </p:sp>
    </p:spTree>
    <p:extLst>
      <p:ext uri="{BB962C8B-B14F-4D97-AF65-F5344CB8AC3E}">
        <p14:creationId xmlns:p14="http://schemas.microsoft.com/office/powerpoint/2010/main" val="220097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3F5D-BB8E-C66D-E643-FB2CE3F3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importance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FAA13-B0C0-A20F-15E6-C7E4124A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Matrices: Linear regression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s-E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s-E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Tensors: </a:t>
                </a:r>
              </a:p>
              <a:p>
                <a:pPr lvl="1"/>
                <a:r>
                  <a:rPr lang="en-US" dirty="0"/>
                  <a:t>Word/sentence embeddings</a:t>
                </a:r>
              </a:p>
              <a:p>
                <a:pPr lvl="1"/>
                <a:r>
                  <a:rPr lang="en-US" dirty="0"/>
                  <a:t>Images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FAA13-B0C0-A20F-15E6-C7E4124A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89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BF7E-3B6A-10F2-C92D-6F1E7EB4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1007-DCC5-1B83-9F18-A2126B519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dimensional array</a:t>
            </a:r>
          </a:p>
          <a:p>
            <a:r>
              <a:rPr lang="en-US" dirty="0"/>
              <a:t>array([0,1,2,3])</a:t>
            </a:r>
          </a:p>
          <a:p>
            <a:r>
              <a:rPr lang="en-US" dirty="0"/>
              <a:t>Shape = number of elements </a:t>
            </a:r>
          </a:p>
          <a:p>
            <a:pPr lvl="1"/>
            <a:r>
              <a:rPr lang="en-US" dirty="0"/>
              <a:t>Here, 4</a:t>
            </a:r>
          </a:p>
        </p:txBody>
      </p:sp>
    </p:spTree>
    <p:extLst>
      <p:ext uri="{BB962C8B-B14F-4D97-AF65-F5344CB8AC3E}">
        <p14:creationId xmlns:p14="http://schemas.microsoft.com/office/powerpoint/2010/main" val="390201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D824-FEB8-2774-4AFD-1EEB8B13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E857-0C90-5295-EFF7-4448760B2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Two-dimensional arrays (</a:t>
            </a:r>
            <a:r>
              <a:rPr lang="en-US" dirty="0" err="1"/>
              <a:t>np.ndim</a:t>
            </a:r>
            <a:r>
              <a:rPr lang="en-US" dirty="0"/>
              <a:t>()==2)</a:t>
            </a:r>
          </a:p>
          <a:p>
            <a:r>
              <a:rPr lang="en-US" dirty="0" err="1"/>
              <a:t>Np.shape</a:t>
            </a:r>
            <a:r>
              <a:rPr lang="en-US" dirty="0"/>
              <a:t>(matrix) = (2,3)</a:t>
            </a:r>
          </a:p>
          <a:p>
            <a:r>
              <a:rPr lang="en-US" dirty="0"/>
              <a:t>First value always refers to rows</a:t>
            </a:r>
          </a:p>
          <a:p>
            <a:r>
              <a:rPr lang="en-US" dirty="0"/>
              <a:t>Second value always refers to columns</a:t>
            </a:r>
          </a:p>
          <a:p>
            <a:r>
              <a:rPr lang="en-US" dirty="0"/>
              <a:t>Building blocks of data frames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3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44B9-C729-B12F-92A0-242EDBA7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35A7-3E45-4B96-541A-CB56B98E3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or more dimensions</a:t>
            </a:r>
          </a:p>
          <a:p>
            <a:r>
              <a:rPr lang="en-US" dirty="0"/>
              <a:t>Word or sentence embeddings as example</a:t>
            </a:r>
          </a:p>
        </p:txBody>
      </p:sp>
    </p:spTree>
    <p:extLst>
      <p:ext uri="{BB962C8B-B14F-4D97-AF65-F5344CB8AC3E}">
        <p14:creationId xmlns:p14="http://schemas.microsoft.com/office/powerpoint/2010/main" val="24638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96B1-2652-16C2-01B5-BEDAEBE2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v.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2F41-EDB9-BEBF-02BC-CDBF579C13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  <a:p>
            <a:pPr lvl="1"/>
            <a:r>
              <a:rPr lang="en-US" dirty="0"/>
              <a:t>Multidimensional</a:t>
            </a:r>
          </a:p>
          <a:p>
            <a:pPr lvl="1"/>
            <a:r>
              <a:rPr lang="en-US" dirty="0"/>
              <a:t>Same data types</a:t>
            </a:r>
          </a:p>
          <a:p>
            <a:pPr lvl="1"/>
            <a:r>
              <a:rPr lang="en-US" dirty="0"/>
              <a:t>Index only</a:t>
            </a:r>
          </a:p>
          <a:p>
            <a:pPr lvl="1"/>
            <a:r>
              <a:rPr lang="en-US" dirty="0"/>
              <a:t>Smaller size</a:t>
            </a:r>
          </a:p>
          <a:p>
            <a:pPr lvl="1"/>
            <a:r>
              <a:rPr lang="en-US" dirty="0"/>
              <a:t>Rows/</a:t>
            </a:r>
            <a:r>
              <a:rPr lang="en-US" dirty="0" err="1"/>
              <a:t>columnshave</a:t>
            </a:r>
            <a:r>
              <a:rPr lang="en-US" dirty="0"/>
              <a:t> no intrinsic meaning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CE2D5-5ED0-7368-4A21-4A2AB49F14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endParaRPr lang="en-US" dirty="0"/>
          </a:p>
          <a:p>
            <a:pPr lvl="1"/>
            <a:r>
              <a:rPr lang="en-US" dirty="0"/>
              <a:t>Two-dimensional</a:t>
            </a:r>
          </a:p>
          <a:p>
            <a:pPr lvl="1"/>
            <a:r>
              <a:rPr lang="en-US" dirty="0"/>
              <a:t>Different data types</a:t>
            </a:r>
          </a:p>
          <a:p>
            <a:pPr lvl="1"/>
            <a:r>
              <a:rPr lang="en-US" dirty="0"/>
              <a:t>Index or row/column name</a:t>
            </a:r>
          </a:p>
          <a:p>
            <a:pPr lvl="1"/>
            <a:r>
              <a:rPr lang="en-US" dirty="0"/>
              <a:t>Larger size</a:t>
            </a:r>
          </a:p>
          <a:p>
            <a:pPr lvl="1"/>
            <a:r>
              <a:rPr lang="en-US" dirty="0"/>
              <a:t>Rows/columns labeled</a:t>
            </a:r>
          </a:p>
        </p:txBody>
      </p:sp>
    </p:spTree>
    <p:extLst>
      <p:ext uri="{BB962C8B-B14F-4D97-AF65-F5344CB8AC3E}">
        <p14:creationId xmlns:p14="http://schemas.microsoft.com/office/powerpoint/2010/main" val="3410452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C2D0-752A-F25D-45E6-D2AE3C92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921F-B0E8-CBA2-27F1-16B057406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</a:t>
            </a:r>
          </a:p>
          <a:p>
            <a:r>
              <a:rPr lang="en-US" dirty="0"/>
              <a:t>Subtraction</a:t>
            </a:r>
          </a:p>
          <a:p>
            <a:r>
              <a:rPr lang="en-US" dirty="0"/>
              <a:t>Division </a:t>
            </a:r>
          </a:p>
          <a:p>
            <a:r>
              <a:rPr lang="en-US" dirty="0"/>
              <a:t>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635293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1AFE-9BB5-4798-239F-5D567D9B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by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B2724-F734-1695-C821-E11C01F2F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have same shape</a:t>
            </a:r>
          </a:p>
          <a:p>
            <a:r>
              <a:rPr lang="en-US" dirty="0"/>
              <a:t>[0,1,2,3] + [4,5,6,7] = [0+4,1+5,2+6,3+7] = [4,6,8,10]</a:t>
            </a:r>
          </a:p>
          <a:p>
            <a:r>
              <a:rPr lang="en-US" dirty="0"/>
              <a:t>[0,1,2,3] - [4,5,6,7] = [0-4,1-5,2-6,3-7] = [-4,-4,-4,-4]</a:t>
            </a:r>
          </a:p>
          <a:p>
            <a:r>
              <a:rPr lang="en-US" dirty="0"/>
              <a:t>[0,1,2,3] * [4,5,6,7] = [0*4, 1*5,2*6,3*7] = [0,5,12,21]</a:t>
            </a:r>
          </a:p>
        </p:txBody>
      </p:sp>
    </p:spTree>
    <p:extLst>
      <p:ext uri="{BB962C8B-B14F-4D97-AF65-F5344CB8AC3E}">
        <p14:creationId xmlns:p14="http://schemas.microsoft.com/office/powerpoint/2010/main" val="4205859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8A45-FC20-3683-AF91-B7C689E8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0DEBB-547B-00B4-AF2C-67E9522C0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Inner product of two arrays</a:t>
            </a:r>
          </a:p>
          <a:p>
            <a:r>
              <a:rPr lang="en-US" dirty="0"/>
              <a:t>Shapes have to be the same</a:t>
            </a:r>
          </a:p>
          <a:p>
            <a:r>
              <a:rPr lang="en-US" dirty="0"/>
              <a:t>With vectors, same number of elements</a:t>
            </a:r>
          </a:p>
          <a:p>
            <a:r>
              <a:rPr lang="en-US" dirty="0"/>
              <a:t>With matrices, columns of matrix 1 same as rows of matrix 2</a:t>
            </a:r>
          </a:p>
          <a:p>
            <a:r>
              <a:rPr lang="en-US" dirty="0"/>
              <a:t>Resulting matrix shape = rows of matrix 2, columns of matrix 2</a:t>
            </a:r>
          </a:p>
          <a:p>
            <a:r>
              <a:rPr lang="en-US" dirty="0"/>
              <a:t>(3R,2C) * (2R,3C) = (3R,3C)</a:t>
            </a:r>
          </a:p>
          <a:p>
            <a:r>
              <a:rPr lang="en-US" dirty="0">
                <a:solidFill>
                  <a:srgbClr val="FF0000"/>
                </a:solidFill>
              </a:rPr>
              <a:t>(2R,3C)*(3R,2C) =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35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A6D5-9577-7AC2-1AF9-1DF1F183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E4A1-74B9-885A-DD3A-D8B6A172F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  <a:p>
            <a:r>
              <a:rPr lang="en-US" dirty="0"/>
              <a:t>Inner dimensions have to be the same</a:t>
            </a:r>
          </a:p>
          <a:p>
            <a:pPr lvl="1"/>
            <a:r>
              <a:rPr lang="en-GB" dirty="0"/>
              <a:t>arr2 = </a:t>
            </a:r>
            <a:r>
              <a:rPr lang="en-GB" dirty="0" err="1"/>
              <a:t>np.array</a:t>
            </a:r>
            <a:r>
              <a:rPr lang="en-GB" dirty="0"/>
              <a:t>([[10, 20, 30], [5, 10, 15], [1, 1, 1]])</a:t>
            </a:r>
          </a:p>
          <a:p>
            <a:pPr lvl="1"/>
            <a:r>
              <a:rPr lang="en-GB" dirty="0"/>
              <a:t>arr4 = </a:t>
            </a:r>
            <a:r>
              <a:rPr lang="en-GB" dirty="0" err="1"/>
              <a:t>np.array</a:t>
            </a:r>
            <a:r>
              <a:rPr lang="en-GB" dirty="0"/>
              <a:t>([[1, 3, 5], [7, 9, 11]])</a:t>
            </a:r>
          </a:p>
          <a:p>
            <a:r>
              <a:rPr lang="en-US" dirty="0"/>
              <a:t>arr2 * arr4 : ERROR</a:t>
            </a:r>
          </a:p>
          <a:p>
            <a:r>
              <a:rPr lang="en-US" dirty="0"/>
              <a:t>arr4 * arr2 : ERROR</a:t>
            </a:r>
          </a:p>
          <a:p>
            <a:r>
              <a:rPr lang="en-US" dirty="0"/>
              <a:t>Arr2 @ arr4 : ERROR</a:t>
            </a:r>
          </a:p>
          <a:p>
            <a:r>
              <a:rPr lang="en-US" dirty="0"/>
              <a:t>arr4@arr2 : (2,3)*(3,3) = (2,3) array</a:t>
            </a:r>
          </a:p>
          <a:p>
            <a:r>
              <a:rPr lang="en-US" dirty="0"/>
              <a:t>Array([[30,55,80],[126,241,356]])</a:t>
            </a:r>
          </a:p>
        </p:txBody>
      </p:sp>
    </p:spTree>
    <p:extLst>
      <p:ext uri="{BB962C8B-B14F-4D97-AF65-F5344CB8AC3E}">
        <p14:creationId xmlns:p14="http://schemas.microsoft.com/office/powerpoint/2010/main" val="386023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22A4-6A8A-8C9F-D75F-657C9095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[30,55,80]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B3D4-3CF8-C7A6-B487-361416AC3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[1, 3, 5] * [10,5,1] = 1*10 + 3*15 + 5*1 = 30</a:t>
            </a:r>
          </a:p>
          <a:p>
            <a:r>
              <a:rPr lang="en-GB" dirty="0"/>
              <a:t>[1, 3, 5] * [20,10,1] = 1*20 + 3*10 + 5*1 = 55</a:t>
            </a:r>
          </a:p>
          <a:p>
            <a:r>
              <a:rPr lang="en-GB" dirty="0"/>
              <a:t>[1, 3, 5] * [30,15,1] = 1*30 + 3*15 + 5*1 = 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27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1BD6-F63A-C9D1-4204-59D06AA9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6A35-A50E-29E8-DF37-CF253F80A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Transpose: Swapping rows and columns</a:t>
            </a:r>
          </a:p>
          <a:p>
            <a:pPr lvl="1"/>
            <a:r>
              <a:rPr lang="en-GB" dirty="0"/>
              <a:t>arr2 = </a:t>
            </a:r>
            <a:r>
              <a:rPr lang="en-GB" dirty="0" err="1"/>
              <a:t>np.array</a:t>
            </a:r>
            <a:r>
              <a:rPr lang="en-GB" dirty="0"/>
              <a:t>([[10, 20, 30], [5, 10, 15], [1, 1, 1]])</a:t>
            </a:r>
          </a:p>
          <a:p>
            <a:pPr lvl="1"/>
            <a:r>
              <a:rPr lang="en-US" dirty="0"/>
              <a:t>arr2.T = array([[10,5,1],[20,10,1],[30,15,1]]) </a:t>
            </a:r>
          </a:p>
          <a:p>
            <a:r>
              <a:rPr lang="en-US" dirty="0"/>
              <a:t>Similar in spirit to </a:t>
            </a:r>
            <a:r>
              <a:rPr lang="en-US" dirty="0" err="1"/>
              <a:t>dataframe</a:t>
            </a:r>
            <a:r>
              <a:rPr lang="en-US" dirty="0"/>
              <a:t> pivot or melt</a:t>
            </a:r>
          </a:p>
          <a:p>
            <a:r>
              <a:rPr lang="en-US" dirty="0"/>
              <a:t>Swap columns and rows</a:t>
            </a:r>
          </a:p>
          <a:p>
            <a:pPr lvl="1"/>
            <a:r>
              <a:rPr lang="en-US" dirty="0"/>
              <a:t>Wide to long – columns become observations</a:t>
            </a:r>
          </a:p>
          <a:p>
            <a:pPr lvl="1"/>
            <a:r>
              <a:rPr lang="en-US" dirty="0"/>
              <a:t>Long to wide – observations become columns</a:t>
            </a:r>
          </a:p>
        </p:txBody>
      </p:sp>
    </p:spTree>
    <p:extLst>
      <p:ext uri="{BB962C8B-B14F-4D97-AF65-F5344CB8AC3E}">
        <p14:creationId xmlns:p14="http://schemas.microsoft.com/office/powerpoint/2010/main" val="657832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0066-0D4E-4662-A86A-1CA169FC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matrix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D7B13-0857-5FB3-0FC7-BD2D79E1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Identity matrix</a:t>
            </a:r>
          </a:p>
          <a:p>
            <a:pPr lvl="1"/>
            <a:r>
              <a:rPr lang="en-US" dirty="0"/>
              <a:t>Diagonal elements = 1</a:t>
            </a:r>
          </a:p>
          <a:p>
            <a:pPr lvl="1"/>
            <a:r>
              <a:rPr lang="en-US" dirty="0"/>
              <a:t>Off-diagonal = 0</a:t>
            </a:r>
          </a:p>
          <a:p>
            <a:pPr lvl="1"/>
            <a:r>
              <a:rPr lang="en-US" dirty="0"/>
              <a:t>array([[1,0,0],]0,1,0],[0,0,1]])</a:t>
            </a:r>
          </a:p>
          <a:p>
            <a:r>
              <a:rPr lang="en-US" dirty="0"/>
              <a:t>Ones vector</a:t>
            </a:r>
          </a:p>
          <a:p>
            <a:pPr lvl="1"/>
            <a:r>
              <a:rPr lang="en-US" dirty="0"/>
              <a:t>All values = 1 </a:t>
            </a:r>
          </a:p>
          <a:p>
            <a:r>
              <a:rPr lang="en-US" dirty="0"/>
              <a:t>Zeros vector</a:t>
            </a:r>
          </a:p>
          <a:p>
            <a:pPr lvl="1"/>
            <a:r>
              <a:rPr lang="en-US" dirty="0"/>
              <a:t>All values = 0</a:t>
            </a:r>
          </a:p>
        </p:txBody>
      </p:sp>
    </p:spTree>
    <p:extLst>
      <p:ext uri="{BB962C8B-B14F-4D97-AF65-F5344CB8AC3E}">
        <p14:creationId xmlns:p14="http://schemas.microsoft.com/office/powerpoint/2010/main" val="3956174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12011</TotalTime>
  <Words>696</Words>
  <Application>Microsoft Office PowerPoint</Application>
  <PresentationFormat>Widescreen</PresentationFormat>
  <Paragraphs>114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 Math</vt:lpstr>
      <vt:lpstr>Century Gothic</vt:lpstr>
      <vt:lpstr>Wingdings 3</vt:lpstr>
      <vt:lpstr>Ion</vt:lpstr>
      <vt:lpstr>Arrays</vt:lpstr>
      <vt:lpstr>What is an array</vt:lpstr>
      <vt:lpstr>Array shapes and dimensions</vt:lpstr>
      <vt:lpstr>PowerPoint Presentation</vt:lpstr>
      <vt:lpstr>Array types</vt:lpstr>
      <vt:lpstr>Rows and columns</vt:lpstr>
      <vt:lpstr>Rows and columns, again</vt:lpstr>
      <vt:lpstr>Array importance</vt:lpstr>
      <vt:lpstr>Vector</vt:lpstr>
      <vt:lpstr>Matrices</vt:lpstr>
      <vt:lpstr>Tensors</vt:lpstr>
      <vt:lpstr>Arrays v. dataframes</vt:lpstr>
      <vt:lpstr>Matrix operations</vt:lpstr>
      <vt:lpstr>Element by element</vt:lpstr>
      <vt:lpstr>Matrix multiplication</vt:lpstr>
      <vt:lpstr>Example</vt:lpstr>
      <vt:lpstr>[30,55,80]</vt:lpstr>
      <vt:lpstr>Matrix operations</vt:lpstr>
      <vt:lpstr>Useful matrix functions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4</cp:revision>
  <dcterms:created xsi:type="dcterms:W3CDTF">2026-01-28T13:49:58Z</dcterms:created>
  <dcterms:modified xsi:type="dcterms:W3CDTF">2026-02-05T22:01:29Z</dcterms:modified>
</cp:coreProperties>
</file>