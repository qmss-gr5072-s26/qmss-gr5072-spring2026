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303" r:id="rId3"/>
    <p:sldId id="305" r:id="rId4"/>
    <p:sldId id="304" r:id="rId5"/>
    <p:sldId id="308" r:id="rId6"/>
    <p:sldId id="312" r:id="rId7"/>
    <p:sldId id="258" r:id="rId8"/>
    <p:sldId id="316" r:id="rId9"/>
    <p:sldId id="317" r:id="rId10"/>
    <p:sldId id="318" r:id="rId11"/>
    <p:sldId id="259" r:id="rId12"/>
    <p:sldId id="314" r:id="rId13"/>
    <p:sldId id="260" r:id="rId14"/>
    <p:sldId id="275" r:id="rId15"/>
    <p:sldId id="353" r:id="rId16"/>
    <p:sldId id="343" r:id="rId17"/>
    <p:sldId id="345" r:id="rId18"/>
    <p:sldId id="346" r:id="rId19"/>
    <p:sldId id="334" r:id="rId20"/>
    <p:sldId id="296" r:id="rId21"/>
    <p:sldId id="301" r:id="rId22"/>
    <p:sldId id="330" r:id="rId23"/>
    <p:sldId id="331" r:id="rId24"/>
    <p:sldId id="261" r:id="rId25"/>
    <p:sldId id="355" r:id="rId26"/>
    <p:sldId id="356" r:id="rId27"/>
    <p:sldId id="358" r:id="rId28"/>
    <p:sldId id="357" r:id="rId29"/>
    <p:sldId id="268" r:id="rId30"/>
    <p:sldId id="269" r:id="rId31"/>
    <p:sldId id="298" r:id="rId32"/>
    <p:sldId id="283" r:id="rId33"/>
    <p:sldId id="359" r:id="rId34"/>
    <p:sldId id="36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FE505-73AB-4E60-A494-DBFC9D46CFE2}"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9DD5F-BA58-4595-B3FC-A0B56E266316}" type="slidenum">
              <a:rPr lang="en-US" smtClean="0"/>
              <a:t>‹#›</a:t>
            </a:fld>
            <a:endParaRPr lang="en-US"/>
          </a:p>
        </p:txBody>
      </p:sp>
    </p:spTree>
    <p:extLst>
      <p:ext uri="{BB962C8B-B14F-4D97-AF65-F5344CB8AC3E}">
        <p14:creationId xmlns:p14="http://schemas.microsoft.com/office/powerpoint/2010/main" val="177545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methods -&gt; new methods—preservation of semantics/meaning</a:t>
            </a:r>
          </a:p>
        </p:txBody>
      </p:sp>
      <p:sp>
        <p:nvSpPr>
          <p:cNvPr id="4" name="Slide Number Placeholder 3"/>
          <p:cNvSpPr>
            <a:spLocks noGrp="1"/>
          </p:cNvSpPr>
          <p:nvPr>
            <p:ph type="sldNum" sz="quarter" idx="5"/>
          </p:nvPr>
        </p:nvSpPr>
        <p:spPr/>
        <p:txBody>
          <a:bodyPr/>
          <a:lstStyle/>
          <a:p>
            <a:fld id="{16B66D7E-0DB7-433E-AC59-C6A71B9A13B1}" type="slidenum">
              <a:rPr lang="en-US" smtClean="0"/>
              <a:t>15</a:t>
            </a:fld>
            <a:endParaRPr lang="en-US"/>
          </a:p>
        </p:txBody>
      </p:sp>
    </p:spTree>
    <p:extLst>
      <p:ext uri="{BB962C8B-B14F-4D97-AF65-F5344CB8AC3E}">
        <p14:creationId xmlns:p14="http://schemas.microsoft.com/office/powerpoint/2010/main" val="1703610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417243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396474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3463675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288374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8C6437-671A-4A26-84A1-AFB7D20E8BE2}"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3547105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95205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49247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847408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368057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761900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73282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25600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82906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480837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235154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4003439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16158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08C6437-671A-4A26-84A1-AFB7D20E8BE2}" type="datetimeFigureOut">
              <a:rPr lang="en-US" smtClean="0"/>
              <a:t>3/25/2026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F226CCB-C8E5-4BC4-BAF8-3B0579BDFDDF}" type="slidenum">
              <a:rPr lang="en-US" smtClean="0"/>
              <a:t>‹#›</a:t>
            </a:fld>
            <a:endParaRPr lang="en-US"/>
          </a:p>
        </p:txBody>
      </p:sp>
    </p:spTree>
    <p:extLst>
      <p:ext uri="{BB962C8B-B14F-4D97-AF65-F5344CB8AC3E}">
        <p14:creationId xmlns:p14="http://schemas.microsoft.com/office/powerpoint/2010/main" val="217428253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7185-AB22-DE42-38A5-5FC4F5F3820F}"/>
              </a:ext>
            </a:extLst>
          </p:cNvPr>
          <p:cNvSpPr>
            <a:spLocks noGrp="1"/>
          </p:cNvSpPr>
          <p:nvPr>
            <p:ph type="ctrTitle"/>
          </p:nvPr>
        </p:nvSpPr>
        <p:spPr/>
        <p:txBody>
          <a:bodyPr/>
          <a:lstStyle/>
          <a:p>
            <a:r>
              <a:rPr lang="en-US" dirty="0"/>
              <a:t>Strings and text data</a:t>
            </a:r>
          </a:p>
        </p:txBody>
      </p:sp>
      <p:sp>
        <p:nvSpPr>
          <p:cNvPr id="3" name="Subtitle 2">
            <a:extLst>
              <a:ext uri="{FF2B5EF4-FFF2-40B4-BE49-F238E27FC236}">
                <a16:creationId xmlns:a16="http://schemas.microsoft.com/office/drawing/2014/main" id="{C227B5B2-7586-2436-D3DC-F91C285E647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51837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a:t>
            </a:r>
          </a:p>
        </p:txBody>
      </p:sp>
      <p:sp>
        <p:nvSpPr>
          <p:cNvPr id="3" name="Content Placeholder 2"/>
          <p:cNvSpPr>
            <a:spLocks noGrp="1"/>
          </p:cNvSpPr>
          <p:nvPr>
            <p:ph idx="1"/>
          </p:nvPr>
        </p:nvSpPr>
        <p:spPr/>
        <p:txBody>
          <a:bodyPr/>
          <a:lstStyle/>
          <a:p>
            <a:r>
              <a:rPr lang="en-US" dirty="0"/>
              <a:t>Collection of characters</a:t>
            </a:r>
          </a:p>
          <a:p>
            <a:r>
              <a:rPr lang="en-US" dirty="0"/>
              <a:t>WSYWIG </a:t>
            </a:r>
          </a:p>
          <a:p>
            <a:r>
              <a:rPr lang="en-US" dirty="0"/>
              <a:t>Numbers can be stored as bytes</a:t>
            </a:r>
          </a:p>
          <a:p>
            <a:r>
              <a:rPr lang="en-US" dirty="0"/>
              <a:t>But numbers can also be stored as strings</a:t>
            </a:r>
          </a:p>
        </p:txBody>
      </p:sp>
    </p:spTree>
    <p:extLst>
      <p:ext uri="{BB962C8B-B14F-4D97-AF65-F5344CB8AC3E}">
        <p14:creationId xmlns:p14="http://schemas.microsoft.com/office/powerpoint/2010/main" val="511094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Data</a:t>
            </a:r>
          </a:p>
        </p:txBody>
      </p:sp>
      <p:sp>
        <p:nvSpPr>
          <p:cNvPr id="3" name="Content Placeholder 2"/>
          <p:cNvSpPr>
            <a:spLocks noGrp="1"/>
          </p:cNvSpPr>
          <p:nvPr>
            <p:ph idx="1"/>
          </p:nvPr>
        </p:nvSpPr>
        <p:spPr/>
        <p:txBody>
          <a:bodyPr>
            <a:normAutofit fontScale="92500"/>
          </a:bodyPr>
          <a:lstStyle/>
          <a:p>
            <a:r>
              <a:rPr lang="en-US" dirty="0"/>
              <a:t>Applying structure to data</a:t>
            </a:r>
          </a:p>
          <a:p>
            <a:r>
              <a:rPr lang="en-US" dirty="0"/>
              <a:t>Looking for patterns in our data and using those patterns to our benefit</a:t>
            </a:r>
          </a:p>
          <a:p>
            <a:pPr lvl="1"/>
            <a:r>
              <a:rPr lang="en-US" dirty="0"/>
              <a:t>With tagged data looking for specific tags we need</a:t>
            </a:r>
          </a:p>
          <a:p>
            <a:pPr lvl="1"/>
            <a:r>
              <a:rPr lang="en-US" dirty="0"/>
              <a:t>With text files, might be looking for specific words/phrases to exclude or as markers</a:t>
            </a:r>
          </a:p>
          <a:p>
            <a:pPr lvl="2"/>
            <a:r>
              <a:rPr lang="en-US" dirty="0"/>
              <a:t>&lt;page sequence="2"&gt;</a:t>
            </a:r>
            <a:r>
              <a:rPr lang="en-US" b="1" dirty="0"/>
              <a:t>326 International Organization</a:t>
            </a:r>
            <a:r>
              <a:rPr lang="en-US" dirty="0"/>
              <a:t> By elaborating on Robert Brenner's theory of social property relations, </a:t>
            </a:r>
          </a:p>
          <a:p>
            <a:pPr lvl="2"/>
            <a:r>
              <a:rPr lang="en-US" dirty="0"/>
              <a:t>&lt;page sequence="3"&gt;</a:t>
            </a:r>
            <a:r>
              <a:rPr lang="en-US" b="1" dirty="0"/>
              <a:t>IR in the Middle Ages 327</a:t>
            </a:r>
            <a:r>
              <a:rPr lang="en-US" dirty="0"/>
              <a:t> action with a theory of sociopolitical structure. This, I suggest, should be</a:t>
            </a:r>
          </a:p>
          <a:p>
            <a:pPr lvl="2"/>
            <a:r>
              <a:rPr lang="en-US" dirty="0"/>
              <a:t>&lt;page sequence="4"&gt;</a:t>
            </a:r>
            <a:r>
              <a:rPr lang="en-US" b="1" dirty="0"/>
              <a:t>328 International Organization</a:t>
            </a:r>
            <a:r>
              <a:rPr lang="en-US" dirty="0"/>
              <a:t> On the basis of changing social property relations,</a:t>
            </a:r>
          </a:p>
          <a:p>
            <a:pPr lvl="2"/>
            <a:r>
              <a:rPr lang="en-US" dirty="0"/>
              <a:t>&lt;page sequence="5"&gt;</a:t>
            </a:r>
            <a:r>
              <a:rPr lang="en-US" b="1" dirty="0"/>
              <a:t>IR in the Middle Ages 329</a:t>
            </a:r>
            <a:r>
              <a:rPr lang="en-US" dirty="0"/>
              <a:t> </a:t>
            </a:r>
            <a:r>
              <a:rPr lang="en-US" dirty="0" err="1"/>
              <a:t>intemational</a:t>
            </a:r>
            <a:r>
              <a:rPr lang="en-US" dirty="0"/>
              <a:t> system. In this perspective, systemic qualitative</a:t>
            </a:r>
          </a:p>
        </p:txBody>
      </p:sp>
    </p:spTree>
    <p:extLst>
      <p:ext uri="{BB962C8B-B14F-4D97-AF65-F5344CB8AC3E}">
        <p14:creationId xmlns:p14="http://schemas.microsoft.com/office/powerpoint/2010/main" val="297198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Characters</a:t>
            </a:r>
          </a:p>
        </p:txBody>
      </p:sp>
      <p:sp>
        <p:nvSpPr>
          <p:cNvPr id="3" name="Content Placeholder 2"/>
          <p:cNvSpPr>
            <a:spLocks noGrp="1"/>
          </p:cNvSpPr>
          <p:nvPr>
            <p:ph idx="1"/>
          </p:nvPr>
        </p:nvSpPr>
        <p:spPr/>
        <p:txBody>
          <a:bodyPr/>
          <a:lstStyle/>
          <a:p>
            <a:r>
              <a:rPr lang="en-US" dirty="0"/>
              <a:t>String characters have positions</a:t>
            </a:r>
          </a:p>
          <a:p>
            <a:pPr lvl="1"/>
            <a:r>
              <a:rPr lang="en-US" b="1" dirty="0"/>
              <a:t>Workshop</a:t>
            </a:r>
            <a:r>
              <a:rPr lang="en-US" dirty="0"/>
              <a:t> : 8 characters</a:t>
            </a:r>
          </a:p>
          <a:p>
            <a:r>
              <a:rPr lang="en-US" dirty="0"/>
              <a:t>Not only the case with words but also collection of words</a:t>
            </a:r>
          </a:p>
          <a:p>
            <a:pPr lvl="1"/>
            <a:r>
              <a:rPr lang="en-US" b="1" dirty="0"/>
              <a:t>Columbia Text Workshop </a:t>
            </a:r>
            <a:r>
              <a:rPr lang="en-US" dirty="0"/>
              <a:t>: 22 characters – Spaces count!</a:t>
            </a:r>
          </a:p>
        </p:txBody>
      </p:sp>
    </p:spTree>
    <p:extLst>
      <p:ext uri="{BB962C8B-B14F-4D97-AF65-F5344CB8AC3E}">
        <p14:creationId xmlns:p14="http://schemas.microsoft.com/office/powerpoint/2010/main" val="455867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Whitespace</a:t>
            </a:r>
          </a:p>
        </p:txBody>
      </p:sp>
      <p:sp>
        <p:nvSpPr>
          <p:cNvPr id="3" name="Content Placeholder 2"/>
          <p:cNvSpPr>
            <a:spLocks noGrp="1"/>
          </p:cNvSpPr>
          <p:nvPr>
            <p:ph idx="1"/>
          </p:nvPr>
        </p:nvSpPr>
        <p:spPr/>
        <p:txBody>
          <a:bodyPr/>
          <a:lstStyle/>
          <a:p>
            <a:r>
              <a:rPr lang="en-US" dirty="0"/>
              <a:t>Areas between words, paragraphs, lines, etc.</a:t>
            </a:r>
          </a:p>
          <a:p>
            <a:r>
              <a:rPr lang="en-US" dirty="0"/>
              <a:t>Includes characters such as spaces, tabs (“\t”), line breaks (“\n”)</a:t>
            </a:r>
          </a:p>
          <a:p>
            <a:r>
              <a:rPr lang="en-US" dirty="0"/>
              <a:t>We can use whitespace to separate into words </a:t>
            </a:r>
          </a:p>
        </p:txBody>
      </p:sp>
    </p:spTree>
    <p:extLst>
      <p:ext uri="{BB962C8B-B14F-4D97-AF65-F5344CB8AC3E}">
        <p14:creationId xmlns:p14="http://schemas.microsoft.com/office/powerpoint/2010/main" val="1866479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text</a:t>
            </a:r>
          </a:p>
        </p:txBody>
      </p:sp>
      <p:sp>
        <p:nvSpPr>
          <p:cNvPr id="3" name="Content Placeholder 2"/>
          <p:cNvSpPr>
            <a:spLocks noGrp="1"/>
          </p:cNvSpPr>
          <p:nvPr>
            <p:ph idx="1"/>
          </p:nvPr>
        </p:nvSpPr>
        <p:spPr/>
        <p:txBody>
          <a:bodyPr/>
          <a:lstStyle/>
          <a:p>
            <a:r>
              <a:rPr lang="en-US" sz="2800" dirty="0"/>
              <a:t>Whitespace can also be problematic for matching text</a:t>
            </a:r>
          </a:p>
          <a:p>
            <a:pPr lvl="1"/>
            <a:r>
              <a:rPr lang="en-US" sz="2400" dirty="0"/>
              <a:t>“Kissinger “ ~= “Kissinger”</a:t>
            </a:r>
          </a:p>
          <a:p>
            <a:r>
              <a:rPr lang="en-US" dirty="0"/>
              <a:t>Strip white space from ends of string</a:t>
            </a:r>
          </a:p>
          <a:p>
            <a:pPr lvl="1"/>
            <a:r>
              <a:rPr lang="en-US" dirty="0"/>
              <a:t>But not from the middle</a:t>
            </a:r>
          </a:p>
        </p:txBody>
      </p:sp>
    </p:spTree>
    <p:extLst>
      <p:ext uri="{BB962C8B-B14F-4D97-AF65-F5344CB8AC3E}">
        <p14:creationId xmlns:p14="http://schemas.microsoft.com/office/powerpoint/2010/main" val="3546909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idx="1"/>
          </p:nvPr>
        </p:nvSpPr>
        <p:spPr/>
        <p:txBody>
          <a:bodyPr>
            <a:normAutofit/>
          </a:bodyPr>
          <a:lstStyle/>
          <a:p>
            <a:r>
              <a:rPr lang="en-US" sz="2800" dirty="0"/>
              <a:t>Sequence of characters that define a search pattern</a:t>
            </a:r>
          </a:p>
          <a:p>
            <a:r>
              <a:rPr lang="en-US" sz="2800" dirty="0"/>
              <a:t>Good for:</a:t>
            </a:r>
          </a:p>
          <a:p>
            <a:pPr lvl="1"/>
            <a:r>
              <a:rPr lang="en-US" sz="2800" dirty="0"/>
              <a:t>Parsing data</a:t>
            </a:r>
          </a:p>
          <a:p>
            <a:pPr lvl="1"/>
            <a:r>
              <a:rPr lang="en-US" sz="2800" dirty="0"/>
              <a:t>Finding specific patterns of text</a:t>
            </a:r>
          </a:p>
          <a:p>
            <a:r>
              <a:rPr lang="en-US" sz="3000" dirty="0"/>
              <a:t>But:</a:t>
            </a:r>
          </a:p>
          <a:p>
            <a:pPr lvl="1"/>
            <a:r>
              <a:rPr lang="en-US" sz="2800" dirty="0"/>
              <a:t>Best when understand context </a:t>
            </a:r>
          </a:p>
        </p:txBody>
      </p:sp>
    </p:spTree>
    <p:extLst>
      <p:ext uri="{BB962C8B-B14F-4D97-AF65-F5344CB8AC3E}">
        <p14:creationId xmlns:p14="http://schemas.microsoft.com/office/powerpoint/2010/main" val="2830704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Regex options</a:t>
            </a:r>
          </a:p>
        </p:txBody>
      </p:sp>
      <p:sp>
        <p:nvSpPr>
          <p:cNvPr id="3" name="Content Placeholder 2"/>
          <p:cNvSpPr>
            <a:spLocks noGrp="1"/>
          </p:cNvSpPr>
          <p:nvPr>
            <p:ph idx="1"/>
          </p:nvPr>
        </p:nvSpPr>
        <p:spPr/>
        <p:txBody>
          <a:bodyPr>
            <a:normAutofit fontScale="92500"/>
          </a:bodyPr>
          <a:lstStyle/>
          <a:p>
            <a:endParaRPr lang="en-US" sz="3200" dirty="0"/>
          </a:p>
          <a:p>
            <a:pPr lvl="1"/>
            <a:r>
              <a:rPr lang="en-US" sz="3200" dirty="0"/>
              <a:t>Match or not</a:t>
            </a:r>
          </a:p>
          <a:p>
            <a:pPr lvl="3"/>
            <a:r>
              <a:rPr lang="en-US" sz="2800" dirty="0"/>
              <a:t>Was the search pattern found?</a:t>
            </a:r>
          </a:p>
          <a:p>
            <a:pPr lvl="1"/>
            <a:r>
              <a:rPr lang="en-US" sz="3200" dirty="0"/>
              <a:t>Start and end position or length of match</a:t>
            </a:r>
          </a:p>
          <a:p>
            <a:pPr lvl="3"/>
            <a:r>
              <a:rPr lang="en-US" sz="2800" dirty="0"/>
              <a:t>Where in the string was the pattern found?</a:t>
            </a:r>
          </a:p>
          <a:p>
            <a:pPr lvl="1"/>
            <a:r>
              <a:rPr lang="en-US" sz="3200" dirty="0"/>
              <a:t>Match pattern</a:t>
            </a:r>
          </a:p>
          <a:p>
            <a:pPr lvl="3"/>
            <a:r>
              <a:rPr lang="en-US" sz="2800" dirty="0"/>
              <a:t>What string was found?</a:t>
            </a:r>
          </a:p>
        </p:txBody>
      </p:sp>
    </p:spTree>
    <p:extLst>
      <p:ext uri="{BB962C8B-B14F-4D97-AF65-F5344CB8AC3E}">
        <p14:creationId xmlns:p14="http://schemas.microsoft.com/office/powerpoint/2010/main" val="17984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a:t>
            </a:r>
          </a:p>
        </p:txBody>
      </p:sp>
      <p:sp>
        <p:nvSpPr>
          <p:cNvPr id="3" name="Content Placeholder 2"/>
          <p:cNvSpPr>
            <a:spLocks noGrp="1"/>
          </p:cNvSpPr>
          <p:nvPr>
            <p:ph idx="1"/>
          </p:nvPr>
        </p:nvSpPr>
        <p:spPr/>
        <p:txBody>
          <a:bodyPr>
            <a:normAutofit/>
          </a:bodyPr>
          <a:lstStyle/>
          <a:p>
            <a:r>
              <a:rPr lang="en-US" sz="3200" dirty="0"/>
              <a:t>Similar across programs</a:t>
            </a:r>
          </a:p>
          <a:p>
            <a:r>
              <a:rPr lang="en-US" sz="3200" dirty="0"/>
              <a:t>Couple of regex standards</a:t>
            </a:r>
          </a:p>
        </p:txBody>
      </p:sp>
    </p:spTree>
    <p:extLst>
      <p:ext uri="{BB962C8B-B14F-4D97-AF65-F5344CB8AC3E}">
        <p14:creationId xmlns:p14="http://schemas.microsoft.com/office/powerpoint/2010/main" val="2823399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Regex groups</a:t>
            </a:r>
          </a:p>
        </p:txBody>
      </p:sp>
      <p:sp>
        <p:nvSpPr>
          <p:cNvPr id="3" name="Content Placeholder 2"/>
          <p:cNvSpPr>
            <a:spLocks noGrp="1"/>
          </p:cNvSpPr>
          <p:nvPr>
            <p:ph idx="1"/>
          </p:nvPr>
        </p:nvSpPr>
        <p:spPr/>
        <p:txBody>
          <a:bodyPr/>
          <a:lstStyle/>
          <a:p>
            <a:r>
              <a:rPr lang="en-US" dirty="0"/>
              <a:t>[A-</a:t>
            </a:r>
            <a:r>
              <a:rPr lang="en-US" dirty="0" err="1"/>
              <a:t>Za</a:t>
            </a:r>
            <a:r>
              <a:rPr lang="en-US" dirty="0"/>
              <a:t>-z] – search for any letter, upper or lower</a:t>
            </a:r>
          </a:p>
          <a:p>
            <a:r>
              <a:rPr lang="en-US" dirty="0"/>
              <a:t>[0-9] – search for any digit</a:t>
            </a:r>
          </a:p>
          <a:p>
            <a:r>
              <a:rPr lang="en-US" dirty="0"/>
              <a:t>\s – search for any space</a:t>
            </a:r>
          </a:p>
          <a:p>
            <a:r>
              <a:rPr lang="en-US" dirty="0"/>
              <a:t>\S – search for any not space</a:t>
            </a:r>
          </a:p>
          <a:p>
            <a:r>
              <a:rPr lang="en-US" dirty="0"/>
              <a:t>[[:</a:t>
            </a:r>
            <a:r>
              <a:rPr lang="en-US" dirty="0" err="1"/>
              <a:t>punct</a:t>
            </a:r>
            <a:r>
              <a:rPr lang="en-US" dirty="0"/>
              <a:t>:]] – search for punctuation characters</a:t>
            </a:r>
          </a:p>
          <a:p>
            <a:endParaRPr lang="en-US" dirty="0"/>
          </a:p>
        </p:txBody>
      </p:sp>
    </p:spTree>
    <p:extLst>
      <p:ext uri="{BB962C8B-B14F-4D97-AF65-F5344CB8AC3E}">
        <p14:creationId xmlns:p14="http://schemas.microsoft.com/office/powerpoint/2010/main" val="181586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Regex operators</a:t>
            </a:r>
          </a:p>
        </p:txBody>
      </p:sp>
      <p:sp>
        <p:nvSpPr>
          <p:cNvPr id="3" name="Content Placeholder 2"/>
          <p:cNvSpPr>
            <a:spLocks noGrp="1"/>
          </p:cNvSpPr>
          <p:nvPr>
            <p:ph idx="1"/>
          </p:nvPr>
        </p:nvSpPr>
        <p:spPr/>
        <p:txBody>
          <a:bodyPr/>
          <a:lstStyle/>
          <a:p>
            <a:r>
              <a:rPr lang="en-US" dirty="0"/>
              <a:t>^ - search from beginning of string</a:t>
            </a:r>
          </a:p>
          <a:p>
            <a:r>
              <a:rPr lang="en-US" dirty="0"/>
              <a:t>$ - search at end of string</a:t>
            </a:r>
          </a:p>
          <a:p>
            <a:r>
              <a:rPr lang="en-US" dirty="0"/>
              <a:t>\ - escape character (“\$”) to search for dollar sign</a:t>
            </a:r>
          </a:p>
          <a:p>
            <a:r>
              <a:rPr lang="en-US" dirty="0"/>
              <a:t>+ - at end of group, searches for pattern</a:t>
            </a:r>
          </a:p>
          <a:p>
            <a:r>
              <a:rPr lang="en-US" dirty="0"/>
              <a:t>[]  - Search for any of the characters (useful with groups such as A-Z)</a:t>
            </a:r>
          </a:p>
          <a:p>
            <a:r>
              <a:rPr lang="en-US" dirty="0"/>
              <a:t>[^] – Search for anything but the character following the caret</a:t>
            </a:r>
          </a:p>
          <a:p>
            <a:endParaRPr lang="en-US" dirty="0"/>
          </a:p>
        </p:txBody>
      </p:sp>
    </p:spTree>
    <p:extLst>
      <p:ext uri="{BB962C8B-B14F-4D97-AF65-F5344CB8AC3E}">
        <p14:creationId xmlns:p14="http://schemas.microsoft.com/office/powerpoint/2010/main" val="561639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92500" lnSpcReduction="20000"/>
          </a:bodyPr>
          <a:lstStyle/>
          <a:p>
            <a:pPr>
              <a:lnSpc>
                <a:spcPct val="100000"/>
              </a:lnSpc>
              <a:spcBef>
                <a:spcPts val="0"/>
              </a:spcBef>
              <a:spcAft>
                <a:spcPts val="0"/>
              </a:spcAft>
            </a:pPr>
            <a:r>
              <a:rPr lang="en-US" sz="1600" dirty="0"/>
              <a:t>1.  BARBADOS          272/01/P         22 </a:t>
            </a:r>
          </a:p>
          <a:p>
            <a:pPr>
              <a:lnSpc>
                <a:spcPct val="100000"/>
              </a:lnSpc>
              <a:spcBef>
                <a:spcPts val="0"/>
              </a:spcBef>
              <a:spcAft>
                <a:spcPts val="0"/>
              </a:spcAft>
            </a:pPr>
            <a:r>
              <a:rPr lang="en-US" sz="1600" dirty="0"/>
              <a:t>2.  111474 </a:t>
            </a:r>
          </a:p>
          <a:p>
            <a:pPr>
              <a:lnSpc>
                <a:spcPct val="100000"/>
              </a:lnSpc>
              <a:spcBef>
                <a:spcPts val="0"/>
              </a:spcBef>
              <a:spcAft>
                <a:spcPts val="0"/>
              </a:spcAft>
            </a:pPr>
            <a:r>
              <a:rPr lang="en-US" sz="1600" dirty="0"/>
              <a:t>3.  E. FEATHERSTONE </a:t>
            </a:r>
          </a:p>
          <a:p>
            <a:pPr>
              <a:lnSpc>
                <a:spcPct val="100000"/>
              </a:lnSpc>
              <a:spcBef>
                <a:spcPts val="0"/>
              </a:spcBef>
              <a:spcAft>
                <a:spcPts val="0"/>
              </a:spcAft>
            </a:pPr>
            <a:r>
              <a:rPr lang="en-US" sz="1600" dirty="0"/>
              <a:t>4.  272 - BARBADOS, WEST INDIES </a:t>
            </a:r>
          </a:p>
          <a:p>
            <a:pPr>
              <a:lnSpc>
                <a:spcPct val="100000"/>
              </a:lnSpc>
              <a:spcBef>
                <a:spcPts val="0"/>
              </a:spcBef>
              <a:spcAft>
                <a:spcPts val="0"/>
              </a:spcAft>
            </a:pPr>
            <a:r>
              <a:rPr lang="en-US" sz="1600" dirty="0"/>
              <a:t>5.  M.D.I. </a:t>
            </a:r>
          </a:p>
          <a:p>
            <a:pPr>
              <a:lnSpc>
                <a:spcPct val="100000"/>
              </a:lnSpc>
              <a:spcBef>
                <a:spcPts val="0"/>
              </a:spcBef>
              <a:spcAft>
                <a:spcPts val="0"/>
              </a:spcAft>
            </a:pPr>
            <a:r>
              <a:rPr lang="en-US" sz="1600" dirty="0"/>
              <a:t>6.  (A) CABLE, CALL OR WRITE 6.  (B) MR. WINSTON A. HASSELL, MANAGING DIRECTOR 6.  (C) GASS PRODUCTS LIMITED CHEAPSIDE P.O. BOX 22 BRIDGETOWN, BARBADOS, W.I. </a:t>
            </a:r>
          </a:p>
          <a:p>
            <a:pPr>
              <a:lnSpc>
                <a:spcPct val="100000"/>
              </a:lnSpc>
              <a:spcBef>
                <a:spcPts val="0"/>
              </a:spcBef>
              <a:spcAft>
                <a:spcPts val="0"/>
              </a:spcAft>
            </a:pPr>
            <a:r>
              <a:rPr lang="en-US" sz="1600" dirty="0"/>
              <a:t>7.  CABLE:  "GASPRO", BARBADOS; TELEPHONE:  62958 OR 62959 </a:t>
            </a:r>
          </a:p>
          <a:p>
            <a:pPr>
              <a:lnSpc>
                <a:spcPct val="100000"/>
              </a:lnSpc>
              <a:spcBef>
                <a:spcPts val="0"/>
              </a:spcBef>
              <a:spcAft>
                <a:spcPts val="0"/>
              </a:spcAft>
            </a:pPr>
            <a:r>
              <a:rPr lang="en-US" sz="1600" dirty="0"/>
              <a:t>8.  -- </a:t>
            </a:r>
          </a:p>
          <a:p>
            <a:pPr>
              <a:lnSpc>
                <a:spcPct val="100000"/>
              </a:lnSpc>
              <a:spcBef>
                <a:spcPts val="0"/>
              </a:spcBef>
              <a:spcAft>
                <a:spcPts val="0"/>
              </a:spcAft>
            </a:pPr>
            <a:r>
              <a:rPr lang="en-US" sz="1600" dirty="0"/>
              <a:t>9.  101 </a:t>
            </a:r>
          </a:p>
          <a:p>
            <a:pPr>
              <a:lnSpc>
                <a:spcPct val="100000"/>
              </a:lnSpc>
              <a:spcBef>
                <a:spcPts val="0"/>
              </a:spcBef>
              <a:spcAft>
                <a:spcPts val="0"/>
              </a:spcAft>
            </a:pPr>
            <a:r>
              <a:rPr lang="en-US" sz="1600" dirty="0"/>
              <a:t>10.  DESCRIPTION: DEPARTMENT PLEASE SUPPLY SIC NUMBER. SMALL SCALE (2-10 TON) LIQUID OXYGEN/NITROGEN GENERATING PLANT. FIRM STATED IT WAS INTERESTED IN PURCHASING SURPLUS UNITS FROM U.S. DEPARTMENT OF DEFENSE ORIGINALLY MANUFACTURED BY SUPERIOR AIR PRODUCTS CO. FOR USAF BUT MANAGING DIRECTOR STATES THAT HE WOULD LIKE TO RECEIVE QUOTATIONS FROM ANY U.S. SUPPLIER. </a:t>
            </a:r>
          </a:p>
          <a:p>
            <a:pPr>
              <a:lnSpc>
                <a:spcPct val="100000"/>
              </a:lnSpc>
              <a:spcBef>
                <a:spcPts val="0"/>
              </a:spcBef>
              <a:spcAft>
                <a:spcPts val="0"/>
              </a:spcAft>
            </a:pPr>
            <a:r>
              <a:rPr lang="en-US" sz="1600" dirty="0"/>
              <a:t>ESTIMATED PURCHASE:  US DOLS 25-75,000. FIRM IS MEMBER OF INTERNATIONAL OXYGEN MANUFACTURING ASSOCIATION. </a:t>
            </a:r>
          </a:p>
          <a:p>
            <a:pPr>
              <a:lnSpc>
                <a:spcPct val="100000"/>
              </a:lnSpc>
              <a:spcBef>
                <a:spcPts val="0"/>
              </a:spcBef>
              <a:spcAft>
                <a:spcPts val="0"/>
              </a:spcAft>
            </a:pPr>
            <a:r>
              <a:rPr lang="en-US" sz="1600" dirty="0"/>
              <a:t>COMMENTS:  FIRM IS BARBADOS' SOLE PRODUCER OF INDUSTRIAL AND MEDICAL GASES.  LATEST WTDR (BRIDGETOWN 0634 OF 4/10/74) INDICATES SUITABLE CONTACT FOR U.S. FIRMS. SIMMS</a:t>
            </a:r>
          </a:p>
        </p:txBody>
      </p:sp>
    </p:spTree>
    <p:extLst>
      <p:ext uri="{BB962C8B-B14F-4D97-AF65-F5344CB8AC3E}">
        <p14:creationId xmlns:p14="http://schemas.microsoft.com/office/powerpoint/2010/main" val="2254930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warnings</a:t>
            </a:r>
          </a:p>
        </p:txBody>
      </p:sp>
      <p:sp>
        <p:nvSpPr>
          <p:cNvPr id="3" name="Content Placeholder 2"/>
          <p:cNvSpPr>
            <a:spLocks noGrp="1"/>
          </p:cNvSpPr>
          <p:nvPr>
            <p:ph idx="1"/>
          </p:nvPr>
        </p:nvSpPr>
        <p:spPr>
          <a:xfrm>
            <a:off x="691154" y="1709928"/>
            <a:ext cx="11155679" cy="5148072"/>
          </a:xfrm>
        </p:spPr>
        <p:txBody>
          <a:bodyPr>
            <a:normAutofit/>
          </a:bodyPr>
          <a:lstStyle/>
          <a:p>
            <a:pPr marL="0" indent="0">
              <a:buNone/>
            </a:pPr>
            <a:r>
              <a:rPr lang="en-US" dirty="0"/>
              <a:t>Regex tends to be greedy </a:t>
            </a:r>
          </a:p>
          <a:p>
            <a:pPr marL="0" indent="0">
              <a:buNone/>
            </a:pPr>
            <a:r>
              <a:rPr lang="en-US" dirty="0"/>
              <a:t>It pulls in as much context as it can</a:t>
            </a:r>
          </a:p>
          <a:p>
            <a:pPr lvl="1"/>
            <a:r>
              <a:rPr lang="en-US" dirty="0"/>
              <a:t>("\d+\\..+”) will pull any number of digits followed by a literal but then pull everything after the period</a:t>
            </a:r>
          </a:p>
          <a:p>
            <a:pPr marL="457200" lvl="1" indent="0">
              <a:buNone/>
            </a:pPr>
            <a:endParaRPr lang="en-US" dirty="0"/>
          </a:p>
          <a:p>
            <a:pPr marL="0" indent="0">
              <a:buNone/>
            </a:pPr>
            <a:r>
              <a:rPr lang="en-US" dirty="0"/>
              <a:t>Matches exact pattern</a:t>
            </a:r>
          </a:p>
          <a:p>
            <a:pPr lvl="1"/>
            <a:r>
              <a:rPr lang="en-US" dirty="0"/>
              <a:t>("\d+\\.”) will pull any number of digits and then the literal period, but that will include numbers at the end of the sentence</a:t>
            </a:r>
          </a:p>
          <a:p>
            <a:pPr marL="0" indent="0">
              <a:buNone/>
            </a:pPr>
            <a:r>
              <a:rPr lang="en-US" dirty="0"/>
              <a:t>Need to be very clear on what we want</a:t>
            </a:r>
          </a:p>
          <a:p>
            <a:pPr lvl="1"/>
            <a:r>
              <a:rPr lang="en-US" dirty="0"/>
              <a:t>If we only want bulleted items, we could use (\s)(\d+\\.)</a:t>
            </a:r>
          </a:p>
        </p:txBody>
      </p:sp>
    </p:spTree>
    <p:extLst>
      <p:ext uri="{BB962C8B-B14F-4D97-AF65-F5344CB8AC3E}">
        <p14:creationId xmlns:p14="http://schemas.microsoft.com/office/powerpoint/2010/main" val="188524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warnings</a:t>
            </a:r>
          </a:p>
        </p:txBody>
      </p:sp>
      <p:sp>
        <p:nvSpPr>
          <p:cNvPr id="3" name="Content Placeholder 2"/>
          <p:cNvSpPr>
            <a:spLocks noGrp="1"/>
          </p:cNvSpPr>
          <p:nvPr>
            <p:ph idx="1"/>
          </p:nvPr>
        </p:nvSpPr>
        <p:spPr/>
        <p:txBody>
          <a:bodyPr/>
          <a:lstStyle/>
          <a:p>
            <a:r>
              <a:rPr lang="en-US" dirty="0"/>
              <a:t>Misspellings:</a:t>
            </a:r>
          </a:p>
          <a:p>
            <a:pPr lvl="1"/>
            <a:r>
              <a:rPr lang="en-US" dirty="0"/>
              <a:t>'|C0NTACT', '|CONACT', '|CONCTACT', '|CONTACT', '|</a:t>
            </a:r>
            <a:r>
              <a:rPr lang="en-US" dirty="0" err="1"/>
              <a:t>CONTACTl</a:t>
            </a:r>
            <a:r>
              <a:rPr lang="en-US" dirty="0"/>
              <a:t>', '|</a:t>
            </a:r>
            <a:r>
              <a:rPr lang="en-US" dirty="0" err="1"/>
              <a:t>CONTACt</a:t>
            </a:r>
            <a:r>
              <a:rPr lang="en-US" dirty="0"/>
              <a:t>', '|CONTRACT', '|COTACT'</a:t>
            </a:r>
          </a:p>
          <a:p>
            <a:r>
              <a:rPr lang="en-US" dirty="0"/>
              <a:t>Regular expressions will not catch them</a:t>
            </a:r>
          </a:p>
          <a:p>
            <a:r>
              <a:rPr lang="en-US" dirty="0"/>
              <a:t>Makes it more difficult to parse data</a:t>
            </a:r>
          </a:p>
          <a:p>
            <a:endParaRPr lang="en-US" dirty="0"/>
          </a:p>
        </p:txBody>
      </p:sp>
    </p:spTree>
    <p:extLst>
      <p:ext uri="{BB962C8B-B14F-4D97-AF65-F5344CB8AC3E}">
        <p14:creationId xmlns:p14="http://schemas.microsoft.com/office/powerpoint/2010/main" val="4141985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4BF3F-F23F-3768-BBBD-55434AC72150}"/>
              </a:ext>
            </a:extLst>
          </p:cNvPr>
          <p:cNvSpPr>
            <a:spLocks noGrp="1"/>
          </p:cNvSpPr>
          <p:nvPr>
            <p:ph type="title"/>
          </p:nvPr>
        </p:nvSpPr>
        <p:spPr/>
        <p:txBody>
          <a:bodyPr/>
          <a:lstStyle/>
          <a:p>
            <a:r>
              <a:rPr lang="en-US" dirty="0"/>
              <a:t>Text data</a:t>
            </a:r>
          </a:p>
        </p:txBody>
      </p:sp>
      <p:sp>
        <p:nvSpPr>
          <p:cNvPr id="3" name="Content Placeholder 2">
            <a:extLst>
              <a:ext uri="{FF2B5EF4-FFF2-40B4-BE49-F238E27FC236}">
                <a16:creationId xmlns:a16="http://schemas.microsoft.com/office/drawing/2014/main" id="{8F5FFFE9-DCFB-A90B-F266-048A8C00718D}"/>
              </a:ext>
            </a:extLst>
          </p:cNvPr>
          <p:cNvSpPr>
            <a:spLocks noGrp="1"/>
          </p:cNvSpPr>
          <p:nvPr>
            <p:ph idx="1"/>
          </p:nvPr>
        </p:nvSpPr>
        <p:spPr/>
        <p:txBody>
          <a:bodyPr/>
          <a:lstStyle/>
          <a:p>
            <a:r>
              <a:rPr lang="en-US" dirty="0"/>
              <a:t>How do we analyze text?</a:t>
            </a:r>
          </a:p>
          <a:p>
            <a:r>
              <a:rPr lang="en-US" dirty="0"/>
              <a:t>How is text data stored</a:t>
            </a:r>
          </a:p>
          <a:p>
            <a:r>
              <a:rPr lang="en-US" dirty="0"/>
              <a:t>Convert text to numbers</a:t>
            </a:r>
          </a:p>
          <a:p>
            <a:pPr lvl="1"/>
            <a:r>
              <a:rPr lang="en-US" dirty="0"/>
              <a:t>Traditional methods: frequency of words/tokens used </a:t>
            </a:r>
          </a:p>
          <a:p>
            <a:pPr lvl="1"/>
            <a:r>
              <a:rPr lang="en-US" dirty="0"/>
              <a:t>New methods: text as vectors of numbers  </a:t>
            </a:r>
          </a:p>
          <a:p>
            <a:endParaRPr lang="en-US" dirty="0"/>
          </a:p>
          <a:p>
            <a:r>
              <a:rPr lang="en-US" dirty="0"/>
              <a:t>Why?</a:t>
            </a:r>
          </a:p>
          <a:p>
            <a:pPr lvl="1"/>
            <a:r>
              <a:rPr lang="en-US" dirty="0"/>
              <a:t>Computers cannot read </a:t>
            </a:r>
          </a:p>
          <a:p>
            <a:pPr lvl="1"/>
            <a:r>
              <a:rPr lang="en-US" dirty="0"/>
              <a:t>Analysis based on math which requires numbers</a:t>
            </a:r>
          </a:p>
        </p:txBody>
      </p:sp>
    </p:spTree>
    <p:extLst>
      <p:ext uri="{BB962C8B-B14F-4D97-AF65-F5344CB8AC3E}">
        <p14:creationId xmlns:p14="http://schemas.microsoft.com/office/powerpoint/2010/main" val="526770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 data structures</a:t>
            </a:r>
          </a:p>
        </p:txBody>
      </p:sp>
      <p:graphicFrame>
        <p:nvGraphicFramePr>
          <p:cNvPr id="6" name="Content Placeholder 5">
            <a:extLst>
              <a:ext uri="{FF2B5EF4-FFF2-40B4-BE49-F238E27FC236}">
                <a16:creationId xmlns:a16="http://schemas.microsoft.com/office/drawing/2014/main" id="{19FCDA94-E9EF-BF96-F221-7200B84EFA92}"/>
              </a:ext>
            </a:extLst>
          </p:cNvPr>
          <p:cNvGraphicFramePr>
            <a:graphicFrameLocks noGrp="1"/>
          </p:cNvGraphicFramePr>
          <p:nvPr>
            <p:ph sz="half" idx="2"/>
          </p:nvPr>
        </p:nvGraphicFramePr>
        <p:xfrm>
          <a:off x="6218238" y="1846263"/>
          <a:ext cx="5751258" cy="4011615"/>
        </p:xfrm>
        <a:graphic>
          <a:graphicData uri="http://schemas.openxmlformats.org/drawingml/2006/table">
            <a:tbl>
              <a:tblPr firstRow="1" bandRow="1">
                <a:tableStyleId>{5C22544A-7EE6-4342-B048-85BDC9FD1C3A}</a:tableStyleId>
              </a:tblPr>
              <a:tblGrid>
                <a:gridCol w="904938">
                  <a:extLst>
                    <a:ext uri="{9D8B030D-6E8A-4147-A177-3AD203B41FA5}">
                      <a16:colId xmlns:a16="http://schemas.microsoft.com/office/drawing/2014/main" val="809837760"/>
                    </a:ext>
                  </a:extLst>
                </a:gridCol>
                <a:gridCol w="3218688">
                  <a:extLst>
                    <a:ext uri="{9D8B030D-6E8A-4147-A177-3AD203B41FA5}">
                      <a16:colId xmlns:a16="http://schemas.microsoft.com/office/drawing/2014/main" val="162789126"/>
                    </a:ext>
                  </a:extLst>
                </a:gridCol>
                <a:gridCol w="914328">
                  <a:extLst>
                    <a:ext uri="{9D8B030D-6E8A-4147-A177-3AD203B41FA5}">
                      <a16:colId xmlns:a16="http://schemas.microsoft.com/office/drawing/2014/main" val="2695319098"/>
                    </a:ext>
                  </a:extLst>
                </a:gridCol>
                <a:gridCol w="713304">
                  <a:extLst>
                    <a:ext uri="{9D8B030D-6E8A-4147-A177-3AD203B41FA5}">
                      <a16:colId xmlns:a16="http://schemas.microsoft.com/office/drawing/2014/main" val="3315123810"/>
                    </a:ext>
                  </a:extLst>
                </a:gridCol>
              </a:tblGrid>
              <a:tr h="370840">
                <a:tc>
                  <a:txBody>
                    <a:bodyPr/>
                    <a:lstStyle/>
                    <a:p>
                      <a:pPr algn="l" fontAlgn="b"/>
                      <a:r>
                        <a:rPr lang="en-US" sz="1400" b="1" i="0" u="none" strike="noStrike" dirty="0">
                          <a:solidFill>
                            <a:srgbClr val="000000"/>
                          </a:solidFill>
                          <a:effectLst/>
                          <a:latin typeface="Calibri" panose="020F0502020204030204" pitchFamily="34" charset="0"/>
                        </a:rPr>
                        <a:t>Commodity</a:t>
                      </a:r>
                    </a:p>
                  </a:txBody>
                  <a:tcPr marL="4763" marR="4763" marT="4763" marB="0" anchor="b"/>
                </a:tc>
                <a:tc>
                  <a:txBody>
                    <a:bodyPr/>
                    <a:lstStyle/>
                    <a:p>
                      <a:pPr algn="l" fontAlgn="b"/>
                      <a:r>
                        <a:rPr lang="en-US" sz="1400" b="1" i="0" u="none" strike="noStrike" dirty="0">
                          <a:solidFill>
                            <a:srgbClr val="000000"/>
                          </a:solidFill>
                          <a:effectLst/>
                          <a:latin typeface="Calibri" panose="020F0502020204030204" pitchFamily="34" charset="0"/>
                        </a:rPr>
                        <a:t>Description</a:t>
                      </a:r>
                    </a:p>
                  </a:txBody>
                  <a:tcPr marL="4763" marR="4763" marT="4763" marB="0" anchor="b"/>
                </a:tc>
                <a:tc>
                  <a:txBody>
                    <a:bodyPr/>
                    <a:lstStyle/>
                    <a:p>
                      <a:pPr algn="l" fontAlgn="b"/>
                      <a:r>
                        <a:rPr lang="en-US" sz="1400" b="1" i="0" u="none" strike="noStrike" dirty="0">
                          <a:solidFill>
                            <a:srgbClr val="000000"/>
                          </a:solidFill>
                          <a:effectLst/>
                          <a:latin typeface="Calibri" panose="020F0502020204030204" pitchFamily="34" charset="0"/>
                        </a:rPr>
                        <a:t>Country</a:t>
                      </a:r>
                    </a:p>
                  </a:txBody>
                  <a:tcPr marL="4763" marR="4763" marT="4763" marB="0" anchor="b"/>
                </a:tc>
                <a:tc>
                  <a:txBody>
                    <a:bodyPr/>
                    <a:lstStyle/>
                    <a:p>
                      <a:pPr algn="r" fontAlgn="b"/>
                      <a:r>
                        <a:rPr lang="en-US" sz="1400" b="1" i="0" u="none" strike="noStrike" dirty="0">
                          <a:solidFill>
                            <a:srgbClr val="000000"/>
                          </a:solidFill>
                          <a:effectLst/>
                          <a:latin typeface="Calibri" panose="020F0502020204030204" pitchFamily="34" charset="0"/>
                        </a:rPr>
                        <a:t>Value</a:t>
                      </a:r>
                    </a:p>
                  </a:txBody>
                  <a:tcPr marL="4763" marR="4763" marT="4763" marB="0" anchor="b"/>
                </a:tc>
                <a:extLst>
                  <a:ext uri="{0D108BD9-81ED-4DB2-BD59-A6C34878D82A}">
                    <a16:rowId xmlns:a16="http://schemas.microsoft.com/office/drawing/2014/main" val="1442811970"/>
                  </a:ext>
                </a:extLst>
              </a:tr>
              <a:tr h="370840">
                <a:tc>
                  <a:txBody>
                    <a:bodyPr/>
                    <a:lstStyle/>
                    <a:p>
                      <a:pPr algn="l" fontAlgn="b"/>
                      <a:r>
                        <a:rPr lang="en-US" sz="1400" u="none" strike="noStrike" dirty="0">
                          <a:effectLst/>
                        </a:rPr>
                        <a:t>3913300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Hemp hats,</a:t>
                      </a:r>
                      <a:r>
                        <a:rPr lang="en-US" sz="1400" b="0" i="0" u="none" strike="noStrike" baseline="0" dirty="0">
                          <a:solidFill>
                            <a:srgbClr val="000000"/>
                          </a:solidFill>
                          <a:effectLst/>
                          <a:latin typeface="Calibri" panose="020F0502020204030204" pitchFamily="34" charset="0"/>
                        </a:rPr>
                        <a:t> unfinished, bleached, dyed, </a:t>
                      </a:r>
                      <a:r>
                        <a:rPr lang="en-US" sz="1400" b="0" i="0" u="none" strike="noStrike" baseline="0" dirty="0" err="1">
                          <a:solidFill>
                            <a:srgbClr val="000000"/>
                          </a:solidFill>
                          <a:effectLst/>
                          <a:latin typeface="Calibri" panose="020F0502020204030204" pitchFamily="34" charset="0"/>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HAITI</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dirty="0">
                          <a:effectLst/>
                        </a:rPr>
                        <a:t>672</a:t>
                      </a:r>
                      <a:endParaRPr lang="en-US" sz="14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589746648"/>
                  </a:ext>
                </a:extLst>
              </a:tr>
              <a:tr h="370840">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Hemp hats, unfinished,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ITALY</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1292</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631367595"/>
                  </a:ext>
                </a:extLst>
              </a:tr>
              <a:tr h="370840">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Hemp hats, unfinished,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JAPAN</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2776</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4022407409"/>
                  </a:ext>
                </a:extLst>
              </a:tr>
              <a:tr h="370840">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Hemp hats, unfinished,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WORLD</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4740</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814163819"/>
                  </a:ext>
                </a:extLst>
              </a:tr>
              <a:tr h="370840">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Natural fiber hats,</a:t>
                      </a:r>
                      <a:r>
                        <a:rPr lang="en-US" sz="1400" b="0" i="0" u="none" strike="noStrike" baseline="0" dirty="0">
                          <a:solidFill>
                            <a:srgbClr val="000000"/>
                          </a:solidFill>
                          <a:effectLst/>
                          <a:latin typeface="Calibri" panose="020F0502020204030204" pitchFamily="34" charset="0"/>
                        </a:rPr>
                        <a:t> </a:t>
                      </a:r>
                      <a:r>
                        <a:rPr lang="en-US" sz="1400" b="0" i="0" u="none" strike="noStrike" baseline="0" dirty="0" err="1">
                          <a:solidFill>
                            <a:srgbClr val="000000"/>
                          </a:solidFill>
                          <a:effectLst/>
                          <a:latin typeface="Calibri" panose="020F0502020204030204" pitchFamily="34" charset="0"/>
                        </a:rPr>
                        <a:t>nes</a:t>
                      </a:r>
                      <a:r>
                        <a:rPr lang="en-US" sz="1400" b="0" i="0" u="none" strike="noStrike" baseline="0" dirty="0">
                          <a:solidFill>
                            <a:srgbClr val="000000"/>
                          </a:solidFill>
                          <a:effectLst/>
                          <a:latin typeface="Calibri" panose="020F0502020204030204" pitchFamily="34" charset="0"/>
                        </a:rPr>
                        <a:t>, </a:t>
                      </a:r>
                      <a:r>
                        <a:rPr lang="en-US" sz="1400" b="0" i="0" u="none" strike="noStrike" baseline="0" dirty="0" err="1">
                          <a:solidFill>
                            <a:srgbClr val="000000"/>
                          </a:solidFill>
                          <a:effectLst/>
                          <a:latin typeface="Calibri" panose="020F0502020204030204" pitchFamily="34" charset="0"/>
                        </a:rPr>
                        <a:t>unfin</a:t>
                      </a:r>
                      <a:r>
                        <a:rPr lang="en-US" sz="1400" b="0" i="0" u="none" strike="noStrike" baseline="0" dirty="0">
                          <a:solidFill>
                            <a:srgbClr val="000000"/>
                          </a:solidFill>
                          <a:effectLst/>
                          <a:latin typeface="Calibri" panose="020F0502020204030204" pitchFamily="34" charset="0"/>
                        </a:rPr>
                        <a:t>, not bleached, dyed, </a:t>
                      </a:r>
                      <a:r>
                        <a:rPr lang="en-US" sz="1400" b="0" i="0" u="none" strike="noStrike" baseline="0" dirty="0" err="1">
                          <a:solidFill>
                            <a:srgbClr val="000000"/>
                          </a:solidFill>
                          <a:effectLst/>
                          <a:latin typeface="Calibri" panose="020F0502020204030204" pitchFamily="34" charset="0"/>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MEXICO</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3648</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564077852"/>
                  </a:ext>
                </a:extLst>
              </a:tr>
              <a:tr h="370840">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DOM REP</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185</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648152208"/>
                  </a:ext>
                </a:extLst>
              </a:tr>
              <a:tr h="370840">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ITALY</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4419</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328897909"/>
                  </a:ext>
                </a:extLst>
              </a:tr>
              <a:tr h="370840">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KOR REP</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204</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371190608"/>
                  </a:ext>
                </a:extLst>
              </a:tr>
              <a:tr h="370840">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TAIWAN</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dirty="0">
                          <a:effectLst/>
                        </a:rPr>
                        <a:t>7924</a:t>
                      </a:r>
                      <a:endParaRPr lang="en-US" sz="14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516391728"/>
                  </a:ext>
                </a:extLst>
              </a:tr>
            </a:tbl>
          </a:graphicData>
        </a:graphic>
      </p:graphicFrame>
      <p:pic>
        <p:nvPicPr>
          <p:cNvPr id="5" name="Content Placeholder 3" descr="us1962.pdf - Adobe Acrobat Reader DC">
            <a:extLst>
              <a:ext uri="{FF2B5EF4-FFF2-40B4-BE49-F238E27FC236}">
                <a16:creationId xmlns:a16="http://schemas.microsoft.com/office/drawing/2014/main" id="{127E63CB-7D94-8BBD-4062-555CF06BC4D3}"/>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1737" t="12694" r="-308" b="49459"/>
          <a:stretch/>
        </p:blipFill>
        <p:spPr>
          <a:xfrm>
            <a:off x="131471" y="1798228"/>
            <a:ext cx="5964529" cy="2865211"/>
          </a:xfrm>
          <a:prstGeom prst="rect">
            <a:avLst/>
          </a:prstGeom>
        </p:spPr>
      </p:pic>
    </p:spTree>
    <p:extLst>
      <p:ext uri="{BB962C8B-B14F-4D97-AF65-F5344CB8AC3E}">
        <p14:creationId xmlns:p14="http://schemas.microsoft.com/office/powerpoint/2010/main" val="2819276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Coding: Central bank independence</a:t>
            </a:r>
          </a:p>
        </p:txBody>
      </p:sp>
      <p:sp>
        <p:nvSpPr>
          <p:cNvPr id="3" name="Content Placeholder 2"/>
          <p:cNvSpPr>
            <a:spLocks noGrp="1"/>
          </p:cNvSpPr>
          <p:nvPr>
            <p:ph sz="half" idx="1"/>
          </p:nvPr>
        </p:nvSpPr>
        <p:spPr>
          <a:xfrm>
            <a:off x="646112" y="2060575"/>
            <a:ext cx="4853540" cy="4195763"/>
          </a:xfrm>
        </p:spPr>
        <p:txBody>
          <a:bodyPr>
            <a:normAutofit fontScale="85000" lnSpcReduction="10000"/>
          </a:bodyPr>
          <a:lstStyle/>
          <a:p>
            <a:r>
              <a:rPr lang="en-US" b="1" dirty="0"/>
              <a:t>Chief executive officer (CEO) 			0.20 </a:t>
            </a:r>
          </a:p>
          <a:p>
            <a:pPr lvl="1"/>
            <a:r>
              <a:rPr lang="en-US" i="1" dirty="0"/>
              <a:t>a. Term of office </a:t>
            </a:r>
          </a:p>
          <a:p>
            <a:pPr lvl="2"/>
            <a:r>
              <a:rPr lang="en-US" dirty="0"/>
              <a:t>Over 8 years 		1.00 </a:t>
            </a:r>
          </a:p>
          <a:p>
            <a:pPr lvl="2"/>
            <a:r>
              <a:rPr lang="en-US" dirty="0"/>
              <a:t>6 to 8 years		0.75 </a:t>
            </a:r>
          </a:p>
          <a:p>
            <a:pPr lvl="2"/>
            <a:r>
              <a:rPr lang="en-US" dirty="0"/>
              <a:t>5 years 			0.50 </a:t>
            </a:r>
          </a:p>
          <a:p>
            <a:pPr lvl="2"/>
            <a:r>
              <a:rPr lang="en-US" dirty="0"/>
              <a:t>4 years 			0.25 </a:t>
            </a:r>
          </a:p>
          <a:p>
            <a:pPr lvl="2"/>
            <a:r>
              <a:rPr lang="en-US" dirty="0"/>
              <a:t>Under 4 years		0.00 </a:t>
            </a:r>
          </a:p>
          <a:p>
            <a:pPr lvl="1"/>
            <a:r>
              <a:rPr lang="en-US" i="1" dirty="0"/>
              <a:t>b. Who appoints CEO? </a:t>
            </a:r>
          </a:p>
          <a:p>
            <a:pPr lvl="2"/>
            <a:r>
              <a:rPr lang="en-US" dirty="0"/>
              <a:t>Board of central bank 		1.00 </a:t>
            </a:r>
          </a:p>
          <a:p>
            <a:pPr lvl="2"/>
            <a:r>
              <a:rPr lang="en-US" dirty="0"/>
              <a:t>A council of the central bank board, executive branch, and legislative branch 	0.75 </a:t>
            </a:r>
          </a:p>
          <a:p>
            <a:pPr lvl="2"/>
            <a:r>
              <a:rPr lang="en-US" dirty="0"/>
              <a:t>Legislature 				0.50 </a:t>
            </a:r>
          </a:p>
          <a:p>
            <a:pPr lvl="2"/>
            <a:r>
              <a:rPr lang="en-US" dirty="0"/>
              <a:t>Executive collectively 		0.25 </a:t>
            </a:r>
          </a:p>
          <a:p>
            <a:pPr lvl="2"/>
            <a:r>
              <a:rPr lang="en-US" dirty="0"/>
              <a:t>1 or 2 members of executive 	0.00 </a:t>
            </a:r>
          </a:p>
        </p:txBody>
      </p:sp>
      <p:sp>
        <p:nvSpPr>
          <p:cNvPr id="4" name="Content Placeholder 3">
            <a:extLst>
              <a:ext uri="{FF2B5EF4-FFF2-40B4-BE49-F238E27FC236}">
                <a16:creationId xmlns:a16="http://schemas.microsoft.com/office/drawing/2014/main" id="{4EF001E8-08FD-B907-297A-C0546D06711B}"/>
              </a:ext>
            </a:extLst>
          </p:cNvPr>
          <p:cNvSpPr>
            <a:spLocks noGrp="1"/>
          </p:cNvSpPr>
          <p:nvPr>
            <p:ph sz="half" idx="2"/>
          </p:nvPr>
        </p:nvSpPr>
        <p:spPr>
          <a:xfrm>
            <a:off x="5654493" y="2056092"/>
            <a:ext cx="5766363" cy="4200245"/>
          </a:xfrm>
        </p:spPr>
        <p:txBody>
          <a:bodyPr>
            <a:normAutofit fontScale="85000" lnSpcReduction="10000"/>
          </a:bodyPr>
          <a:lstStyle/>
          <a:p>
            <a:pPr lvl="1"/>
            <a:r>
              <a:rPr lang="en-US" i="1" dirty="0"/>
              <a:t>c. Dismissal</a:t>
            </a:r>
            <a:r>
              <a:rPr lang="en-US" dirty="0"/>
              <a:t> </a:t>
            </a:r>
          </a:p>
          <a:p>
            <a:pPr lvl="2"/>
            <a:r>
              <a:rPr lang="en-US" dirty="0"/>
              <a:t>No provision for dismissal 					1.00 </a:t>
            </a:r>
          </a:p>
          <a:p>
            <a:pPr lvl="2"/>
            <a:r>
              <a:rPr lang="en-US" dirty="0"/>
              <a:t>Only for reasons not related to policy 			0.83 </a:t>
            </a:r>
          </a:p>
          <a:p>
            <a:pPr lvl="2"/>
            <a:r>
              <a:rPr lang="en-US" dirty="0"/>
              <a:t>At the discretion of central bank board 			0.67 </a:t>
            </a:r>
          </a:p>
          <a:p>
            <a:pPr lvl="2"/>
            <a:r>
              <a:rPr lang="en-US" dirty="0"/>
              <a:t>At legislature's discretion 					0.50 </a:t>
            </a:r>
          </a:p>
          <a:p>
            <a:pPr lvl="2"/>
            <a:r>
              <a:rPr lang="en-US" dirty="0"/>
              <a:t>Unconditional dismissal possible by legislature		0.33 </a:t>
            </a:r>
          </a:p>
          <a:p>
            <a:pPr lvl="2"/>
            <a:r>
              <a:rPr lang="en-US" dirty="0"/>
              <a:t>At executive's discretion 					0.17 </a:t>
            </a:r>
          </a:p>
          <a:p>
            <a:pPr lvl="2"/>
            <a:r>
              <a:rPr lang="en-US" dirty="0"/>
              <a:t>Unconditional dismissal possible by executive 		0.00 </a:t>
            </a:r>
          </a:p>
          <a:p>
            <a:endParaRPr lang="en-US" dirty="0"/>
          </a:p>
        </p:txBody>
      </p:sp>
    </p:spTree>
    <p:extLst>
      <p:ext uri="{BB962C8B-B14F-4D97-AF65-F5344CB8AC3E}">
        <p14:creationId xmlns:p14="http://schemas.microsoft.com/office/powerpoint/2010/main" val="3890480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bank independence</a:t>
            </a:r>
          </a:p>
        </p:txBody>
      </p:sp>
      <p:sp>
        <p:nvSpPr>
          <p:cNvPr id="3" name="Content Placeholder 2"/>
          <p:cNvSpPr>
            <a:spLocks noGrp="1"/>
          </p:cNvSpPr>
          <p:nvPr>
            <p:ph idx="1"/>
          </p:nvPr>
        </p:nvSpPr>
        <p:spPr/>
        <p:txBody>
          <a:bodyPr>
            <a:normAutofit fontScale="70000" lnSpcReduction="20000"/>
          </a:bodyPr>
          <a:lstStyle/>
          <a:p>
            <a:r>
              <a:rPr lang="en-US" b="1" dirty="0"/>
              <a:t>Chief Executive Officer (weight = .20)</a:t>
            </a:r>
            <a:endParaRPr lang="en-US" dirty="0"/>
          </a:p>
          <a:p>
            <a:r>
              <a:rPr lang="en-US" b="1" i="1" dirty="0"/>
              <a:t>Term of office</a:t>
            </a:r>
            <a:br>
              <a:rPr lang="en-US" b="1" i="1" dirty="0"/>
            </a:br>
            <a:r>
              <a:rPr lang="en-US" b="1" i="1" dirty="0"/>
              <a:t>eSwatini</a:t>
            </a:r>
            <a:r>
              <a:rPr lang="en-US" i="1" dirty="0"/>
              <a:t>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a:t>
            </a:r>
            <a:br>
              <a:rPr lang="en-US" dirty="0"/>
            </a:br>
            <a:r>
              <a:rPr lang="en-US" dirty="0"/>
              <a:t>The governor and the deputy governor shall be persons of recognized qualification and experience in financial matters, and shall be appointed for a term not exceeding five years. (Added in 2004)</a:t>
            </a:r>
            <a:br>
              <a:rPr lang="en-US" dirty="0"/>
            </a:br>
            <a:r>
              <a:rPr lang="en-US" dirty="0"/>
              <a:t>Subject to this Order, the governor and the deputy governor shall be appointed on such terms and conditions as may be set out in their letters of appointment, and shall be eligible for reappointment. (Section 11)  (Coded as .5 from 2004)</a:t>
            </a:r>
          </a:p>
          <a:p>
            <a:r>
              <a:rPr lang="en-US" b="1" i="1" dirty="0"/>
              <a:t>Who appoints CEO?</a:t>
            </a:r>
            <a:br>
              <a:rPr lang="en-US" b="1" i="1" dirty="0"/>
            </a:br>
            <a:r>
              <a:rPr lang="en-US" b="1" i="1" dirty="0"/>
              <a:t>eSwatini</a:t>
            </a:r>
            <a:r>
              <a:rPr lang="en-US" i="1" dirty="0"/>
              <a:t>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 (Coded as 0)</a:t>
            </a:r>
          </a:p>
          <a:p>
            <a:r>
              <a:rPr lang="en-US" b="1" i="1" dirty="0"/>
              <a:t>Dismissal</a:t>
            </a:r>
            <a:br>
              <a:rPr lang="en-US" b="1" i="1" dirty="0"/>
            </a:br>
            <a:r>
              <a:rPr lang="en-US" b="1" i="1" dirty="0"/>
              <a:t>eSwatini</a:t>
            </a:r>
            <a:r>
              <a:rPr lang="en-US" i="1" dirty="0"/>
              <a:t>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 (Coded as 0)</a:t>
            </a:r>
          </a:p>
          <a:p>
            <a:endParaRPr lang="en-US" dirty="0"/>
          </a:p>
        </p:txBody>
      </p:sp>
    </p:spTree>
    <p:extLst>
      <p:ext uri="{BB962C8B-B14F-4D97-AF65-F5344CB8AC3E}">
        <p14:creationId xmlns:p14="http://schemas.microsoft.com/office/powerpoint/2010/main" val="1108028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3A82-FD51-53FA-083F-8BF60A1848FF}"/>
              </a:ext>
            </a:extLst>
          </p:cNvPr>
          <p:cNvSpPr>
            <a:spLocks noGrp="1"/>
          </p:cNvSpPr>
          <p:nvPr>
            <p:ph type="title"/>
          </p:nvPr>
        </p:nvSpPr>
        <p:spPr/>
        <p:txBody>
          <a:bodyPr/>
          <a:lstStyle/>
          <a:p>
            <a:r>
              <a:rPr lang="en-US" dirty="0"/>
              <a:t>Traditional methods</a:t>
            </a:r>
          </a:p>
        </p:txBody>
      </p:sp>
      <p:sp>
        <p:nvSpPr>
          <p:cNvPr id="3" name="Content Placeholder 2">
            <a:extLst>
              <a:ext uri="{FF2B5EF4-FFF2-40B4-BE49-F238E27FC236}">
                <a16:creationId xmlns:a16="http://schemas.microsoft.com/office/drawing/2014/main" id="{505BF1D6-2EEF-9E2B-99D5-BB0BFBE8C892}"/>
              </a:ext>
            </a:extLst>
          </p:cNvPr>
          <p:cNvSpPr>
            <a:spLocks noGrp="1"/>
          </p:cNvSpPr>
          <p:nvPr>
            <p:ph idx="1"/>
          </p:nvPr>
        </p:nvSpPr>
        <p:spPr/>
        <p:txBody>
          <a:bodyPr>
            <a:normAutofit/>
          </a:bodyPr>
          <a:lstStyle/>
          <a:p>
            <a:pPr marL="0" indent="0">
              <a:buNone/>
            </a:pPr>
            <a:r>
              <a:rPr lang="en-US" sz="6000" dirty="0"/>
              <a:t>Context does not matter</a:t>
            </a:r>
          </a:p>
        </p:txBody>
      </p:sp>
    </p:spTree>
    <p:extLst>
      <p:ext uri="{BB962C8B-B14F-4D97-AF65-F5344CB8AC3E}">
        <p14:creationId xmlns:p14="http://schemas.microsoft.com/office/powerpoint/2010/main" val="3977308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a:t>
            </a:r>
          </a:p>
        </p:txBody>
      </p:sp>
      <p:sp>
        <p:nvSpPr>
          <p:cNvPr id="3" name="Content Placeholder 2"/>
          <p:cNvSpPr>
            <a:spLocks noGrp="1"/>
          </p:cNvSpPr>
          <p:nvPr>
            <p:ph idx="1"/>
          </p:nvPr>
        </p:nvSpPr>
        <p:spPr/>
        <p:txBody>
          <a:bodyPr>
            <a:normAutofit/>
          </a:bodyPr>
          <a:lstStyle/>
          <a:p>
            <a:r>
              <a:rPr lang="en-US" sz="3200" dirty="0"/>
              <a:t>Workhorse of text analysis</a:t>
            </a:r>
          </a:p>
          <a:p>
            <a:pPr lvl="1"/>
            <a:r>
              <a:rPr lang="en-US" sz="2800" dirty="0"/>
              <a:t>Number of occurrences of features in each document</a:t>
            </a:r>
          </a:p>
          <a:p>
            <a:pPr lvl="1"/>
            <a:r>
              <a:rPr lang="en-US" sz="2800" dirty="0"/>
              <a:t>Order/position does not matter</a:t>
            </a:r>
          </a:p>
          <a:p>
            <a:r>
              <a:rPr lang="en-US" sz="3000" dirty="0"/>
              <a:t>What counts as feature?</a:t>
            </a:r>
          </a:p>
          <a:p>
            <a:pPr lvl="1"/>
            <a:r>
              <a:rPr lang="en-US" sz="3000" dirty="0"/>
              <a:t>N-grams</a:t>
            </a:r>
          </a:p>
          <a:p>
            <a:pPr lvl="2"/>
            <a:r>
              <a:rPr lang="en-US" sz="2400" dirty="0"/>
              <a:t>Unigrams, bigrams, trigrams</a:t>
            </a:r>
          </a:p>
          <a:p>
            <a:endParaRPr lang="en-US" dirty="0"/>
          </a:p>
        </p:txBody>
      </p:sp>
    </p:spTree>
    <p:extLst>
      <p:ext uri="{BB962C8B-B14F-4D97-AF65-F5344CB8AC3E}">
        <p14:creationId xmlns:p14="http://schemas.microsoft.com/office/powerpoint/2010/main" val="2073611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b="1" dirty="0"/>
              <a:t>But, in a larger sense, we can not dedicate -- we can not consecrate -- we can not hallow -- this ground</a:t>
            </a:r>
          </a:p>
          <a:p>
            <a:r>
              <a:rPr lang="en-US" dirty="0"/>
              <a:t>Unigrams: “but”, “in”, “a”, “larger”, “sense”, “we”, “can”, “not”, “dedicate”, “consecrate”, “hallow”, “this”, “ground</a:t>
            </a:r>
          </a:p>
          <a:p>
            <a:r>
              <a:rPr lang="en-US" dirty="0"/>
              <a:t>Bigrams: “but in”, “in a”, “a larger”, “larger sense”, “we can”, “can not”, “not dedicate”, “not consecrate”, “not hallow”, “hallow this”, “this ground”</a:t>
            </a:r>
          </a:p>
        </p:txBody>
      </p:sp>
    </p:spTree>
    <p:extLst>
      <p:ext uri="{BB962C8B-B14F-4D97-AF65-F5344CB8AC3E}">
        <p14:creationId xmlns:p14="http://schemas.microsoft.com/office/powerpoint/2010/main" val="1655994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frequencies?</a:t>
            </a:r>
          </a:p>
        </p:txBody>
      </p:sp>
      <p:sp>
        <p:nvSpPr>
          <p:cNvPr id="3" name="Content Placeholder 2"/>
          <p:cNvSpPr>
            <a:spLocks noGrp="1"/>
          </p:cNvSpPr>
          <p:nvPr>
            <p:ph idx="1"/>
          </p:nvPr>
        </p:nvSpPr>
        <p:spPr/>
        <p:txBody>
          <a:bodyPr>
            <a:normAutofit fontScale="92500" lnSpcReduction="10000"/>
          </a:bodyPr>
          <a:lstStyle/>
          <a:p>
            <a:r>
              <a:rPr lang="en-US" sz="2800" dirty="0"/>
              <a:t>Words and phrases with highest frequency reflect important concerns in every communication</a:t>
            </a:r>
          </a:p>
          <a:p>
            <a:pPr lvl="1"/>
            <a:r>
              <a:rPr lang="en-US" sz="2600" dirty="0"/>
              <a:t>If document concerns “taxation” it should mention “taxation”* more frequently </a:t>
            </a:r>
          </a:p>
          <a:p>
            <a:r>
              <a:rPr lang="en-US" sz="2800" dirty="0" err="1"/>
              <a:t>Zipf’s</a:t>
            </a:r>
            <a:r>
              <a:rPr lang="en-US" sz="2800" dirty="0"/>
              <a:t> law</a:t>
            </a:r>
          </a:p>
          <a:p>
            <a:pPr lvl="1"/>
            <a:r>
              <a:rPr lang="en-US" sz="2400" dirty="0"/>
              <a:t>Frequency of word inversely proportional to rank in a frequency table</a:t>
            </a:r>
          </a:p>
          <a:p>
            <a:pPr marL="201168" lvl="1" indent="0">
              <a:buNone/>
            </a:pPr>
            <a:endParaRPr lang="en-US" sz="2600" dirty="0"/>
          </a:p>
          <a:p>
            <a:pPr marL="201168" lvl="1" indent="0">
              <a:buNone/>
            </a:pPr>
            <a:r>
              <a:rPr lang="en-US" sz="1900" dirty="0"/>
              <a:t>* Or a synonym of taxation, or part of the word taxation**</a:t>
            </a:r>
          </a:p>
          <a:p>
            <a:pPr marL="201168" lvl="1" indent="0">
              <a:buNone/>
            </a:pPr>
            <a:r>
              <a:rPr lang="en-US" sz="1900" dirty="0"/>
              <a:t>** such as tax, taxing, taxes, taxable</a:t>
            </a:r>
          </a:p>
        </p:txBody>
      </p:sp>
    </p:spTree>
    <p:extLst>
      <p:ext uri="{BB962C8B-B14F-4D97-AF65-F5344CB8AC3E}">
        <p14:creationId xmlns:p14="http://schemas.microsoft.com/office/powerpoint/2010/main" val="3347645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534C-E953-8D08-7327-5783A41C6576}"/>
              </a:ext>
            </a:extLst>
          </p:cNvPr>
          <p:cNvSpPr>
            <a:spLocks noGrp="1"/>
          </p:cNvSpPr>
          <p:nvPr>
            <p:ph type="title"/>
          </p:nvPr>
        </p:nvSpPr>
        <p:spPr/>
        <p:txBody>
          <a:bodyPr/>
          <a:lstStyle/>
          <a:p>
            <a:r>
              <a:rPr lang="en-US" dirty="0" err="1"/>
              <a:t>Zipf’s</a:t>
            </a:r>
            <a:r>
              <a:rPr lang="en-US" dirty="0"/>
              <a:t> Law</a:t>
            </a:r>
          </a:p>
        </p:txBody>
      </p:sp>
      <p:pic>
        <p:nvPicPr>
          <p:cNvPr id="1026" name="Picture 2" descr="Zipf's Law: Breakdown &amp; Application in App Development | by Hassan |  DataDrivenInvestor">
            <a:extLst>
              <a:ext uri="{FF2B5EF4-FFF2-40B4-BE49-F238E27FC236}">
                <a16:creationId xmlns:a16="http://schemas.microsoft.com/office/drawing/2014/main" id="{E091B6AF-1955-7EB5-6FF9-E09B93FAF6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77878" y="1846263"/>
            <a:ext cx="6696569"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548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 decisions</a:t>
            </a:r>
          </a:p>
        </p:txBody>
      </p:sp>
      <p:sp>
        <p:nvSpPr>
          <p:cNvPr id="3" name="Content Placeholder 2"/>
          <p:cNvSpPr>
            <a:spLocks noGrp="1"/>
          </p:cNvSpPr>
          <p:nvPr>
            <p:ph idx="1"/>
          </p:nvPr>
        </p:nvSpPr>
        <p:spPr/>
        <p:txBody>
          <a:bodyPr/>
          <a:lstStyle/>
          <a:p>
            <a:r>
              <a:rPr lang="en-US" dirty="0"/>
              <a:t>Stemming</a:t>
            </a:r>
          </a:p>
          <a:p>
            <a:pPr lvl="1"/>
            <a:r>
              <a:rPr lang="en-US" dirty="0"/>
              <a:t>Removing suffixes of words</a:t>
            </a:r>
          </a:p>
          <a:p>
            <a:pPr lvl="2"/>
            <a:r>
              <a:rPr lang="en-US" dirty="0"/>
              <a:t>Run: run, running, runs, runner </a:t>
            </a:r>
          </a:p>
          <a:p>
            <a:pPr lvl="2"/>
            <a:r>
              <a:rPr lang="en-US" dirty="0"/>
              <a:t>Hope that it’s correct most of the time</a:t>
            </a:r>
          </a:p>
          <a:p>
            <a:r>
              <a:rPr lang="en-US" dirty="0"/>
              <a:t>Lemmas</a:t>
            </a:r>
          </a:p>
          <a:p>
            <a:pPr lvl="1"/>
            <a:r>
              <a:rPr lang="en-US" dirty="0"/>
              <a:t> Grouping together inflected forms of a word</a:t>
            </a:r>
          </a:p>
          <a:p>
            <a:pPr lvl="2"/>
            <a:r>
              <a:rPr lang="en-US" dirty="0"/>
              <a:t>Run: run, running, runs, ran</a:t>
            </a:r>
          </a:p>
          <a:p>
            <a:r>
              <a:rPr lang="en-US" dirty="0"/>
              <a:t>Stop words</a:t>
            </a:r>
          </a:p>
          <a:p>
            <a:pPr lvl="1"/>
            <a:r>
              <a:rPr lang="en-US" dirty="0"/>
              <a:t>Natural language words with little meaning</a:t>
            </a:r>
          </a:p>
        </p:txBody>
      </p:sp>
    </p:spTree>
    <p:extLst>
      <p:ext uri="{BB962C8B-B14F-4D97-AF65-F5344CB8AC3E}">
        <p14:creationId xmlns:p14="http://schemas.microsoft.com/office/powerpoint/2010/main" val="1907388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5AD6-D718-DEC9-3B79-A3B3EC41DA86}"/>
              </a:ext>
            </a:extLst>
          </p:cNvPr>
          <p:cNvSpPr>
            <a:spLocks noGrp="1"/>
          </p:cNvSpPr>
          <p:nvPr>
            <p:ph type="title"/>
          </p:nvPr>
        </p:nvSpPr>
        <p:spPr/>
        <p:txBody>
          <a:bodyPr/>
          <a:lstStyle/>
          <a:p>
            <a:r>
              <a:rPr lang="en-US" dirty="0"/>
              <a:t>But also numeric data choices</a:t>
            </a:r>
          </a:p>
        </p:txBody>
      </p:sp>
      <p:sp>
        <p:nvSpPr>
          <p:cNvPr id="3" name="Content Placeholder 2">
            <a:extLst>
              <a:ext uri="{FF2B5EF4-FFF2-40B4-BE49-F238E27FC236}">
                <a16:creationId xmlns:a16="http://schemas.microsoft.com/office/drawing/2014/main" id="{5DBC73B4-0DC2-2D48-420F-23EDA72A2822}"/>
              </a:ext>
            </a:extLst>
          </p:cNvPr>
          <p:cNvSpPr>
            <a:spLocks noGrp="1"/>
          </p:cNvSpPr>
          <p:nvPr>
            <p:ph sz="half" idx="1"/>
          </p:nvPr>
        </p:nvSpPr>
        <p:spPr/>
        <p:txBody>
          <a:bodyPr>
            <a:normAutofit fontScale="85000" lnSpcReduction="10000"/>
          </a:bodyPr>
          <a:lstStyle/>
          <a:p>
            <a:r>
              <a:rPr lang="en-US" dirty="0"/>
              <a:t>Term of office</a:t>
            </a:r>
          </a:p>
          <a:p>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1.Term of office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a. Over 8 years 1.00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b. 6 to 8 years 0.75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c. 5 years 0.50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d. 4 years 0.25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e. Under 4 years or at the discretion of appointer 0.00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endParaRPr lang="en-US" sz="1800" kern="100" dirty="0">
              <a:effectLst/>
              <a:latin typeface="Consolas" panose="020B0609020204030204" pitchFamily="49" charset="0"/>
              <a:ea typeface="Calibri" panose="020F0502020204030204" pitchFamily="34" charset="0"/>
              <a:cs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69B713B8-1811-416E-B870-7BAD5E2DF167}"/>
              </a:ext>
            </a:extLst>
          </p:cNvPr>
          <p:cNvSpPr>
            <a:spLocks noGrp="1"/>
          </p:cNvSpPr>
          <p:nvPr>
            <p:ph sz="half" idx="2"/>
          </p:nvPr>
        </p:nvSpPr>
        <p:spPr>
          <a:xfrm>
            <a:off x="5654493" y="2056092"/>
            <a:ext cx="5199435" cy="4200245"/>
          </a:xfrm>
        </p:spPr>
        <p:txBody>
          <a:bodyPr>
            <a:normAutofit fontScale="85000" lnSpcReduction="10000"/>
          </a:bodyPr>
          <a:lstStyle/>
          <a:p>
            <a:r>
              <a:rPr lang="en-US" dirty="0"/>
              <a:t>Objective</a:t>
            </a:r>
          </a:p>
          <a:p>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8.  Objectives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a. Price stability is the major or only objective in the charter, and the central bank has the final word in case of conflict with other government objectives 1.00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b. Price stability is the only. objective 0.80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c. Price stability is one goal, with other compatible objectives, such as a stable banking system 0.60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d. Price stability is one goal, with potentially conflicting objectives, such as full employment 0.40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e. No objectives stated in the bank charter 0.20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f. Stated objectives do not include price stability 0.00</a:t>
            </a:r>
            <a:endParaRPr lang="en-US" sz="1800" kern="100" dirty="0">
              <a:effectLst/>
              <a:latin typeface="Consolas" panose="020B0609020204030204" pitchFamily="49"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75321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97CF-B951-E83C-08D0-DC0A209CA480}"/>
              </a:ext>
            </a:extLst>
          </p:cNvPr>
          <p:cNvSpPr>
            <a:spLocks noGrp="1"/>
          </p:cNvSpPr>
          <p:nvPr>
            <p:ph type="title"/>
          </p:nvPr>
        </p:nvSpPr>
        <p:spPr/>
        <p:txBody>
          <a:bodyPr/>
          <a:lstStyle/>
          <a:p>
            <a:r>
              <a:rPr lang="en-US" dirty="0"/>
              <a:t>Trade data</a:t>
            </a:r>
          </a:p>
        </p:txBody>
      </p:sp>
      <p:sp>
        <p:nvSpPr>
          <p:cNvPr id="3" name="Content Placeholder 2">
            <a:extLst>
              <a:ext uri="{FF2B5EF4-FFF2-40B4-BE49-F238E27FC236}">
                <a16:creationId xmlns:a16="http://schemas.microsoft.com/office/drawing/2014/main" id="{0183C729-9808-14BF-05C2-EF7814F42998}"/>
              </a:ext>
            </a:extLst>
          </p:cNvPr>
          <p:cNvSpPr>
            <a:spLocks noGrp="1"/>
          </p:cNvSpPr>
          <p:nvPr>
            <p:ph sz="half" idx="1"/>
          </p:nvPr>
        </p:nvSpPr>
        <p:spPr/>
        <p:txBody>
          <a:bodyPr/>
          <a:lstStyle/>
          <a:p>
            <a:endParaRPr lang="en-US" dirty="0"/>
          </a:p>
        </p:txBody>
      </p:sp>
      <p:sp>
        <p:nvSpPr>
          <p:cNvPr id="4" name="Content Placeholder 3">
            <a:extLst>
              <a:ext uri="{FF2B5EF4-FFF2-40B4-BE49-F238E27FC236}">
                <a16:creationId xmlns:a16="http://schemas.microsoft.com/office/drawing/2014/main" id="{DC97EBD4-86A6-49A7-36C5-D44C0172C354}"/>
              </a:ext>
            </a:extLst>
          </p:cNvPr>
          <p:cNvSpPr>
            <a:spLocks noGrp="1"/>
          </p:cNvSpPr>
          <p:nvPr>
            <p:ph sz="half" idx="2"/>
          </p:nvPr>
        </p:nvSpPr>
        <p:spPr/>
        <p:txBody>
          <a:bodyPr/>
          <a:lstStyle/>
          <a:p>
            <a:endParaRPr lang="en-US" dirty="0"/>
          </a:p>
        </p:txBody>
      </p:sp>
      <p:pic>
        <p:nvPicPr>
          <p:cNvPr id="9" name="Picture 8">
            <a:extLst>
              <a:ext uri="{FF2B5EF4-FFF2-40B4-BE49-F238E27FC236}">
                <a16:creationId xmlns:a16="http://schemas.microsoft.com/office/drawing/2014/main" id="{51B8AF9B-6C67-1F18-D0D7-2EEC63ADB43C}"/>
              </a:ext>
            </a:extLst>
          </p:cNvPr>
          <p:cNvPicPr>
            <a:picLocks noChangeAspect="1"/>
          </p:cNvPicPr>
          <p:nvPr/>
        </p:nvPicPr>
        <p:blipFill>
          <a:blip r:embed="rId2"/>
          <a:stretch>
            <a:fillRect/>
          </a:stretch>
        </p:blipFill>
        <p:spPr>
          <a:xfrm>
            <a:off x="753290" y="1152983"/>
            <a:ext cx="8854617" cy="2898932"/>
          </a:xfrm>
          <a:prstGeom prst="rect">
            <a:avLst/>
          </a:prstGeom>
        </p:spPr>
      </p:pic>
      <p:pic>
        <p:nvPicPr>
          <p:cNvPr id="11" name="Picture 10">
            <a:extLst>
              <a:ext uri="{FF2B5EF4-FFF2-40B4-BE49-F238E27FC236}">
                <a16:creationId xmlns:a16="http://schemas.microsoft.com/office/drawing/2014/main" id="{67D92A4C-02C7-836A-BCC9-0810C1FCD0D0}"/>
              </a:ext>
            </a:extLst>
          </p:cNvPr>
          <p:cNvPicPr>
            <a:picLocks noChangeAspect="1"/>
          </p:cNvPicPr>
          <p:nvPr/>
        </p:nvPicPr>
        <p:blipFill>
          <a:blip r:embed="rId3"/>
          <a:stretch>
            <a:fillRect/>
          </a:stretch>
        </p:blipFill>
        <p:spPr>
          <a:xfrm>
            <a:off x="5182230" y="4273047"/>
            <a:ext cx="6402817" cy="2379965"/>
          </a:xfrm>
          <a:prstGeom prst="rect">
            <a:avLst/>
          </a:prstGeom>
        </p:spPr>
      </p:pic>
    </p:spTree>
    <p:extLst>
      <p:ext uri="{BB962C8B-B14F-4D97-AF65-F5344CB8AC3E}">
        <p14:creationId xmlns:p14="http://schemas.microsoft.com/office/powerpoint/2010/main" val="3828384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DFDAF4-A63A-3D5E-4F54-2AA2781AF62A}"/>
              </a:ext>
            </a:extLst>
          </p:cNvPr>
          <p:cNvSpPr>
            <a:spLocks noGrp="1"/>
          </p:cNvSpPr>
          <p:nvPr>
            <p:ph type="title"/>
          </p:nvPr>
        </p:nvSpPr>
        <p:spPr/>
        <p:txBody>
          <a:bodyPr/>
          <a:lstStyle/>
          <a:p>
            <a:r>
              <a:rPr lang="en-US" dirty="0"/>
              <a:t>Bag of words steps</a:t>
            </a:r>
          </a:p>
        </p:txBody>
      </p:sp>
      <p:sp>
        <p:nvSpPr>
          <p:cNvPr id="6" name="Content Placeholder 5">
            <a:extLst>
              <a:ext uri="{FF2B5EF4-FFF2-40B4-BE49-F238E27FC236}">
                <a16:creationId xmlns:a16="http://schemas.microsoft.com/office/drawing/2014/main" id="{161DA784-A18C-CBCF-F1D8-55BDFAD16EB8}"/>
              </a:ext>
            </a:extLst>
          </p:cNvPr>
          <p:cNvSpPr>
            <a:spLocks noGrp="1"/>
          </p:cNvSpPr>
          <p:nvPr>
            <p:ph idx="1"/>
          </p:nvPr>
        </p:nvSpPr>
        <p:spPr/>
        <p:txBody>
          <a:bodyPr/>
          <a:lstStyle/>
          <a:p>
            <a:pPr marL="457200" indent="-457200">
              <a:buFont typeface="+mj-lt"/>
              <a:buAutoNum type="arabicPeriod"/>
            </a:pPr>
            <a:r>
              <a:rPr lang="en-US" dirty="0"/>
              <a:t>Tokenize text – convert text to individual features</a:t>
            </a:r>
          </a:p>
          <a:p>
            <a:pPr marL="457200" indent="-457200">
              <a:buFont typeface="+mj-lt"/>
              <a:buAutoNum type="arabicPeriod"/>
            </a:pPr>
            <a:r>
              <a:rPr lang="en-US" dirty="0"/>
              <a:t>Create matrix with documents as rows and tokens as columns</a:t>
            </a:r>
          </a:p>
        </p:txBody>
      </p:sp>
    </p:spTree>
    <p:extLst>
      <p:ext uri="{BB962C8B-B14F-4D97-AF65-F5344CB8AC3E}">
        <p14:creationId xmlns:p14="http://schemas.microsoft.com/office/powerpoint/2010/main" val="1123212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FRUS 1945 vol. 06 doc. 43</a:t>
            </a:r>
          </a:p>
        </p:txBody>
      </p:sp>
      <p:sp>
        <p:nvSpPr>
          <p:cNvPr id="3" name="Content Placeholder 2"/>
          <p:cNvSpPr>
            <a:spLocks noGrp="1"/>
          </p:cNvSpPr>
          <p:nvPr>
            <p:ph idx="1"/>
          </p:nvPr>
        </p:nvSpPr>
        <p:spPr>
          <a:xfrm>
            <a:off x="838200" y="1828799"/>
            <a:ext cx="10515600" cy="4320331"/>
          </a:xfrm>
        </p:spPr>
        <p:txBody>
          <a:bodyPr>
            <a:normAutofit/>
          </a:bodyPr>
          <a:lstStyle/>
          <a:p>
            <a:pPr fontAlgn="base">
              <a:spcBef>
                <a:spcPts val="600"/>
              </a:spcBef>
              <a:spcAft>
                <a:spcPts val="600"/>
              </a:spcAft>
            </a:pPr>
            <a:r>
              <a:rPr lang="en-US" sz="1800" b="0" i="0" dirty="0">
                <a:effectLst/>
                <a:latin typeface="Merriweather" panose="00000500000000000000" pitchFamily="2" charset="0"/>
              </a:rPr>
              <a:t>Postwar imports, while of a somewhat different composition than present imports, will be somewhat greater. Food imports will increase. Moreover, world prices are tending upward. Lord Keynes felt that the combined purchases “bluff” was beginning to lose effect and that prices generally would increase by 20%.</a:t>
            </a:r>
            <a:endParaRPr lang="en-US" sz="1800" b="0" i="0" dirty="0">
              <a:effectLst/>
              <a:latin typeface="Merriweather" panose="020B0604020202020204" pitchFamily="2" charset="0"/>
            </a:endParaRPr>
          </a:p>
          <a:p>
            <a:pPr fontAlgn="base">
              <a:spcBef>
                <a:spcPts val="600"/>
              </a:spcBef>
              <a:spcAft>
                <a:spcPts val="600"/>
              </a:spcAft>
            </a:pPr>
            <a:r>
              <a:rPr lang="en-US" sz="1800" b="0" i="0" dirty="0">
                <a:effectLst/>
                <a:latin typeface="Merriweather" panose="020B0604020202020204" pitchFamily="2" charset="0"/>
              </a:rPr>
              <a:t>Keynes thinks that there may be no net increase in manpower in the export trades. Keynes and </a:t>
            </a:r>
            <a:r>
              <a:rPr lang="en-US" sz="1800" b="0" i="0" dirty="0" err="1">
                <a:effectLst/>
                <a:latin typeface="Merriweather" panose="020B0604020202020204" pitchFamily="2" charset="0"/>
              </a:rPr>
              <a:t>Eady</a:t>
            </a:r>
            <a:r>
              <a:rPr lang="en-US" sz="1800" b="0" i="0" dirty="0">
                <a:effectLst/>
                <a:latin typeface="Merriweather" panose="020B0604020202020204" pitchFamily="2" charset="0"/>
              </a:rPr>
              <a:t> pointed out that it is very difficult to take the right decision with respect to the Japanese war effort. If the British release more manpower, public opinion in the United States will say that they are not doing enough for the Japanese war. Keynes pointed out that the present military assumptions are that a full Japanese war pipeline must be maintained to December 31, 1946. This seems absurd and Keynes believes that perhaps we should reconsider and begin to taper off.</a:t>
            </a:r>
          </a:p>
          <a:p>
            <a:pPr fontAlgn="base">
              <a:spcBef>
                <a:spcPts val="600"/>
              </a:spcBef>
              <a:spcAft>
                <a:spcPts val="600"/>
              </a:spcAft>
            </a:pPr>
            <a:r>
              <a:rPr lang="en-US" sz="1800" b="0" i="0" dirty="0">
                <a:effectLst/>
                <a:latin typeface="Merriweather" panose="00000500000000000000" pitchFamily="2" charset="0"/>
              </a:rPr>
              <a:t>In arriving at these deficit estimates, Keynes is including some 300 million of additional overseas expenses into the sterling blocked balances to be added to the war settlement with the sterling area. Zero day for blocked balances would be several months after V–J.</a:t>
            </a:r>
            <a:endParaRPr lang="en-US" sz="1800" dirty="0"/>
          </a:p>
        </p:txBody>
      </p:sp>
      <p:sp>
        <p:nvSpPr>
          <p:cNvPr id="4" name="Footer Placeholder 3"/>
          <p:cNvSpPr>
            <a:spLocks noGrp="1"/>
          </p:cNvSpPr>
          <p:nvPr>
            <p:ph type="ftr" sz="quarter" idx="11"/>
          </p:nvPr>
        </p:nvSpPr>
        <p:spPr>
          <a:xfrm>
            <a:off x="838200" y="6288162"/>
            <a:ext cx="4114800" cy="365125"/>
          </a:xfrm>
        </p:spPr>
        <p:txBody>
          <a:bodyPr/>
          <a:lstStyle/>
          <a:p>
            <a:pPr algn="l"/>
            <a:r>
              <a:rPr lang="en-US" sz="1600" dirty="0"/>
              <a:t>Bag of words </a:t>
            </a:r>
          </a:p>
        </p:txBody>
      </p:sp>
    </p:spTree>
    <p:extLst>
      <p:ext uri="{BB962C8B-B14F-4D97-AF65-F5344CB8AC3E}">
        <p14:creationId xmlns:p14="http://schemas.microsoft.com/office/powerpoint/2010/main" val="336862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Frequencies</a:t>
            </a:r>
          </a:p>
        </p:txBody>
      </p:sp>
      <p:graphicFrame>
        <p:nvGraphicFramePr>
          <p:cNvPr id="4" name="Content Placeholder 3"/>
          <p:cNvGraphicFramePr>
            <a:graphicFrameLocks noGrp="1"/>
          </p:cNvGraphicFramePr>
          <p:nvPr>
            <p:ph idx="1"/>
          </p:nvPr>
        </p:nvGraphicFramePr>
        <p:xfrm>
          <a:off x="1081135" y="1990160"/>
          <a:ext cx="9547714" cy="4186072"/>
        </p:xfrm>
        <a:graphic>
          <a:graphicData uri="http://schemas.openxmlformats.org/drawingml/2006/table">
            <a:tbl>
              <a:tblPr>
                <a:tableStyleId>{5C22544A-7EE6-4342-B048-85BDC9FD1C3A}</a:tableStyleId>
              </a:tblPr>
              <a:tblGrid>
                <a:gridCol w="2151301">
                  <a:extLst>
                    <a:ext uri="{9D8B030D-6E8A-4147-A177-3AD203B41FA5}">
                      <a16:colId xmlns:a16="http://schemas.microsoft.com/office/drawing/2014/main" val="3143266384"/>
                    </a:ext>
                  </a:extLst>
                </a:gridCol>
                <a:gridCol w="1031270">
                  <a:extLst>
                    <a:ext uri="{9D8B030D-6E8A-4147-A177-3AD203B41FA5}">
                      <a16:colId xmlns:a16="http://schemas.microsoft.com/office/drawing/2014/main" val="3826780971"/>
                    </a:ext>
                  </a:extLst>
                </a:gridCol>
                <a:gridCol w="2317042">
                  <a:extLst>
                    <a:ext uri="{9D8B030D-6E8A-4147-A177-3AD203B41FA5}">
                      <a16:colId xmlns:a16="http://schemas.microsoft.com/office/drawing/2014/main" val="2075698229"/>
                    </a:ext>
                  </a:extLst>
                </a:gridCol>
                <a:gridCol w="865530">
                  <a:extLst>
                    <a:ext uri="{9D8B030D-6E8A-4147-A177-3AD203B41FA5}">
                      <a16:colId xmlns:a16="http://schemas.microsoft.com/office/drawing/2014/main" val="578842457"/>
                    </a:ext>
                  </a:extLst>
                </a:gridCol>
                <a:gridCol w="2306994">
                  <a:extLst>
                    <a:ext uri="{9D8B030D-6E8A-4147-A177-3AD203B41FA5}">
                      <a16:colId xmlns:a16="http://schemas.microsoft.com/office/drawing/2014/main" val="3580942460"/>
                    </a:ext>
                  </a:extLst>
                </a:gridCol>
                <a:gridCol w="875577">
                  <a:extLst>
                    <a:ext uri="{9D8B030D-6E8A-4147-A177-3AD203B41FA5}">
                      <a16:colId xmlns:a16="http://schemas.microsoft.com/office/drawing/2014/main" val="422100240"/>
                    </a:ext>
                  </a:extLst>
                </a:gridCol>
              </a:tblGrid>
              <a:tr h="380552">
                <a:tc>
                  <a:txBody>
                    <a:bodyPr/>
                    <a:lstStyle/>
                    <a:p>
                      <a:pPr algn="l" fontAlgn="b"/>
                      <a:r>
                        <a:rPr lang="en-US" sz="2000" u="none" strike="noStrike" dirty="0">
                          <a:effectLst/>
                          <a:latin typeface="+mn-lt"/>
                        </a:rPr>
                        <a:t>Paragraph 1</a:t>
                      </a:r>
                      <a:endParaRPr lang="en-US" sz="2000" b="0" i="0" u="none" strike="noStrike" dirty="0">
                        <a:solidFill>
                          <a:srgbClr val="000000"/>
                        </a:solidFill>
                        <a:effectLst/>
                        <a:latin typeface="+mn-lt"/>
                      </a:endParaRP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Paragraph</a:t>
                      </a:r>
                      <a:r>
                        <a:rPr lang="en-US" sz="2000" u="none" strike="noStrike" baseline="0" dirty="0">
                          <a:effectLst/>
                          <a:latin typeface="+mn-lt"/>
                        </a:rPr>
                        <a:t> 2</a:t>
                      </a:r>
                      <a:endParaRPr lang="en-US" sz="2000" b="0" i="0" u="none" strike="noStrike" dirty="0">
                        <a:solidFill>
                          <a:srgbClr val="000000"/>
                        </a:solidFill>
                        <a:effectLst/>
                        <a:latin typeface="+mn-lt"/>
                      </a:endParaRP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Paragraph 3</a:t>
                      </a:r>
                      <a:endParaRPr lang="en-US" sz="2000" b="0" i="0" u="none" strike="noStrike" dirty="0">
                        <a:solidFill>
                          <a:srgbClr val="000000"/>
                        </a:solidFill>
                        <a:effectLst/>
                        <a:latin typeface="+mn-lt"/>
                      </a:endParaRP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3080262580"/>
                  </a:ext>
                </a:extLst>
              </a:tr>
              <a:tr h="380552">
                <a:tc>
                  <a:txBody>
                    <a:bodyPr/>
                    <a:lstStyle/>
                    <a:p>
                      <a:pPr algn="l" fontAlgn="b"/>
                      <a:r>
                        <a:rPr lang="en-US" sz="2000" u="none" strike="noStrike" dirty="0">
                          <a:effectLst/>
                          <a:latin typeface="+mn-lt"/>
                        </a:rPr>
                        <a:t>imports</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b="0" i="0" u="none" strike="noStrike" dirty="0">
                          <a:solidFill>
                            <a:srgbClr val="000000"/>
                          </a:solidFill>
                          <a:effectLst/>
                          <a:latin typeface="+mn-lt"/>
                        </a:rPr>
                        <a:t>3</a:t>
                      </a:r>
                    </a:p>
                  </a:txBody>
                  <a:tcPr marL="4763" marR="4763" marT="4763" marB="0" anchor="b"/>
                </a:tc>
                <a:tc>
                  <a:txBody>
                    <a:bodyPr/>
                    <a:lstStyle/>
                    <a:p>
                      <a:pPr algn="l" fontAlgn="b"/>
                      <a:r>
                        <a:rPr lang="en-US" sz="2000" u="none" strike="noStrike" dirty="0">
                          <a:effectLst/>
                          <a:latin typeface="+mn-lt"/>
                        </a:rPr>
                        <a:t>the</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7</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the </a:t>
                      </a:r>
                    </a:p>
                  </a:txBody>
                  <a:tcPr marL="4763" marR="4763" marT="4763" marB="0" anchor="b"/>
                </a:tc>
                <a:tc>
                  <a:txBody>
                    <a:bodyPr/>
                    <a:lstStyle/>
                    <a:p>
                      <a:pPr algn="ctr" fontAlgn="b"/>
                      <a:r>
                        <a:rPr lang="en-US" sz="2000" u="none" strike="noStrike" dirty="0">
                          <a:effectLst/>
                          <a:latin typeface="+mn-lt"/>
                        </a:rPr>
                        <a:t>3</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1707494904"/>
                  </a:ext>
                </a:extLst>
              </a:tr>
              <a:tr h="380552">
                <a:tc>
                  <a:txBody>
                    <a:bodyPr/>
                    <a:lstStyle/>
                    <a:p>
                      <a:pPr algn="l" fontAlgn="b"/>
                      <a:r>
                        <a:rPr lang="en-US" sz="2000" u="none" strike="noStrike" dirty="0">
                          <a:effectLst/>
                          <a:latin typeface="+mn-lt"/>
                        </a:rPr>
                        <a:t>prices</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that </a:t>
                      </a:r>
                    </a:p>
                  </a:txBody>
                  <a:tcPr marL="4763" marR="4763" marT="4763" marB="0" anchor="b"/>
                </a:tc>
                <a:tc>
                  <a:txBody>
                    <a:bodyPr/>
                    <a:lstStyle/>
                    <a:p>
                      <a:pPr algn="ctr" fontAlgn="b"/>
                      <a:r>
                        <a:rPr lang="en-US" sz="2000" u="none" strike="noStrike" dirty="0">
                          <a:effectLst/>
                          <a:latin typeface="+mn-lt"/>
                        </a:rPr>
                        <a:t>6</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balance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3805344180"/>
                  </a:ext>
                </a:extLst>
              </a:tr>
              <a:tr h="380552">
                <a:tc>
                  <a:txBody>
                    <a:bodyPr/>
                    <a:lstStyle/>
                    <a:p>
                      <a:pPr algn="l" fontAlgn="b"/>
                      <a:r>
                        <a:rPr lang="en-US" sz="2000" u="none" strike="noStrike" dirty="0">
                          <a:effectLst/>
                          <a:latin typeface="+mn-lt"/>
                        </a:rPr>
                        <a:t>somewhat</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err="1">
                          <a:effectLst/>
                          <a:latin typeface="+mn-lt"/>
                        </a:rPr>
                        <a:t>keynes</a:t>
                      </a:r>
                      <a:r>
                        <a:rPr lang="en-US" sz="2000" u="none" strike="noStrike" dirty="0">
                          <a:effectLst/>
                          <a:latin typeface="+mn-lt"/>
                        </a:rPr>
                        <a:t>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4</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be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3027916584"/>
                  </a:ext>
                </a:extLst>
              </a:tr>
              <a:tr h="380552">
                <a:tc>
                  <a:txBody>
                    <a:bodyPr/>
                    <a:lstStyle/>
                    <a:p>
                      <a:pPr algn="l" fontAlgn="b"/>
                      <a:r>
                        <a:rPr lang="en-US" sz="2000" u="none" strike="noStrike" dirty="0">
                          <a:effectLst/>
                          <a:latin typeface="+mn-lt"/>
                        </a:rPr>
                        <a:t>that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to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4</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blocked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2484823663"/>
                  </a:ext>
                </a:extLst>
              </a:tr>
              <a:tr h="380552">
                <a:tc>
                  <a:txBody>
                    <a:bodyPr/>
                    <a:lstStyle/>
                    <a:p>
                      <a:pPr algn="l" fontAlgn="b"/>
                      <a:r>
                        <a:rPr lang="en-US" sz="2000" u="none" strike="noStrike" dirty="0">
                          <a:effectLst/>
                          <a:latin typeface="+mn-lt"/>
                        </a:rPr>
                        <a:t>will</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and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3</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sterling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728203654"/>
                  </a:ext>
                </a:extLst>
              </a:tr>
              <a:tr h="380552">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in </a:t>
                      </a:r>
                    </a:p>
                  </a:txBody>
                  <a:tcPr marL="4763" marR="4763" marT="4763" marB="0" anchor="b"/>
                </a:tc>
                <a:tc>
                  <a:txBody>
                    <a:bodyPr/>
                    <a:lstStyle/>
                    <a:p>
                      <a:pPr algn="ctr" fontAlgn="b"/>
                      <a:r>
                        <a:rPr lang="en-US" sz="2000" b="0" i="0" u="none" strike="noStrike" dirty="0">
                          <a:solidFill>
                            <a:srgbClr val="000000"/>
                          </a:solidFill>
                          <a:effectLst/>
                          <a:latin typeface="+mn-lt"/>
                        </a:rPr>
                        <a:t>3</a:t>
                      </a:r>
                    </a:p>
                  </a:txBody>
                  <a:tcPr marL="4763" marR="4763" marT="4763" marB="0" anchor="b"/>
                </a:tc>
                <a:tc>
                  <a:txBody>
                    <a:bodyPr/>
                    <a:lstStyle/>
                    <a:p>
                      <a:pPr algn="l" fontAlgn="b"/>
                      <a:r>
                        <a:rPr lang="en-US" sz="2000" u="none" strike="noStrike" dirty="0">
                          <a:effectLst/>
                          <a:latin typeface="+mn-lt"/>
                        </a:rPr>
                        <a:t>to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4277974967"/>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err="1">
                          <a:solidFill>
                            <a:srgbClr val="000000"/>
                          </a:solidFill>
                          <a:effectLst/>
                          <a:latin typeface="+mn-lt"/>
                        </a:rPr>
                        <a:t>japanese</a:t>
                      </a:r>
                      <a:r>
                        <a:rPr lang="en-US" sz="2000" b="0" i="0" u="none" strike="noStrike" dirty="0">
                          <a:solidFill>
                            <a:srgbClr val="000000"/>
                          </a:solidFill>
                          <a:effectLst/>
                          <a:latin typeface="+mn-lt"/>
                        </a:rPr>
                        <a:t> </a:t>
                      </a:r>
                    </a:p>
                  </a:txBody>
                  <a:tcPr marL="4763" marR="4763" marT="4763" marB="0" anchor="b"/>
                </a:tc>
                <a:tc>
                  <a:txBody>
                    <a:bodyPr/>
                    <a:lstStyle/>
                    <a:p>
                      <a:pPr algn="ctr" fontAlgn="b"/>
                      <a:r>
                        <a:rPr lang="en-US" sz="2000" b="0" i="0" u="none" strike="noStrike" dirty="0">
                          <a:solidFill>
                            <a:srgbClr val="000000"/>
                          </a:solidFill>
                          <a:effectLst/>
                          <a:latin typeface="+mn-lt"/>
                        </a:rPr>
                        <a:t>3</a:t>
                      </a: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1411563370"/>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are </a:t>
                      </a:r>
                    </a:p>
                  </a:txBody>
                  <a:tcPr marL="4763" marR="4763" marT="4763" marB="0" anchor="b"/>
                </a:tc>
                <a:tc>
                  <a:txBody>
                    <a:bodyPr/>
                    <a:lstStyle/>
                    <a:p>
                      <a:pPr algn="ctr" fontAlgn="b"/>
                      <a:r>
                        <a:rPr lang="en-US" sz="2000" b="0" i="0" u="none" strike="noStrike" dirty="0">
                          <a:solidFill>
                            <a:srgbClr val="000000"/>
                          </a:solidFill>
                          <a:effectLst/>
                          <a:latin typeface="+mn-lt"/>
                        </a:rPr>
                        <a:t>2</a:t>
                      </a:r>
                    </a:p>
                  </a:txBody>
                  <a:tcPr marL="4763" marR="4763" marT="4763" marB="0" anchor="b"/>
                </a:tc>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2182084714"/>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be </a:t>
                      </a:r>
                    </a:p>
                  </a:txBody>
                  <a:tcPr marL="4763" marR="4763" marT="4763" marB="0" anchor="b"/>
                </a:tc>
                <a:tc>
                  <a:txBody>
                    <a:bodyPr/>
                    <a:lstStyle/>
                    <a:p>
                      <a:pPr algn="ctr" fontAlgn="b"/>
                      <a:r>
                        <a:rPr lang="en-US" sz="2000" b="0" i="0" u="none" strike="noStrike" dirty="0">
                          <a:solidFill>
                            <a:srgbClr val="000000"/>
                          </a:solidFill>
                          <a:effectLst/>
                          <a:latin typeface="+mn-lt"/>
                        </a:rPr>
                        <a:t>2</a:t>
                      </a:r>
                    </a:p>
                  </a:txBody>
                  <a:tcPr marL="4763" marR="4763" marT="4763" marB="0" anchor="b"/>
                </a:tc>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2891301032"/>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increase</a:t>
                      </a:r>
                    </a:p>
                  </a:txBody>
                  <a:tcPr marL="4763" marR="4763" marT="4763" marB="0" anchor="b"/>
                </a:tc>
                <a:tc>
                  <a:txBody>
                    <a:bodyPr/>
                    <a:lstStyle/>
                    <a:p>
                      <a:pPr algn="ctr" fontAlgn="b"/>
                      <a:r>
                        <a:rPr lang="en-US" sz="2000" b="0" i="0" u="none" strike="noStrike" dirty="0">
                          <a:solidFill>
                            <a:srgbClr val="000000"/>
                          </a:solidFill>
                          <a:effectLst/>
                          <a:latin typeface="+mn-lt"/>
                        </a:rPr>
                        <a:t>2</a:t>
                      </a: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4020958512"/>
                  </a:ext>
                </a:extLst>
              </a:tr>
            </a:tbl>
          </a:graphicData>
        </a:graphic>
      </p:graphicFrame>
    </p:spTree>
    <p:extLst>
      <p:ext uri="{BB962C8B-B14F-4D97-AF65-F5344CB8AC3E}">
        <p14:creationId xmlns:p14="http://schemas.microsoft.com/office/powerpoint/2010/main" val="620812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 matrix </a:t>
            </a:r>
          </a:p>
        </p:txBody>
      </p:sp>
      <p:graphicFrame>
        <p:nvGraphicFramePr>
          <p:cNvPr id="4" name="Content Placeholder 3"/>
          <p:cNvGraphicFramePr>
            <a:graphicFrameLocks noGrp="1"/>
          </p:cNvGraphicFramePr>
          <p:nvPr>
            <p:ph idx="1"/>
          </p:nvPr>
        </p:nvGraphicFramePr>
        <p:xfrm>
          <a:off x="601247" y="1979405"/>
          <a:ext cx="10635163" cy="2707344"/>
        </p:xfrm>
        <a:graphic>
          <a:graphicData uri="http://schemas.openxmlformats.org/drawingml/2006/table">
            <a:tbl>
              <a:tblPr>
                <a:tableStyleId>{5C22544A-7EE6-4342-B048-85BDC9FD1C3A}</a:tableStyleId>
              </a:tblPr>
              <a:tblGrid>
                <a:gridCol w="1063516">
                  <a:extLst>
                    <a:ext uri="{9D8B030D-6E8A-4147-A177-3AD203B41FA5}">
                      <a16:colId xmlns:a16="http://schemas.microsoft.com/office/drawing/2014/main" val="1207022734"/>
                    </a:ext>
                  </a:extLst>
                </a:gridCol>
                <a:gridCol w="1152578">
                  <a:extLst>
                    <a:ext uri="{9D8B030D-6E8A-4147-A177-3AD203B41FA5}">
                      <a16:colId xmlns:a16="http://schemas.microsoft.com/office/drawing/2014/main" val="2631755150"/>
                    </a:ext>
                  </a:extLst>
                </a:gridCol>
                <a:gridCol w="1136821">
                  <a:extLst>
                    <a:ext uri="{9D8B030D-6E8A-4147-A177-3AD203B41FA5}">
                      <a16:colId xmlns:a16="http://schemas.microsoft.com/office/drawing/2014/main" val="2011968447"/>
                    </a:ext>
                  </a:extLst>
                </a:gridCol>
                <a:gridCol w="1037968">
                  <a:extLst>
                    <a:ext uri="{9D8B030D-6E8A-4147-A177-3AD203B41FA5}">
                      <a16:colId xmlns:a16="http://schemas.microsoft.com/office/drawing/2014/main" val="2664984120"/>
                    </a:ext>
                  </a:extLst>
                </a:gridCol>
                <a:gridCol w="609600">
                  <a:extLst>
                    <a:ext uri="{9D8B030D-6E8A-4147-A177-3AD203B41FA5}">
                      <a16:colId xmlns:a16="http://schemas.microsoft.com/office/drawing/2014/main" val="1376057037"/>
                    </a:ext>
                  </a:extLst>
                </a:gridCol>
                <a:gridCol w="667265">
                  <a:extLst>
                    <a:ext uri="{9D8B030D-6E8A-4147-A177-3AD203B41FA5}">
                      <a16:colId xmlns:a16="http://schemas.microsoft.com/office/drawing/2014/main" val="3054227557"/>
                    </a:ext>
                  </a:extLst>
                </a:gridCol>
                <a:gridCol w="1276864">
                  <a:extLst>
                    <a:ext uri="{9D8B030D-6E8A-4147-A177-3AD203B41FA5}">
                      <a16:colId xmlns:a16="http://schemas.microsoft.com/office/drawing/2014/main" val="2683740858"/>
                    </a:ext>
                  </a:extLst>
                </a:gridCol>
                <a:gridCol w="1219200">
                  <a:extLst>
                    <a:ext uri="{9D8B030D-6E8A-4147-A177-3AD203B41FA5}">
                      <a16:colId xmlns:a16="http://schemas.microsoft.com/office/drawing/2014/main" val="2163449139"/>
                    </a:ext>
                  </a:extLst>
                </a:gridCol>
                <a:gridCol w="1664044">
                  <a:extLst>
                    <a:ext uri="{9D8B030D-6E8A-4147-A177-3AD203B41FA5}">
                      <a16:colId xmlns:a16="http://schemas.microsoft.com/office/drawing/2014/main" val="3897629444"/>
                    </a:ext>
                  </a:extLst>
                </a:gridCol>
                <a:gridCol w="807307">
                  <a:extLst>
                    <a:ext uri="{9D8B030D-6E8A-4147-A177-3AD203B41FA5}">
                      <a16:colId xmlns:a16="http://schemas.microsoft.com/office/drawing/2014/main" val="3401433547"/>
                    </a:ext>
                  </a:extLst>
                </a:gridCol>
              </a:tblGrid>
              <a:tr h="676836">
                <a:tc>
                  <a:txBody>
                    <a:bodyPr/>
                    <a:lstStyle/>
                    <a:p>
                      <a:pPr algn="l" fontAlgn="b"/>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2000" b="0" i="0" dirty="0">
                          <a:solidFill>
                            <a:srgbClr val="333333"/>
                          </a:solidFill>
                          <a:effectLst/>
                          <a:latin typeface="+mn-lt"/>
                        </a:rPr>
                        <a:t>Postwar</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dirty="0">
                          <a:solidFill>
                            <a:srgbClr val="333333"/>
                          </a:solidFill>
                          <a:effectLst/>
                          <a:latin typeface="+mn-lt"/>
                        </a:rPr>
                        <a:t>imports, </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dirty="0">
                          <a:solidFill>
                            <a:srgbClr val="333333"/>
                          </a:solidFill>
                          <a:effectLst/>
                          <a:latin typeface="+mn-lt"/>
                        </a:rPr>
                        <a:t>while</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of</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a</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somewhat</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Different</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Composition</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than</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4045092549"/>
                  </a:ext>
                </a:extLst>
              </a:tr>
              <a:tr h="676836">
                <a:tc>
                  <a:txBody>
                    <a:bodyPr/>
                    <a:lstStyle/>
                    <a:p>
                      <a:pPr algn="l" fontAlgn="b"/>
                      <a:r>
                        <a:rPr lang="en-US" sz="2800" u="none" strike="noStrike">
                          <a:effectLst/>
                        </a:rPr>
                        <a:t>r1</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3</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2</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414416574"/>
                  </a:ext>
                </a:extLst>
              </a:tr>
              <a:tr h="676836">
                <a:tc>
                  <a:txBody>
                    <a:bodyPr/>
                    <a:lstStyle/>
                    <a:p>
                      <a:pPr algn="l" fontAlgn="b"/>
                      <a:r>
                        <a:rPr lang="en-US" sz="2800" u="none" strike="noStrike">
                          <a:effectLst/>
                        </a:rPr>
                        <a:t>r2</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101662462"/>
                  </a:ext>
                </a:extLst>
              </a:tr>
              <a:tr h="676836">
                <a:tc>
                  <a:txBody>
                    <a:bodyPr/>
                    <a:lstStyle/>
                    <a:p>
                      <a:pPr algn="l" fontAlgn="b"/>
                      <a:r>
                        <a:rPr lang="en-US" sz="2800" u="none" strike="noStrike">
                          <a:effectLst/>
                        </a:rPr>
                        <a:t>r3</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001473201"/>
                  </a:ext>
                </a:extLst>
              </a:tr>
            </a:tbl>
          </a:graphicData>
        </a:graphic>
      </p:graphicFrame>
    </p:spTree>
    <p:extLst>
      <p:ext uri="{BB962C8B-B14F-4D97-AF65-F5344CB8AC3E}">
        <p14:creationId xmlns:p14="http://schemas.microsoft.com/office/powerpoint/2010/main" val="3842897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Storing text data – sparse matrices</a:t>
            </a:r>
          </a:p>
        </p:txBody>
      </p:sp>
      <p:sp>
        <p:nvSpPr>
          <p:cNvPr id="3" name="Content Placeholder 2"/>
          <p:cNvSpPr>
            <a:spLocks noGrp="1"/>
          </p:cNvSpPr>
          <p:nvPr>
            <p:ph idx="1"/>
          </p:nvPr>
        </p:nvSpPr>
        <p:spPr/>
        <p:txBody>
          <a:bodyPr/>
          <a:lstStyle/>
          <a:p>
            <a:r>
              <a:rPr lang="en-US" dirty="0"/>
              <a:t>Most elements of document-feature matrix are 0</a:t>
            </a:r>
          </a:p>
          <a:p>
            <a:r>
              <a:rPr lang="en-US" dirty="0"/>
              <a:t>Words do not appear in all documents</a:t>
            </a:r>
          </a:p>
          <a:p>
            <a:r>
              <a:rPr lang="en-US" dirty="0"/>
              <a:t>Inefficient (i.e., matrix too big)</a:t>
            </a:r>
          </a:p>
        </p:txBody>
      </p:sp>
    </p:spTree>
    <p:extLst>
      <p:ext uri="{BB962C8B-B14F-4D97-AF65-F5344CB8AC3E}">
        <p14:creationId xmlns:p14="http://schemas.microsoft.com/office/powerpoint/2010/main" val="798866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Sparse matrix</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80061215"/>
              </p:ext>
            </p:extLst>
          </p:nvPr>
        </p:nvGraphicFramePr>
        <p:xfrm>
          <a:off x="646112" y="1846263"/>
          <a:ext cx="10975911" cy="1483360"/>
        </p:xfrm>
        <a:graphic>
          <a:graphicData uri="http://schemas.openxmlformats.org/drawingml/2006/table">
            <a:tbl>
              <a:tblPr firstRow="1" bandRow="1">
                <a:tableStyleId>{5C22544A-7EE6-4342-B048-85BDC9FD1C3A}</a:tableStyleId>
              </a:tblPr>
              <a:tblGrid>
                <a:gridCol w="1097591">
                  <a:extLst>
                    <a:ext uri="{9D8B030D-6E8A-4147-A177-3AD203B41FA5}">
                      <a16:colId xmlns:a16="http://schemas.microsoft.com/office/drawing/2014/main" val="20000"/>
                    </a:ext>
                  </a:extLst>
                </a:gridCol>
                <a:gridCol w="1097591">
                  <a:extLst>
                    <a:ext uri="{9D8B030D-6E8A-4147-A177-3AD203B41FA5}">
                      <a16:colId xmlns:a16="http://schemas.microsoft.com/office/drawing/2014/main" val="20001"/>
                    </a:ext>
                  </a:extLst>
                </a:gridCol>
                <a:gridCol w="1097591">
                  <a:extLst>
                    <a:ext uri="{9D8B030D-6E8A-4147-A177-3AD203B41FA5}">
                      <a16:colId xmlns:a16="http://schemas.microsoft.com/office/drawing/2014/main" val="20002"/>
                    </a:ext>
                  </a:extLst>
                </a:gridCol>
                <a:gridCol w="1097591">
                  <a:extLst>
                    <a:ext uri="{9D8B030D-6E8A-4147-A177-3AD203B41FA5}">
                      <a16:colId xmlns:a16="http://schemas.microsoft.com/office/drawing/2014/main" val="20003"/>
                    </a:ext>
                  </a:extLst>
                </a:gridCol>
                <a:gridCol w="1097591">
                  <a:extLst>
                    <a:ext uri="{9D8B030D-6E8A-4147-A177-3AD203B41FA5}">
                      <a16:colId xmlns:a16="http://schemas.microsoft.com/office/drawing/2014/main" val="20004"/>
                    </a:ext>
                  </a:extLst>
                </a:gridCol>
                <a:gridCol w="1097591">
                  <a:extLst>
                    <a:ext uri="{9D8B030D-6E8A-4147-A177-3AD203B41FA5}">
                      <a16:colId xmlns:a16="http://schemas.microsoft.com/office/drawing/2014/main" val="20005"/>
                    </a:ext>
                  </a:extLst>
                </a:gridCol>
                <a:gridCol w="703309">
                  <a:extLst>
                    <a:ext uri="{9D8B030D-6E8A-4147-A177-3AD203B41FA5}">
                      <a16:colId xmlns:a16="http://schemas.microsoft.com/office/drawing/2014/main" val="20006"/>
                    </a:ext>
                  </a:extLst>
                </a:gridCol>
                <a:gridCol w="871960">
                  <a:extLst>
                    <a:ext uri="{9D8B030D-6E8A-4147-A177-3AD203B41FA5}">
                      <a16:colId xmlns:a16="http://schemas.microsoft.com/office/drawing/2014/main" val="20007"/>
                    </a:ext>
                  </a:extLst>
                </a:gridCol>
                <a:gridCol w="1717505">
                  <a:extLst>
                    <a:ext uri="{9D8B030D-6E8A-4147-A177-3AD203B41FA5}">
                      <a16:colId xmlns:a16="http://schemas.microsoft.com/office/drawing/2014/main" val="20008"/>
                    </a:ext>
                  </a:extLst>
                </a:gridCol>
                <a:gridCol w="1097591">
                  <a:extLst>
                    <a:ext uri="{9D8B030D-6E8A-4147-A177-3AD203B41FA5}">
                      <a16:colId xmlns:a16="http://schemas.microsoft.com/office/drawing/2014/main" val="20009"/>
                    </a:ext>
                  </a:extLst>
                </a:gridCol>
              </a:tblGrid>
              <a:tr h="370840">
                <a:tc>
                  <a:txBody>
                    <a:bodyPr/>
                    <a:lstStyle/>
                    <a:p>
                      <a:endParaRPr lang="en-US" dirty="0"/>
                    </a:p>
                  </a:txBody>
                  <a:tcPr marL="87464" marR="87464"/>
                </a:tc>
                <a:tc>
                  <a:txBody>
                    <a:bodyPr/>
                    <a:lstStyle/>
                    <a:p>
                      <a:r>
                        <a:rPr lang="en-US" dirty="0"/>
                        <a:t>postwar</a:t>
                      </a:r>
                    </a:p>
                  </a:txBody>
                  <a:tcPr marL="87464" marR="87464"/>
                </a:tc>
                <a:tc>
                  <a:txBody>
                    <a:bodyPr/>
                    <a:lstStyle/>
                    <a:p>
                      <a:r>
                        <a:rPr lang="en-US" dirty="0"/>
                        <a:t>imports</a:t>
                      </a:r>
                    </a:p>
                  </a:txBody>
                  <a:tcPr marL="87464" marR="87464"/>
                </a:tc>
                <a:tc>
                  <a:txBody>
                    <a:bodyPr/>
                    <a:lstStyle/>
                    <a:p>
                      <a:r>
                        <a:rPr lang="en-US" dirty="0"/>
                        <a:t>while</a:t>
                      </a:r>
                    </a:p>
                  </a:txBody>
                  <a:tcPr marL="87464" marR="87464"/>
                </a:tc>
                <a:tc>
                  <a:txBody>
                    <a:bodyPr/>
                    <a:lstStyle/>
                    <a:p>
                      <a:r>
                        <a:rPr lang="en-US" dirty="0"/>
                        <a:t>of</a:t>
                      </a:r>
                    </a:p>
                  </a:txBody>
                  <a:tcPr marL="87464" marR="87464"/>
                </a:tc>
                <a:tc>
                  <a:txBody>
                    <a:bodyPr/>
                    <a:lstStyle/>
                    <a:p>
                      <a:r>
                        <a:rPr lang="en-US" dirty="0"/>
                        <a:t>of</a:t>
                      </a:r>
                    </a:p>
                  </a:txBody>
                  <a:tcPr marL="87464" marR="87464"/>
                </a:tc>
                <a:tc>
                  <a:txBody>
                    <a:bodyPr/>
                    <a:lstStyle/>
                    <a:p>
                      <a:r>
                        <a:rPr lang="en-US" dirty="0"/>
                        <a:t>a</a:t>
                      </a:r>
                    </a:p>
                  </a:txBody>
                  <a:tcPr marL="87464" marR="87464"/>
                </a:tc>
                <a:tc>
                  <a:txBody>
                    <a:bodyPr/>
                    <a:lstStyle/>
                    <a:p>
                      <a:r>
                        <a:rPr lang="en-US" dirty="0"/>
                        <a:t>a</a:t>
                      </a:r>
                    </a:p>
                  </a:txBody>
                  <a:tcPr marL="87464" marR="87464"/>
                </a:tc>
                <a:tc>
                  <a:txBody>
                    <a:bodyPr/>
                    <a:lstStyle/>
                    <a:p>
                      <a:r>
                        <a:rPr lang="en-US" dirty="0"/>
                        <a:t>Somewhat</a:t>
                      </a:r>
                    </a:p>
                  </a:txBody>
                  <a:tcPr marL="87464" marR="87464"/>
                </a:tc>
                <a:tc>
                  <a:txBody>
                    <a:bodyPr/>
                    <a:lstStyle/>
                    <a:p>
                      <a:r>
                        <a:rPr lang="en-US" dirty="0"/>
                        <a:t>different</a:t>
                      </a:r>
                    </a:p>
                  </a:txBody>
                  <a:tcPr marL="87464" marR="87464"/>
                </a:tc>
                <a:extLst>
                  <a:ext uri="{0D108BD9-81ED-4DB2-BD59-A6C34878D82A}">
                    <a16:rowId xmlns:a16="http://schemas.microsoft.com/office/drawing/2014/main" val="10000"/>
                  </a:ext>
                </a:extLst>
              </a:tr>
              <a:tr h="370840">
                <a:tc>
                  <a:txBody>
                    <a:bodyPr/>
                    <a:lstStyle/>
                    <a:p>
                      <a:r>
                        <a:rPr lang="en-US" dirty="0"/>
                        <a:t>Row</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GB"/>
                        <a:t>3</a:t>
                      </a:r>
                      <a:endParaRPr lang="en-US" dirty="0"/>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1</a:t>
                      </a:r>
                    </a:p>
                  </a:txBody>
                  <a:tcPr marL="87464" marR="87464"/>
                </a:tc>
                <a:tc>
                  <a:txBody>
                    <a:bodyPr/>
                    <a:lstStyle/>
                    <a:p>
                      <a:r>
                        <a:rPr lang="en-US" dirty="0"/>
                        <a:t>1</a:t>
                      </a:r>
                    </a:p>
                  </a:txBody>
                  <a:tcPr marL="87464" marR="87464"/>
                </a:tc>
                <a:extLst>
                  <a:ext uri="{0D108BD9-81ED-4DB2-BD59-A6C34878D82A}">
                    <a16:rowId xmlns:a16="http://schemas.microsoft.com/office/drawing/2014/main" val="10001"/>
                  </a:ext>
                </a:extLst>
              </a:tr>
              <a:tr h="370840">
                <a:tc>
                  <a:txBody>
                    <a:bodyPr/>
                    <a:lstStyle/>
                    <a:p>
                      <a:r>
                        <a:rPr lang="en-US" dirty="0"/>
                        <a:t>Word</a:t>
                      </a:r>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3</a:t>
                      </a:r>
                    </a:p>
                  </a:txBody>
                  <a:tcPr marL="87464" marR="87464"/>
                </a:tc>
                <a:tc>
                  <a:txBody>
                    <a:bodyPr/>
                    <a:lstStyle/>
                    <a:p>
                      <a:r>
                        <a:rPr lang="en-US" dirty="0"/>
                        <a:t>4</a:t>
                      </a:r>
                    </a:p>
                  </a:txBody>
                  <a:tcPr marL="87464" marR="87464"/>
                </a:tc>
                <a:tc>
                  <a:txBody>
                    <a:bodyPr/>
                    <a:lstStyle/>
                    <a:p>
                      <a:r>
                        <a:rPr lang="en-US" dirty="0"/>
                        <a:t>4</a:t>
                      </a:r>
                    </a:p>
                  </a:txBody>
                  <a:tcPr marL="87464" marR="87464"/>
                </a:tc>
                <a:tc>
                  <a:txBody>
                    <a:bodyPr/>
                    <a:lstStyle/>
                    <a:p>
                      <a:r>
                        <a:rPr lang="en-US" dirty="0"/>
                        <a:t>5</a:t>
                      </a:r>
                    </a:p>
                  </a:txBody>
                  <a:tcPr marL="87464" marR="87464"/>
                </a:tc>
                <a:tc>
                  <a:txBody>
                    <a:bodyPr/>
                    <a:lstStyle/>
                    <a:p>
                      <a:r>
                        <a:rPr lang="en-US" dirty="0"/>
                        <a:t>5</a:t>
                      </a:r>
                    </a:p>
                  </a:txBody>
                  <a:tcPr marL="87464" marR="87464"/>
                </a:tc>
                <a:tc>
                  <a:txBody>
                    <a:bodyPr/>
                    <a:lstStyle/>
                    <a:p>
                      <a:r>
                        <a:rPr lang="en-US" dirty="0"/>
                        <a:t>6</a:t>
                      </a:r>
                    </a:p>
                  </a:txBody>
                  <a:tcPr marL="87464" marR="87464"/>
                </a:tc>
                <a:tc>
                  <a:txBody>
                    <a:bodyPr/>
                    <a:lstStyle/>
                    <a:p>
                      <a:r>
                        <a:rPr lang="en-US" dirty="0"/>
                        <a:t>7</a:t>
                      </a:r>
                    </a:p>
                  </a:txBody>
                  <a:tcPr marL="87464" marR="87464"/>
                </a:tc>
                <a:extLst>
                  <a:ext uri="{0D108BD9-81ED-4DB2-BD59-A6C34878D82A}">
                    <a16:rowId xmlns:a16="http://schemas.microsoft.com/office/drawing/2014/main" val="10002"/>
                  </a:ext>
                </a:extLst>
              </a:tr>
              <a:tr h="370840">
                <a:tc>
                  <a:txBody>
                    <a:bodyPr/>
                    <a:lstStyle/>
                    <a:p>
                      <a:r>
                        <a:rPr lang="en-US" dirty="0" err="1"/>
                        <a:t>Freq</a:t>
                      </a:r>
                      <a:endParaRPr lang="en-US" dirty="0"/>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1</a:t>
                      </a:r>
                    </a:p>
                  </a:txBody>
                  <a:tcPr marL="87464" marR="87464"/>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3365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945B-2F8A-ED5F-ECA4-8DE2D7ADCFDE}"/>
              </a:ext>
            </a:extLst>
          </p:cNvPr>
          <p:cNvSpPr>
            <a:spLocks noGrp="1"/>
          </p:cNvSpPr>
          <p:nvPr>
            <p:ph type="title"/>
          </p:nvPr>
        </p:nvSpPr>
        <p:spPr/>
        <p:txBody>
          <a:bodyPr/>
          <a:lstStyle/>
          <a:p>
            <a:r>
              <a:rPr lang="en-US" dirty="0"/>
              <a:t>Vectors</a:t>
            </a:r>
          </a:p>
        </p:txBody>
      </p:sp>
      <p:sp>
        <p:nvSpPr>
          <p:cNvPr id="3" name="Content Placeholder 2">
            <a:extLst>
              <a:ext uri="{FF2B5EF4-FFF2-40B4-BE49-F238E27FC236}">
                <a16:creationId xmlns:a16="http://schemas.microsoft.com/office/drawing/2014/main" id="{D561FCA0-6580-6E26-C3A5-39DF2D8324A7}"/>
              </a:ext>
            </a:extLst>
          </p:cNvPr>
          <p:cNvSpPr>
            <a:spLocks noGrp="1"/>
          </p:cNvSpPr>
          <p:nvPr>
            <p:ph idx="1"/>
          </p:nvPr>
        </p:nvSpPr>
        <p:spPr/>
        <p:txBody>
          <a:bodyPr/>
          <a:lstStyle/>
          <a:p>
            <a:r>
              <a:rPr lang="en-US" dirty="0"/>
              <a:t>3 different vectors rather than dense matrix</a:t>
            </a:r>
          </a:p>
          <a:p>
            <a:r>
              <a:rPr lang="en-US" dirty="0"/>
              <a:t>1) frequencies of token in each document </a:t>
            </a:r>
          </a:p>
          <a:p>
            <a:pPr lvl="1"/>
            <a:r>
              <a:rPr lang="en-US" dirty="0"/>
              <a:t>One element for every token-document</a:t>
            </a:r>
          </a:p>
          <a:p>
            <a:r>
              <a:rPr lang="en-US" dirty="0"/>
              <a:t>2) feature index for each token in 1)</a:t>
            </a:r>
          </a:p>
          <a:p>
            <a:pPr lvl="1"/>
            <a:r>
              <a:rPr lang="en-US" dirty="0"/>
              <a:t>Lengths of 1) and 2) same</a:t>
            </a:r>
          </a:p>
          <a:p>
            <a:r>
              <a:rPr lang="en-US" dirty="0"/>
              <a:t>3) frequency index where document starts</a:t>
            </a:r>
          </a:p>
          <a:p>
            <a:pPr lvl="1"/>
            <a:r>
              <a:rPr lang="en-US" dirty="0"/>
              <a:t>Elements = number of documents + 1</a:t>
            </a:r>
          </a:p>
          <a:p>
            <a:r>
              <a:rPr lang="en-US" dirty="0"/>
              <a:t>Also be a vector storing token names</a:t>
            </a:r>
          </a:p>
        </p:txBody>
      </p:sp>
    </p:spTree>
    <p:extLst>
      <p:ext uri="{BB962C8B-B14F-4D97-AF65-F5344CB8AC3E}">
        <p14:creationId xmlns:p14="http://schemas.microsoft.com/office/powerpoint/2010/main" val="4142886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E84FF-CC21-C6AE-2ABE-7A5A953989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074B02-EA8C-C677-0F82-5ABCCDB5866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45555E4-C276-183E-D9D8-F30B911724EE}"/>
              </a:ext>
            </a:extLst>
          </p:cNvPr>
          <p:cNvPicPr>
            <a:picLocks noChangeAspect="1"/>
          </p:cNvPicPr>
          <p:nvPr/>
        </p:nvPicPr>
        <p:blipFill>
          <a:blip r:embed="rId2"/>
          <a:stretch>
            <a:fillRect/>
          </a:stretch>
        </p:blipFill>
        <p:spPr>
          <a:xfrm>
            <a:off x="1732306" y="1533260"/>
            <a:ext cx="7297803" cy="4715139"/>
          </a:xfrm>
          <a:prstGeom prst="rect">
            <a:avLst/>
          </a:prstGeom>
        </p:spPr>
      </p:pic>
    </p:spTree>
    <p:extLst>
      <p:ext uri="{BB962C8B-B14F-4D97-AF65-F5344CB8AC3E}">
        <p14:creationId xmlns:p14="http://schemas.microsoft.com/office/powerpoint/2010/main" val="12998750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7377</TotalTime>
  <Words>2320</Words>
  <Application>Microsoft Office PowerPoint</Application>
  <PresentationFormat>Widescreen</PresentationFormat>
  <Paragraphs>352</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Calibri</vt:lpstr>
      <vt:lpstr>Century Gothic</vt:lpstr>
      <vt:lpstr>Consolas</vt:lpstr>
      <vt:lpstr>Courier New</vt:lpstr>
      <vt:lpstr>Merriweather</vt:lpstr>
      <vt:lpstr>Wingdings 3</vt:lpstr>
      <vt:lpstr>Ion</vt:lpstr>
      <vt:lpstr>Strings and text data</vt:lpstr>
      <vt:lpstr>Strings</vt:lpstr>
      <vt:lpstr>Cleaning Data</vt:lpstr>
      <vt:lpstr>Characters</vt:lpstr>
      <vt:lpstr>Whitespace</vt:lpstr>
      <vt:lpstr>Matching text</vt:lpstr>
      <vt:lpstr>Regular expressions</vt:lpstr>
      <vt:lpstr>Regex options</vt:lpstr>
      <vt:lpstr>Syntax</vt:lpstr>
      <vt:lpstr>Regex groups</vt:lpstr>
      <vt:lpstr>Regex operators</vt:lpstr>
      <vt:lpstr>Example</vt:lpstr>
      <vt:lpstr>Regular expression warnings</vt:lpstr>
      <vt:lpstr>Other warnings</vt:lpstr>
      <vt:lpstr>Text data</vt:lpstr>
      <vt:lpstr>Numeric data structures</vt:lpstr>
      <vt:lpstr>Human Coding: Central bank independence</vt:lpstr>
      <vt:lpstr>Central bank independence</vt:lpstr>
      <vt:lpstr>Traditional methods</vt:lpstr>
      <vt:lpstr>Bag of Words</vt:lpstr>
      <vt:lpstr>Example</vt:lpstr>
      <vt:lpstr>Why frequencies?</vt:lpstr>
      <vt:lpstr>Zipf’s Law</vt:lpstr>
      <vt:lpstr>Bag of words decisions</vt:lpstr>
      <vt:lpstr>But also numeric data choices</vt:lpstr>
      <vt:lpstr>Trade data</vt:lpstr>
      <vt:lpstr>Bag of words steps</vt:lpstr>
      <vt:lpstr>FRUS 1945 vol. 06 doc. 43</vt:lpstr>
      <vt:lpstr>Frequencies</vt:lpstr>
      <vt:lpstr>Bag of words matrix </vt:lpstr>
      <vt:lpstr>Storing text data – sparse matrices</vt:lpstr>
      <vt:lpstr>Sparse matrix</vt:lpstr>
      <vt:lpstr>Vectors</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Hicks</dc:creator>
  <cp:lastModifiedBy>Raymond Hicks</cp:lastModifiedBy>
  <cp:revision>6</cp:revision>
  <dcterms:created xsi:type="dcterms:W3CDTF">2026-02-17T16:59:45Z</dcterms:created>
  <dcterms:modified xsi:type="dcterms:W3CDTF">2026-03-30T21:55:51Z</dcterms:modified>
</cp:coreProperties>
</file>