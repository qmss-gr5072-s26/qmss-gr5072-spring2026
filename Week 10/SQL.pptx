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3" r:id="rId3"/>
    <p:sldId id="289" r:id="rId4"/>
    <p:sldId id="305" r:id="rId5"/>
    <p:sldId id="290" r:id="rId6"/>
    <p:sldId id="298" r:id="rId7"/>
    <p:sldId id="291" r:id="rId8"/>
    <p:sldId id="299" r:id="rId9"/>
    <p:sldId id="303" r:id="rId10"/>
    <p:sldId id="304" r:id="rId11"/>
    <p:sldId id="301" r:id="rId12"/>
    <p:sldId id="302" r:id="rId13"/>
    <p:sldId id="264" r:id="rId14"/>
    <p:sldId id="295" r:id="rId15"/>
    <p:sldId id="294" r:id="rId16"/>
    <p:sldId id="296" r:id="rId17"/>
    <p:sldId id="293" r:id="rId18"/>
    <p:sldId id="265" r:id="rId19"/>
    <p:sldId id="306" r:id="rId20"/>
    <p:sldId id="282" r:id="rId21"/>
    <p:sldId id="283" r:id="rId22"/>
    <p:sldId id="268" r:id="rId23"/>
    <p:sldId id="284" r:id="rId24"/>
    <p:sldId id="28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08ADB-2807-44CF-8334-D602CD9220B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475EF-B8BC-4D67-A725-3A3B59398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2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475EF-B8BC-4D67-A725-3A3B59398F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85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pandas you manage those relationships yourself, which puts the burden on the analyst to keep things aligned.</a:t>
            </a:r>
          </a:p>
          <a:p>
            <a:r>
              <a:rPr lang="en-GB" dirty="0"/>
              <a:t>This is why understanding SQL is useful even if you work primarily in Python or 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475EF-B8BC-4D67-A725-3A3B59398F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22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O notation – how an algorithms run time changes as input increases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475EF-B8BC-4D67-A725-3A3B59398F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9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0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7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6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6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3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9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3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1360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45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0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18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4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7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EA6ACEC-1B2F-4CCB-A5DF-CB95D962346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F2ECD-8EA2-4522-AA12-873637034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85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B415-60EA-5559-FC42-B819A8B5D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52DF5-3B65-CD3A-D08F-5EC8F326D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xkcd: IMHO">
            <a:extLst>
              <a:ext uri="{FF2B5EF4-FFF2-40B4-BE49-F238E27FC236}">
                <a16:creationId xmlns:a16="http://schemas.microsoft.com/office/drawing/2014/main" id="{4D1E6343-8F7D-1FF1-1D5E-866D863FA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067" y="69484"/>
            <a:ext cx="5325670" cy="47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009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Query Language</a:t>
            </a:r>
          </a:p>
          <a:p>
            <a:r>
              <a:rPr lang="en-US" dirty="0"/>
              <a:t>Data stored tables within databases or schema</a:t>
            </a:r>
          </a:p>
          <a:p>
            <a:r>
              <a:rPr lang="en-US" dirty="0"/>
              <a:t>Tables have “primary key” as unique identifiers</a:t>
            </a:r>
          </a:p>
          <a:p>
            <a:r>
              <a:rPr lang="en-US" dirty="0"/>
              <a:t>Or indexes that act as unique identifiers</a:t>
            </a:r>
          </a:p>
          <a:p>
            <a:endParaRPr lang="en-US" dirty="0"/>
          </a:p>
          <a:p>
            <a:r>
              <a:rPr lang="en-US" dirty="0"/>
              <a:t>These values also allow quick lookup</a:t>
            </a:r>
          </a:p>
          <a:p>
            <a:pPr lvl="1"/>
            <a:r>
              <a:rPr lang="en-US" dirty="0"/>
              <a:t>Dictionaries in Python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85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67D6-BE53-E97A-1FB3-E588D2E6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1732"/>
          </a:xfrm>
        </p:spPr>
        <p:txBody>
          <a:bodyPr/>
          <a:lstStyle/>
          <a:p>
            <a:r>
              <a:rPr lang="en-US" dirty="0"/>
              <a:t>SQL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5770-24BE-2AC5-F026-090BB3DB8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Structured Query Language (SQL) </a:t>
            </a:r>
          </a:p>
          <a:p>
            <a:pPr lvl="1"/>
            <a:r>
              <a:rPr lang="en-GB" dirty="0"/>
              <a:t>Language for managing and querying data stored in relational databases</a:t>
            </a:r>
          </a:p>
          <a:p>
            <a:pPr lvl="1"/>
            <a:r>
              <a:rPr lang="en-GB" dirty="0"/>
              <a:t>Same core syntax works across many different implementations: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SQLite</a:t>
            </a:r>
            <a:r>
              <a:rPr lang="en-GB" dirty="0"/>
              <a:t> — serverless and local, no installation required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Can be used directly from Python and 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MySQL/MariaDB</a:t>
            </a:r>
            <a:r>
              <a:rPr lang="en-GB" dirty="0"/>
              <a:t> — server-based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PostgreSQL</a:t>
            </a:r>
            <a:r>
              <a:rPr lang="en-GB" dirty="0"/>
              <a:t> — feature-rich, increasingly popular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Microsoft Access</a:t>
            </a:r>
            <a:r>
              <a:rPr lang="en-GB" dirty="0"/>
              <a:t> — legacy but still common in some areas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Cloud variants</a:t>
            </a:r>
            <a:r>
              <a:rPr lang="en-GB" dirty="0"/>
              <a:t> (</a:t>
            </a:r>
            <a:r>
              <a:rPr lang="en-GB" dirty="0" err="1"/>
              <a:t>BigQuery</a:t>
            </a:r>
            <a:r>
              <a:rPr lang="en-GB" dirty="0"/>
              <a:t>, Amazon Redshift) — where much production SQL is heading</a:t>
            </a:r>
          </a:p>
          <a:p>
            <a:r>
              <a:rPr lang="en-GB" dirty="0"/>
              <a:t>Language transfers across all of these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3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3CD9-3580-EAA8-9220-E5602667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E9B6-D85C-6043-A386-D7D24EA8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Organized by row and columns (like </a:t>
            </a:r>
            <a:r>
              <a:rPr lang="en-US" dirty="0" err="1"/>
              <a:t>dataframes</a:t>
            </a:r>
            <a:r>
              <a:rPr lang="en-US" dirty="0"/>
              <a:t>)</a:t>
            </a:r>
          </a:p>
          <a:p>
            <a:r>
              <a:rPr lang="en-US" dirty="0"/>
              <a:t>Connected via keys </a:t>
            </a:r>
          </a:p>
          <a:p>
            <a:r>
              <a:rPr lang="en-US" dirty="0" err="1"/>
              <a:t>Queryable</a:t>
            </a:r>
            <a:r>
              <a:rPr lang="en-US" dirty="0"/>
              <a:t> as a unit </a:t>
            </a:r>
          </a:p>
        </p:txBody>
      </p:sp>
    </p:spTree>
    <p:extLst>
      <p:ext uri="{BB962C8B-B14F-4D97-AF65-F5344CB8AC3E}">
        <p14:creationId xmlns:p14="http://schemas.microsoft.com/office/powerpoint/2010/main" val="147570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7F58-D8DA-7E29-2A6A-B10F2CC0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tables and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FCA5-1111-2034-5BE9-C6EA87664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SQL and pandas organize data in fundamentally similar ways: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 SQL </a:t>
            </a:r>
            <a:r>
              <a:rPr lang="en-GB" b="1" dirty="0"/>
              <a:t>table</a:t>
            </a:r>
            <a:r>
              <a:rPr lang="en-GB" dirty="0"/>
              <a:t> ≈ a pandas </a:t>
            </a:r>
            <a:r>
              <a:rPr lang="en-GB" b="1" dirty="0" err="1"/>
              <a:t>DataFrame</a:t>
            </a:r>
            <a:r>
              <a:rPr lang="en-GB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rows are observations, columns are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 SQL </a:t>
            </a:r>
            <a:r>
              <a:rPr lang="en-GB" b="1" dirty="0"/>
              <a:t>database</a:t>
            </a:r>
            <a:r>
              <a:rPr lang="en-GB" dirty="0"/>
              <a:t> ≈ a </a:t>
            </a:r>
            <a:r>
              <a:rPr lang="en-GB" b="1" dirty="0"/>
              <a:t>collection of related </a:t>
            </a:r>
            <a:r>
              <a:rPr lang="en-GB" b="1" dirty="0" err="1"/>
              <a:t>DataFrames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Both support filtering, aggregation, and joining</a:t>
            </a:r>
          </a:p>
          <a:p>
            <a:r>
              <a:rPr lang="en-GB" dirty="0"/>
              <a:t>Difference: SQL enforces relationships between tables explicitly — the database itself knows how tables connect. </a:t>
            </a:r>
          </a:p>
          <a:p>
            <a:r>
              <a:rPr lang="en-GB" dirty="0"/>
              <a:t>Relational way of thinking about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736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E446-29B3-8389-8350-8BCB732F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625B7-964C-3525-1254-1C224D12A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uniquely identifies each row in a table. </a:t>
            </a:r>
          </a:p>
          <a:p>
            <a:r>
              <a:rPr lang="en-GB" dirty="0"/>
              <a:t>Keys can be: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Natural</a:t>
            </a:r>
            <a:r>
              <a:rPr lang="en-GB" dirty="0"/>
              <a:t> — something meaningful that already exists in the data (country code, ISBN)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Surrogate</a:t>
            </a:r>
            <a:r>
              <a:rPr lang="en-GB" dirty="0"/>
              <a:t> — an arbitrary ID assigned purely for database purposes (auto-increment integer)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Composite</a:t>
            </a:r>
            <a:r>
              <a:rPr lang="en-GB" dirty="0"/>
              <a:t> — two or more columns together form a unique identifier (country + year)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3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DC73-BC06-2A8C-666F-0F5D2D40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4196"/>
          </a:xfrm>
        </p:spPr>
        <p:txBody>
          <a:bodyPr/>
          <a:lstStyle/>
          <a:p>
            <a:r>
              <a:rPr lang="en-US" dirty="0"/>
              <a:t>Unique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CFA76-017C-5B01-789F-9A2C07A3B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90008"/>
            <a:ext cx="8946541" cy="4558392"/>
          </a:xfrm>
        </p:spPr>
        <p:txBody>
          <a:bodyPr>
            <a:normAutofit/>
          </a:bodyPr>
          <a:lstStyle/>
          <a:p>
            <a:r>
              <a:rPr lang="en-GB" dirty="0"/>
              <a:t>SQL: explicit about unique identifiers </a:t>
            </a:r>
          </a:p>
          <a:p>
            <a:pPr lvl="1"/>
            <a:r>
              <a:rPr lang="en-GB" dirty="0"/>
              <a:t>good practice regardless of the tool you are using.</a:t>
            </a:r>
          </a:p>
          <a:p>
            <a:r>
              <a:rPr lang="en-GB" dirty="0"/>
              <a:t>In SQL, </a:t>
            </a:r>
            <a:r>
              <a:rPr lang="en-GB" b="1" dirty="0"/>
              <a:t>primary key</a:t>
            </a:r>
            <a:r>
              <a:rPr lang="en-GB" dirty="0"/>
              <a:t> </a:t>
            </a:r>
          </a:p>
          <a:p>
            <a:r>
              <a:rPr lang="en-GB" dirty="0"/>
              <a:t>Choosing a unique identifier:  </a:t>
            </a:r>
            <a:r>
              <a:rPr lang="en-GB" i="1" dirty="0"/>
              <a:t>what does one row represent?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Row number not informative. </a:t>
            </a:r>
          </a:p>
          <a:p>
            <a:pPr lvl="1"/>
            <a:r>
              <a:rPr lang="en-GB" dirty="0"/>
              <a:t>C</a:t>
            </a:r>
            <a:r>
              <a:rPr lang="en-GB" b="1" dirty="0"/>
              <a:t>ountry-year</a:t>
            </a:r>
            <a:r>
              <a:rPr lang="en-GB" dirty="0"/>
              <a:t> identifier more informative</a:t>
            </a:r>
          </a:p>
          <a:p>
            <a:pPr lvl="2"/>
            <a:r>
              <a:rPr lang="en-GB" dirty="0"/>
              <a:t>tells you exactly what the observation is</a:t>
            </a:r>
          </a:p>
          <a:p>
            <a:pPr lvl="2"/>
            <a:r>
              <a:rPr lang="en-GB" dirty="0"/>
              <a:t>makes merges meaningful and reliable.</a:t>
            </a:r>
          </a:p>
          <a:p>
            <a:r>
              <a:rPr lang="en-GB" dirty="0"/>
              <a:t>Should adopt </a:t>
            </a:r>
            <a:r>
              <a:rPr lang="en-GB" dirty="0" err="1"/>
              <a:t>behavior</a:t>
            </a:r>
            <a:r>
              <a:rPr lang="en-GB" dirty="0"/>
              <a:t> in </a:t>
            </a:r>
            <a:r>
              <a:rPr lang="en-GB" dirty="0" err="1"/>
              <a:t>dataframes</a:t>
            </a:r>
            <a:r>
              <a:rPr lang="en-GB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87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F5A1-6B5E-88AA-115A-7B20CE25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FE1EA-9FCD-CF14-692D-C40A0823A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</a:t>
            </a:r>
            <a:r>
              <a:rPr lang="en-GB" b="1" dirty="0"/>
              <a:t>keys</a:t>
            </a:r>
            <a:r>
              <a:rPr lang="en-GB" dirty="0"/>
              <a:t>: data structure that allows fast lookup of rows by key value </a:t>
            </a:r>
          </a:p>
          <a:p>
            <a:pPr lvl="1"/>
            <a:r>
              <a:rPr lang="en-GB" dirty="0"/>
              <a:t>Rather than scanning every row, the database jumps directly to the right location.</a:t>
            </a:r>
          </a:p>
          <a:p>
            <a:pPr lvl="1"/>
            <a:r>
              <a:rPr lang="en-GB" dirty="0"/>
              <a:t>Works across millions of rows stored on disk</a:t>
            </a:r>
          </a:p>
          <a:p>
            <a:r>
              <a:rPr lang="en-GB" dirty="0"/>
              <a:t>Similar to Python dictionaries or JSON data</a:t>
            </a:r>
          </a:p>
          <a:p>
            <a:pPr lvl="1"/>
            <a:r>
              <a:rPr lang="en-GB" dirty="0"/>
              <a:t>Use key to retrieve a value in O(1) time</a:t>
            </a:r>
          </a:p>
          <a:p>
            <a:pPr lvl="1"/>
            <a:r>
              <a:rPr lang="en-GB" dirty="0"/>
              <a:t>By contrast, </a:t>
            </a:r>
            <a:r>
              <a:rPr lang="en-GB" dirty="0" err="1"/>
              <a:t>dataframes</a:t>
            </a:r>
            <a:r>
              <a:rPr lang="en-GB" dirty="0"/>
              <a:t> retrieve values in O(n) time where n is number of </a:t>
            </a:r>
            <a:r>
              <a:rPr lang="en-GB" dirty="0" err="1"/>
              <a:t>dataframe</a:t>
            </a:r>
            <a:r>
              <a:rPr lang="en-GB" dirty="0"/>
              <a:t> rows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89E5-04F6-3940-DDE1-F251CA98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CD1E-1C08-8CF2-32AE-E1A6DC4F0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Key–value structure: keys are unique identifiers and values are the data associated with them. Access values by key: </a:t>
            </a:r>
            <a:r>
              <a:rPr lang="en-US" dirty="0" err="1"/>
              <a:t>my_dict</a:t>
            </a:r>
            <a:r>
              <a:rPr lang="en-US" dirty="0"/>
              <a:t>['name'] returns the value for 'name’.</a:t>
            </a:r>
          </a:p>
          <a:p>
            <a:r>
              <a:rPr lang="en-US" dirty="0"/>
              <a:t>Flexible keys and values: </a:t>
            </a:r>
          </a:p>
          <a:p>
            <a:pPr lvl="1"/>
            <a:r>
              <a:rPr lang="en-US" dirty="0"/>
              <a:t>Keys must be immutable (e.g., strings, numbers, tuples)</a:t>
            </a:r>
          </a:p>
          <a:p>
            <a:pPr lvl="1"/>
            <a:r>
              <a:rPr lang="en-US" dirty="0"/>
              <a:t>Values can be anything</a:t>
            </a:r>
          </a:p>
          <a:p>
            <a:r>
              <a:rPr lang="en-US" dirty="0"/>
              <a:t>No fixed schema: </a:t>
            </a:r>
          </a:p>
          <a:p>
            <a:pPr lvl="1"/>
            <a:r>
              <a:rPr lang="en-US" dirty="0"/>
              <a:t>No predefined columns (unlike SQL tables)</a:t>
            </a:r>
          </a:p>
          <a:p>
            <a:pPr lvl="2"/>
            <a:r>
              <a:rPr lang="en-US" dirty="0"/>
              <a:t>different keys can exist across entries (similar to JSON).</a:t>
            </a:r>
          </a:p>
          <a:p>
            <a:r>
              <a:rPr lang="en-US" dirty="0"/>
              <a:t>Nested and hierarchical</a:t>
            </a:r>
          </a:p>
          <a:p>
            <a:pPr lvl="1"/>
            <a:r>
              <a:rPr lang="en-US" dirty="0"/>
              <a:t>Can contain other dictionaries (multilevel)</a:t>
            </a:r>
          </a:p>
        </p:txBody>
      </p:sp>
    </p:spTree>
    <p:extLst>
      <p:ext uri="{BB962C8B-B14F-4D97-AF65-F5344CB8AC3E}">
        <p14:creationId xmlns:p14="http://schemas.microsoft.com/office/powerpoint/2010/main" val="47402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B097-CC89-4026-F00C-C6F3ED15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EABF9-0C27-D700-39CA-BE9F9CA81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ython Dictionary | Python Dictionary Methods | update | len | get⋆">
            <a:extLst>
              <a:ext uri="{FF2B5EF4-FFF2-40B4-BE49-F238E27FC236}">
                <a16:creationId xmlns:a16="http://schemas.microsoft.com/office/drawing/2014/main" id="{5D32764C-C894-C985-6CD1-1FAA0B267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818" y="2164080"/>
            <a:ext cx="3781806" cy="378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AB9D35-F993-243B-917E-03AE617E1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72" y="2272427"/>
            <a:ext cx="3064008" cy="395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1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DBFB-C982-EB53-19D6-48F1E02F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v. relational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42D5-F2E4-196A-E9B9-6456CDD80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Json: hierarchical and nested structure</a:t>
            </a:r>
          </a:p>
          <a:p>
            <a:r>
              <a:rPr lang="en-GB" dirty="0"/>
              <a:t>SQL: relational with flat tables</a:t>
            </a:r>
          </a:p>
          <a:p>
            <a:pPr lvl="1"/>
            <a:r>
              <a:rPr lang="en-GB" dirty="0"/>
              <a:t>Flat- two dimensional (rows and columns)</a:t>
            </a:r>
          </a:p>
          <a:p>
            <a:r>
              <a:rPr lang="en-GB" dirty="0" err="1"/>
              <a:t>Dataframes</a:t>
            </a:r>
            <a:r>
              <a:rPr lang="en-GB" dirty="0"/>
              <a:t>: Flat structure and self-imposed relations</a:t>
            </a:r>
          </a:p>
          <a:p>
            <a:r>
              <a:rPr lang="en-GB" dirty="0"/>
              <a:t>JSON represents a different philosophy from SQL — hierarchical and nested rather than relational and flat. We will return to JSON in a later week, but it is worth noting here that the key-value idea connecting dictionaries, indexes, and JSON is one of the organizing concepts of modern data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6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E2F2-014B-5FDC-92EC-FD28E1A4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1B23C-E919-9B1A-320B-1512B323A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JSON Structure">
            <a:extLst>
              <a:ext uri="{FF2B5EF4-FFF2-40B4-BE49-F238E27FC236}">
                <a16:creationId xmlns:a16="http://schemas.microsoft.com/office/drawing/2014/main" id="{5EEDEB73-8A69-55DD-A707-BFE333F96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856" y="2350433"/>
            <a:ext cx="545782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54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Database 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346" y="1846263"/>
            <a:ext cx="5363633" cy="4022725"/>
          </a:xfrm>
        </p:spPr>
      </p:pic>
    </p:spTree>
    <p:extLst>
      <p:ext uri="{BB962C8B-B14F-4D97-AF65-F5344CB8AC3E}">
        <p14:creationId xmlns:p14="http://schemas.microsoft.com/office/powerpoint/2010/main" val="414407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FB31-2D67-B905-0BE7-BE95F0C8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tables?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7FD0C-1062-98B5-8C07-9CBBB4400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Issues with one big table:</a:t>
            </a:r>
          </a:p>
          <a:p>
            <a:pPr lvl="1"/>
            <a:r>
              <a:rPr lang="en-GB" dirty="0"/>
              <a:t>Size — the table becomes unwieldy very quickly</a:t>
            </a:r>
          </a:p>
          <a:p>
            <a:pPr lvl="1"/>
            <a:r>
              <a:rPr lang="en-GB" dirty="0"/>
              <a:t>Redundancy — if a country appears in 1,000 documents, its name, region, and population get repeated 1,000 times</a:t>
            </a:r>
          </a:p>
          <a:p>
            <a:pPr lvl="1"/>
            <a:r>
              <a:rPr lang="en-GB" dirty="0"/>
              <a:t>Update anomalies — if a country's capital changes, you have to update 1,000 rows instead of one</a:t>
            </a:r>
          </a:p>
          <a:p>
            <a:pPr lvl="1"/>
            <a:r>
              <a:rPr lang="en-GB" dirty="0"/>
              <a:t>Multiple rows per document — a document mentioning three countries needs three rows, which breaks the one-row-per-observation principle we stressed earlier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5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378E-920C-F05D-0D32-669C4CE1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C9B44-206D-9524-6DCA-228A20B06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Tables within database linked by </a:t>
            </a:r>
            <a:r>
              <a:rPr lang="en-US" sz="2000" b="1" dirty="0"/>
              <a:t>primary keys and composite keys</a:t>
            </a:r>
            <a:endParaRPr lang="en-US" b="1" dirty="0"/>
          </a:p>
          <a:p>
            <a:r>
              <a:rPr lang="en-US" dirty="0"/>
              <a:t>Documents:</a:t>
            </a:r>
          </a:p>
          <a:p>
            <a:pPr lvl="1"/>
            <a:r>
              <a:rPr lang="en-US" dirty="0"/>
              <a:t>id serves as primary key with other columns as indicators</a:t>
            </a:r>
          </a:p>
          <a:p>
            <a:r>
              <a:rPr lang="en-US" dirty="0"/>
              <a:t>Persons:</a:t>
            </a:r>
          </a:p>
          <a:p>
            <a:pPr lvl="1"/>
            <a:r>
              <a:rPr lang="en-US" dirty="0"/>
              <a:t>id serves as primary with other columns as indicators</a:t>
            </a:r>
          </a:p>
          <a:p>
            <a:r>
              <a:rPr lang="en-US" dirty="0" err="1"/>
              <a:t>Person_doc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Links records in documents and in persons</a:t>
            </a:r>
          </a:p>
          <a:p>
            <a:pPr lvl="1"/>
            <a:r>
              <a:rPr lang="en-US" dirty="0" err="1"/>
              <a:t>Doc_id</a:t>
            </a:r>
            <a:r>
              <a:rPr lang="en-US" dirty="0"/>
              <a:t> is id from documents </a:t>
            </a:r>
          </a:p>
          <a:p>
            <a:pPr lvl="1"/>
            <a:r>
              <a:rPr lang="en-US" dirty="0" err="1"/>
              <a:t>person_id</a:t>
            </a:r>
            <a:r>
              <a:rPr lang="en-US" dirty="0"/>
              <a:t> is id from persons</a:t>
            </a:r>
          </a:p>
        </p:txBody>
      </p:sp>
    </p:spTree>
    <p:extLst>
      <p:ext uri="{BB962C8B-B14F-4D97-AF65-F5344CB8AC3E}">
        <p14:creationId xmlns:p14="http://schemas.microsoft.com/office/powerpoint/2010/main" val="4126740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1708-1580-D7C6-1AA9-1731EBDD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5018"/>
          </a:xfrm>
        </p:spPr>
        <p:txBody>
          <a:bodyPr/>
          <a:lstStyle/>
          <a:p>
            <a:r>
              <a:rPr lang="en-US" dirty="0"/>
              <a:t>Relation to sparse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C9CC-F4CE-893D-4A29-FB1DA0CFB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ways to minimize data size </a:t>
            </a:r>
          </a:p>
          <a:p>
            <a:r>
              <a:rPr lang="en-US" dirty="0"/>
              <a:t>Sparse matrix—most features missing in most documents so lots of 0 in matrix</a:t>
            </a:r>
          </a:p>
          <a:p>
            <a:r>
              <a:rPr lang="en-US" dirty="0"/>
              <a:t>SQL—repeated data across observations</a:t>
            </a:r>
          </a:p>
        </p:txBody>
      </p:sp>
    </p:spTree>
    <p:extLst>
      <p:ext uri="{BB962C8B-B14F-4D97-AF65-F5344CB8AC3E}">
        <p14:creationId xmlns:p14="http://schemas.microsoft.com/office/powerpoint/2010/main" val="1040564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316198-EB5D-2A7D-9039-8FB8A1C1A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SQL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9CFE3-6267-B0D0-D329-3416E9F0F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64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 here on retrieving data from existing databases</a:t>
            </a:r>
          </a:p>
          <a:p>
            <a:pPr lvl="1"/>
            <a:r>
              <a:rPr lang="en-US" dirty="0"/>
              <a:t>SELECT  </a:t>
            </a:r>
            <a:r>
              <a:rPr lang="en-US" i="1" dirty="0"/>
              <a:t>columns</a:t>
            </a:r>
            <a:r>
              <a:rPr lang="en-US" dirty="0"/>
              <a:t> FROM </a:t>
            </a:r>
            <a:r>
              <a:rPr lang="en-US" i="1" dirty="0"/>
              <a:t>table;</a:t>
            </a:r>
          </a:p>
          <a:p>
            <a:r>
              <a:rPr lang="en-US" dirty="0"/>
              <a:t>SELECT – Retrieve columns from table </a:t>
            </a:r>
          </a:p>
          <a:p>
            <a:r>
              <a:rPr lang="en-US" i="1" dirty="0"/>
              <a:t>columns </a:t>
            </a:r>
            <a:r>
              <a:rPr lang="en-US" dirty="0"/>
              <a:t>- columns to retrieve</a:t>
            </a:r>
          </a:p>
          <a:p>
            <a:pPr lvl="1"/>
            <a:r>
              <a:rPr lang="en-US" dirty="0"/>
              <a:t>Use an asterisk (*) to select all columns</a:t>
            </a:r>
          </a:p>
          <a:p>
            <a:r>
              <a:rPr lang="en-US" dirty="0"/>
              <a:t>FROM </a:t>
            </a:r>
            <a:r>
              <a:rPr lang="en-US" i="1" dirty="0"/>
              <a:t>table</a:t>
            </a:r>
            <a:r>
              <a:rPr lang="en-US" dirty="0"/>
              <a:t> – which table are we selecting data from </a:t>
            </a:r>
          </a:p>
          <a:p>
            <a:r>
              <a:rPr lang="en-US" dirty="0"/>
              <a:t>Use “.” to separate </a:t>
            </a:r>
            <a:r>
              <a:rPr lang="en-US" i="1" dirty="0"/>
              <a:t>namespaces</a:t>
            </a:r>
            <a:r>
              <a:rPr lang="en-US" dirty="0"/>
              <a:t> (schema from table--</a:t>
            </a:r>
            <a:r>
              <a:rPr lang="en-US" dirty="0" err="1"/>
              <a:t>frus.docs</a:t>
            </a:r>
            <a:r>
              <a:rPr lang="en-US" dirty="0"/>
              <a:t> or table from column--docs.id)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45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4BEE-ACC5-53AE-52F1-85AB1F77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Qualifiers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43F4-6D33-E168-CE19-EED31CC0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Ways to limit or restrict query</a:t>
            </a:r>
          </a:p>
          <a:p>
            <a:r>
              <a:rPr lang="en-US" dirty="0"/>
              <a:t>WHERE – Restrict query to cases where condition is met</a:t>
            </a:r>
          </a:p>
          <a:p>
            <a:pPr lvl="1"/>
            <a:r>
              <a:rPr lang="en-US" dirty="0"/>
              <a:t>SELECT id, date, body FROM docs WHERE body </a:t>
            </a:r>
            <a:r>
              <a:rPr lang="en-US" dirty="0" err="1"/>
              <a:t>regexp</a:t>
            </a:r>
            <a:r>
              <a:rPr lang="en-US" dirty="0"/>
              <a:t> 'TRADE';</a:t>
            </a:r>
          </a:p>
          <a:p>
            <a:pPr lvl="1"/>
            <a:r>
              <a:rPr lang="en-US" dirty="0"/>
              <a:t>SELECT id, date FROM docs WHERE year(date)=1955;</a:t>
            </a:r>
          </a:p>
          <a:p>
            <a:r>
              <a:rPr lang="en-US" dirty="0"/>
              <a:t>LIMIT</a:t>
            </a:r>
          </a:p>
          <a:p>
            <a:pPr lvl="1"/>
            <a:r>
              <a:rPr lang="en-US" dirty="0"/>
              <a:t>SELECT id, date, body FROM docs WHERE body </a:t>
            </a:r>
            <a:r>
              <a:rPr lang="en-US" dirty="0" err="1"/>
              <a:t>regexp</a:t>
            </a:r>
            <a:r>
              <a:rPr lang="en-US" dirty="0"/>
              <a:t> 'TRADE‘ LIMIT 10;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31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Counts</a:t>
            </a:r>
          </a:p>
          <a:p>
            <a:pPr lvl="1"/>
            <a:r>
              <a:rPr lang="en-US" dirty="0"/>
              <a:t>Aggregate SQL data before returning data</a:t>
            </a:r>
          </a:p>
          <a:p>
            <a:pPr lvl="1"/>
            <a:r>
              <a:rPr lang="en-US" dirty="0"/>
              <a:t>Requires GROUP BY option</a:t>
            </a:r>
          </a:p>
          <a:p>
            <a:pPr marL="0" indent="0">
              <a:buNone/>
            </a:pPr>
            <a:r>
              <a:rPr lang="en-US" dirty="0"/>
              <a:t>	SELECT count(id), year(date) FROM docs GROUP BY year(date);</a:t>
            </a:r>
          </a:p>
          <a:p>
            <a:r>
              <a:rPr lang="en-US" dirty="0"/>
              <a:t>ORDER BY</a:t>
            </a:r>
          </a:p>
          <a:p>
            <a:pPr lvl="1"/>
            <a:r>
              <a:rPr lang="en-US" dirty="0"/>
              <a:t>Sorts results of SELECT query by column(s)</a:t>
            </a:r>
          </a:p>
          <a:p>
            <a:pPr lvl="1"/>
            <a:r>
              <a:rPr lang="en-US" dirty="0"/>
              <a:t>Ascending order by default </a:t>
            </a:r>
          </a:p>
        </p:txBody>
      </p:sp>
    </p:spTree>
    <p:extLst>
      <p:ext uri="{BB962C8B-B14F-4D97-AF65-F5344CB8AC3E}">
        <p14:creationId xmlns:p14="http://schemas.microsoft.com/office/powerpoint/2010/main" val="2608517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columns from multiple tables</a:t>
            </a:r>
          </a:p>
          <a:p>
            <a:r>
              <a:rPr lang="en-US" dirty="0"/>
              <a:t>Similar to merge in R/Python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country_id</a:t>
            </a:r>
            <a:r>
              <a:rPr lang="en-US" dirty="0"/>
              <a:t>, </a:t>
            </a:r>
            <a:r>
              <a:rPr lang="en-US" dirty="0" err="1"/>
              <a:t>doc_id</a:t>
            </a:r>
            <a:r>
              <a:rPr lang="en-US" dirty="0"/>
              <a:t>, countries.name from </a:t>
            </a:r>
            <a:r>
              <a:rPr lang="en-US" dirty="0" err="1"/>
              <a:t>country_doc</a:t>
            </a:r>
            <a:r>
              <a:rPr lang="en-US" dirty="0"/>
              <a:t> INNER JOIN countries ON </a:t>
            </a:r>
            <a:r>
              <a:rPr lang="en-US" dirty="0" err="1"/>
              <a:t>country_doc.country_id</a:t>
            </a:r>
            <a:r>
              <a:rPr lang="en-US" dirty="0"/>
              <a:t>= countries.id;</a:t>
            </a:r>
          </a:p>
        </p:txBody>
      </p:sp>
    </p:spTree>
    <p:extLst>
      <p:ext uri="{BB962C8B-B14F-4D97-AF65-F5344CB8AC3E}">
        <p14:creationId xmlns:p14="http://schemas.microsoft.com/office/powerpoint/2010/main" val="3871449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 to pandas merge</a:t>
            </a:r>
          </a:p>
          <a:p>
            <a:r>
              <a:rPr lang="en-US" dirty="0"/>
              <a:t>INNER join</a:t>
            </a:r>
          </a:p>
          <a:p>
            <a:pPr lvl="1"/>
            <a:r>
              <a:rPr lang="en-US" dirty="0"/>
              <a:t>Returns records with matching values in each table</a:t>
            </a:r>
          </a:p>
          <a:p>
            <a:r>
              <a:rPr lang="en-US" dirty="0"/>
              <a:t>OUTER join</a:t>
            </a:r>
          </a:p>
          <a:p>
            <a:pPr lvl="1"/>
            <a:r>
              <a:rPr lang="en-US" dirty="0"/>
              <a:t>Returns all records whether matched or not</a:t>
            </a:r>
          </a:p>
          <a:p>
            <a:r>
              <a:rPr lang="en-US" dirty="0"/>
              <a:t>LEFT join</a:t>
            </a:r>
          </a:p>
          <a:p>
            <a:pPr lvl="1"/>
            <a:r>
              <a:rPr lang="en-US" dirty="0"/>
              <a:t>Returns all records from table 1 and matched records from table 2</a:t>
            </a:r>
          </a:p>
          <a:p>
            <a:r>
              <a:rPr lang="en-US" dirty="0"/>
              <a:t>RIGHT join</a:t>
            </a:r>
          </a:p>
          <a:p>
            <a:pPr lvl="1"/>
            <a:r>
              <a:rPr lang="en-US" dirty="0"/>
              <a:t>Returns all records from table 2 and matched records from table 1</a:t>
            </a:r>
          </a:p>
        </p:txBody>
      </p:sp>
    </p:spTree>
    <p:extLst>
      <p:ext uri="{BB962C8B-B14F-4D97-AF65-F5344CB8AC3E}">
        <p14:creationId xmlns:p14="http://schemas.microsoft.com/office/powerpoint/2010/main" val="493762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get complicated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 of FRUS documents by country and year with country name</a:t>
            </a:r>
          </a:p>
          <a:p>
            <a:pPr marL="0" indent="0">
              <a:buNone/>
            </a:pPr>
            <a:r>
              <a:rPr lang="en-US" dirty="0"/>
              <a:t>SELECT count(</a:t>
            </a:r>
            <a:r>
              <a:rPr lang="en-US" dirty="0" err="1"/>
              <a:t>doc_id</a:t>
            </a:r>
            <a:r>
              <a:rPr lang="en-US" dirty="0"/>
              <a:t>), </a:t>
            </a:r>
            <a:r>
              <a:rPr lang="en-US" dirty="0" err="1"/>
              <a:t>country_id</a:t>
            </a:r>
            <a:r>
              <a:rPr lang="en-US" dirty="0"/>
              <a:t>, max(name), year(</a:t>
            </a:r>
            <a:r>
              <a:rPr lang="en-US" dirty="0" err="1"/>
              <a:t>tr.date</a:t>
            </a:r>
            <a:r>
              <a:rPr lang="en-US" dirty="0"/>
              <a:t>) FROM countries INNER JOIN </a:t>
            </a:r>
            <a:r>
              <a:rPr lang="en-US" dirty="0" err="1"/>
              <a:t>country_doc</a:t>
            </a:r>
            <a:r>
              <a:rPr lang="en-US" dirty="0"/>
              <a:t> ON countries.id = </a:t>
            </a:r>
            <a:r>
              <a:rPr lang="en-US" dirty="0" err="1"/>
              <a:t>country_doc.country_id</a:t>
            </a:r>
            <a:r>
              <a:rPr lang="en-US" dirty="0"/>
              <a:t> INNER JOIN (SELECT id, date FROM docs WHERE body </a:t>
            </a:r>
            <a:r>
              <a:rPr lang="en-US" dirty="0" err="1"/>
              <a:t>regexp</a:t>
            </a:r>
            <a:r>
              <a:rPr lang="en-US" dirty="0"/>
              <a:t> 'TRADE') tr ON </a:t>
            </a:r>
            <a:r>
              <a:rPr lang="en-US" dirty="0" err="1"/>
              <a:t>country_doc.doc_id</a:t>
            </a:r>
            <a:r>
              <a:rPr lang="en-US" dirty="0"/>
              <a:t> = tr.id GROUP by </a:t>
            </a:r>
            <a:r>
              <a:rPr lang="en-US" dirty="0" err="1"/>
              <a:t>country_id</a:t>
            </a:r>
            <a:r>
              <a:rPr lang="en-US" dirty="0"/>
              <a:t>, year(</a:t>
            </a:r>
            <a:r>
              <a:rPr lang="en-US" dirty="0" err="1"/>
              <a:t>tr.date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15597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table a field is from with the field</a:t>
            </a:r>
          </a:p>
          <a:p>
            <a:pPr lvl="1"/>
            <a:r>
              <a:rPr lang="en-US" dirty="0"/>
              <a:t>INNER JOIN </a:t>
            </a:r>
            <a:r>
              <a:rPr lang="en-US" dirty="0" err="1"/>
              <a:t>country_doc</a:t>
            </a:r>
            <a:r>
              <a:rPr lang="en-US" dirty="0"/>
              <a:t> ON countries.id = </a:t>
            </a:r>
            <a:r>
              <a:rPr lang="en-US" dirty="0" err="1"/>
              <a:t>country_doc.country_id</a:t>
            </a:r>
            <a:endParaRPr lang="en-US" dirty="0"/>
          </a:p>
          <a:p>
            <a:pPr lvl="2"/>
            <a:r>
              <a:rPr lang="en-US" dirty="0"/>
              <a:t>Similar to R: </a:t>
            </a:r>
            <a:r>
              <a:rPr lang="en-US" dirty="0" err="1"/>
              <a:t>country_doc$country_id</a:t>
            </a:r>
            <a:r>
              <a:rPr lang="en-US" dirty="0"/>
              <a:t>; countries.id</a:t>
            </a:r>
          </a:p>
          <a:p>
            <a:r>
              <a:rPr lang="en-US" dirty="0"/>
              <a:t>Label multiple select queries</a:t>
            </a:r>
          </a:p>
          <a:p>
            <a:pPr lvl="1"/>
            <a:r>
              <a:rPr lang="en-US" dirty="0"/>
              <a:t>(SELECT id, date FROM docs WHERE body </a:t>
            </a:r>
            <a:r>
              <a:rPr lang="en-US" dirty="0" err="1"/>
              <a:t>regexp</a:t>
            </a:r>
            <a:r>
              <a:rPr lang="en-US" dirty="0"/>
              <a:t> 'TRADE') </a:t>
            </a:r>
            <a:r>
              <a:rPr lang="en-US" dirty="0" err="1"/>
              <a:t>tr</a:t>
            </a:r>
            <a:endParaRPr lang="en-US" dirty="0"/>
          </a:p>
          <a:p>
            <a:pPr lvl="1"/>
            <a:r>
              <a:rPr lang="en-US" dirty="0"/>
              <a:t>Necessary if you want to restrict query</a:t>
            </a:r>
          </a:p>
          <a:p>
            <a:pPr lvl="1"/>
            <a:r>
              <a:rPr lang="en-US" dirty="0"/>
              <a:t>Not necessary if you don’t</a:t>
            </a:r>
          </a:p>
          <a:p>
            <a:pPr lvl="1"/>
            <a:r>
              <a:rPr lang="en-US" dirty="0"/>
              <a:t>Parentheses make code easier to understand</a:t>
            </a:r>
          </a:p>
        </p:txBody>
      </p:sp>
    </p:spTree>
    <p:extLst>
      <p:ext uri="{BB962C8B-B14F-4D97-AF65-F5344CB8AC3E}">
        <p14:creationId xmlns:p14="http://schemas.microsoft.com/office/powerpoint/2010/main" val="192248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4165</TotalTime>
  <Words>1262</Words>
  <Application>Microsoft Office PowerPoint</Application>
  <PresentationFormat>Widescreen</PresentationFormat>
  <Paragraphs>151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Century Gothic</vt:lpstr>
      <vt:lpstr>Wingdings 3</vt:lpstr>
      <vt:lpstr>Ion</vt:lpstr>
      <vt:lpstr>SQL</vt:lpstr>
      <vt:lpstr>SQL Data</vt:lpstr>
      <vt:lpstr>SQL overview</vt:lpstr>
      <vt:lpstr>Relational database</vt:lpstr>
      <vt:lpstr>SQL tables and pandas</vt:lpstr>
      <vt:lpstr>Primary keys</vt:lpstr>
      <vt:lpstr>Unique identifiers</vt:lpstr>
      <vt:lpstr>Database keys</vt:lpstr>
      <vt:lpstr>Python dictionaries</vt:lpstr>
      <vt:lpstr>Dictionary structure</vt:lpstr>
      <vt:lpstr>Json v. relational database</vt:lpstr>
      <vt:lpstr>JSON structure</vt:lpstr>
      <vt:lpstr>SQL Database structure</vt:lpstr>
      <vt:lpstr>Why multiple tables?</vt:lpstr>
      <vt:lpstr>Walkthrough tables</vt:lpstr>
      <vt:lpstr>Relation to sparse matrices</vt:lpstr>
      <vt:lpstr>Using SQL </vt:lpstr>
      <vt:lpstr>Querying database</vt:lpstr>
      <vt:lpstr>Qualifiers</vt:lpstr>
      <vt:lpstr>More functions</vt:lpstr>
      <vt:lpstr>Joins</vt:lpstr>
      <vt:lpstr>Joins</vt:lpstr>
      <vt:lpstr>Can get complicated</vt:lpstr>
      <vt:lpstr>SQL tips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8</cp:revision>
  <dcterms:created xsi:type="dcterms:W3CDTF">2026-03-30T18:13:33Z</dcterms:created>
  <dcterms:modified xsi:type="dcterms:W3CDTF">2026-04-08T16:59:30Z</dcterms:modified>
</cp:coreProperties>
</file>