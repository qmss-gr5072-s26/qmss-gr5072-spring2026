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59" r:id="rId6"/>
    <p:sldId id="261" r:id="rId7"/>
    <p:sldId id="268" r:id="rId8"/>
    <p:sldId id="262" r:id="rId9"/>
    <p:sldId id="269" r:id="rId10"/>
    <p:sldId id="263" r:id="rId11"/>
    <p:sldId id="273" r:id="rId12"/>
    <p:sldId id="272" r:id="rId13"/>
    <p:sldId id="264" r:id="rId14"/>
    <p:sldId id="267" r:id="rId15"/>
    <p:sldId id="265" r:id="rId16"/>
    <p:sldId id="266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20FC38-090C-43A2-83C1-9CD6DDD59D06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1B23D-A286-44E9-8C1E-B29C5B82E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7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1B23D-A286-44E9-8C1E-B29C5B82E3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2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4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5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0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27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6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1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0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38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4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9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9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6851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2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12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31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46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9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B9FEB6-56F2-47ED-9929-6210E557575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86B34-2002-4B06-B27D-DC5146AA4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045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B3AB5-2FB5-2B54-A717-B0A694A86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42D32-89D7-BD09-C396-551F06538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9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3D2F-0C23-BF01-F54B-68B94407E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24E12-621C-7AC5-1479-3BDCF6AD4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Two-dimensional, </a:t>
            </a:r>
            <a:r>
              <a:rPr lang="en-GB" dirty="0" err="1"/>
              <a:t>labeled</a:t>
            </a:r>
            <a:r>
              <a:rPr lang="en-GB" dirty="0"/>
              <a:t> table of data</a:t>
            </a:r>
            <a:endParaRPr lang="en-US" dirty="0"/>
          </a:p>
          <a:p>
            <a:pPr lvl="1"/>
            <a:r>
              <a:rPr lang="en-GB" dirty="0"/>
              <a:t>Tabular / spreadsheet-like data</a:t>
            </a:r>
          </a:p>
          <a:p>
            <a:pPr lvl="1"/>
            <a:r>
              <a:rPr lang="en-GB" dirty="0"/>
              <a:t>Mixed data (numeric, text, dates, categories)</a:t>
            </a:r>
          </a:p>
          <a:p>
            <a:pPr lvl="1"/>
            <a:r>
              <a:rPr lang="en-GB" dirty="0"/>
              <a:t>Purpose: Data cleaning, filtering, merging,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544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5E56-A2F2-A969-2085-B407D53A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v. </a:t>
            </a:r>
            <a:r>
              <a:rPr lang="en-US" dirty="0" err="1"/>
              <a:t>Dataframe</a:t>
            </a:r>
            <a:r>
              <a:rPr lang="en-US" dirty="0"/>
              <a:t> v. Excel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5F29B6-374E-FC5D-394E-923D58761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9667" y="1853248"/>
            <a:ext cx="2366458" cy="576262"/>
          </a:xfrm>
        </p:spPr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B40887F-3DFE-416E-32D0-DA626389F86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952334" y="2667000"/>
            <a:ext cx="2171412" cy="3589338"/>
          </a:xfrm>
        </p:spPr>
        <p:txBody>
          <a:bodyPr/>
          <a:lstStyle/>
          <a:p>
            <a:r>
              <a:rPr lang="en-US" dirty="0"/>
              <a:t>Spreadsheet</a:t>
            </a:r>
          </a:p>
          <a:p>
            <a:r>
              <a:rPr lang="en-US" dirty="0"/>
              <a:t>Informal</a:t>
            </a:r>
          </a:p>
          <a:p>
            <a:r>
              <a:rPr lang="en-US" dirty="0"/>
              <a:t>Mixed types allowed</a:t>
            </a:r>
          </a:p>
          <a:p>
            <a:r>
              <a:rPr lang="en-US" dirty="0"/>
              <a:t>Yes</a:t>
            </a:r>
          </a:p>
          <a:p>
            <a:r>
              <a:rPr lang="en-US" dirty="0"/>
              <a:t>Limited</a:t>
            </a:r>
          </a:p>
          <a:p>
            <a:r>
              <a:rPr lang="en-US" dirty="0"/>
              <a:t>Mainly manual</a:t>
            </a:r>
          </a:p>
          <a:p>
            <a:r>
              <a:rPr lang="en-US" dirty="0"/>
              <a:t>Limited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C6F6512-92CA-067B-9B6E-4CF516ACF0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9667" y="2667000"/>
            <a:ext cx="2552555" cy="3589338"/>
          </a:xfrm>
        </p:spPr>
        <p:txBody>
          <a:bodyPr/>
          <a:lstStyle/>
          <a:p>
            <a:r>
              <a:rPr lang="en-US" dirty="0"/>
              <a:t>Grid of values</a:t>
            </a:r>
          </a:p>
          <a:p>
            <a:r>
              <a:rPr lang="en-GB" dirty="0" err="1"/>
              <a:t>Minimial</a:t>
            </a:r>
            <a:endParaRPr lang="en-GB" dirty="0"/>
          </a:p>
          <a:p>
            <a:r>
              <a:rPr lang="en-GB" dirty="0"/>
              <a:t>One type for entire array</a:t>
            </a:r>
          </a:p>
          <a:p>
            <a:r>
              <a:rPr lang="en-GB" dirty="0"/>
              <a:t>No</a:t>
            </a:r>
          </a:p>
          <a:p>
            <a:r>
              <a:rPr lang="en-GB" dirty="0"/>
              <a:t>No</a:t>
            </a:r>
          </a:p>
          <a:p>
            <a:r>
              <a:rPr lang="en-GB" dirty="0"/>
              <a:t>Limited</a:t>
            </a:r>
          </a:p>
          <a:p>
            <a:r>
              <a:rPr lang="en-GB" dirty="0"/>
              <a:t>Yes (code)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4B924-23B3-5B27-7BFB-9737497D5DA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96000" y="1853248"/>
            <a:ext cx="2366459" cy="576262"/>
          </a:xfrm>
        </p:spPr>
        <p:txBody>
          <a:bodyPr/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EE712E4-33C7-106F-A7D4-3CBA8312C57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096000" y="2667000"/>
            <a:ext cx="2285797" cy="3589338"/>
          </a:xfrm>
        </p:spPr>
        <p:txBody>
          <a:bodyPr/>
          <a:lstStyle/>
          <a:p>
            <a:r>
              <a:rPr lang="en-US" dirty="0"/>
              <a:t>Labeled table</a:t>
            </a:r>
          </a:p>
          <a:p>
            <a:r>
              <a:rPr lang="en-US" dirty="0"/>
              <a:t>Structured</a:t>
            </a:r>
          </a:p>
          <a:p>
            <a:r>
              <a:rPr lang="en-US" dirty="0"/>
              <a:t>Mixed types allowed</a:t>
            </a:r>
          </a:p>
          <a:p>
            <a:r>
              <a:rPr lang="en-US" dirty="0"/>
              <a:t>Yes</a:t>
            </a:r>
          </a:p>
          <a:p>
            <a:r>
              <a:rPr lang="en-US" dirty="0"/>
              <a:t>Yes</a:t>
            </a:r>
          </a:p>
          <a:p>
            <a:r>
              <a:rPr lang="en-US" dirty="0"/>
              <a:t>Excellent</a:t>
            </a:r>
          </a:p>
          <a:p>
            <a:r>
              <a:rPr lang="en-GB" dirty="0"/>
              <a:t>Yes (code)</a:t>
            </a:r>
            <a:endParaRPr lang="en-US" dirty="0"/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A4AE21A-859C-C1F4-4911-39DE034106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4885" y="1853248"/>
            <a:ext cx="2151897" cy="576262"/>
          </a:xfrm>
        </p:spPr>
        <p:txBody>
          <a:bodyPr/>
          <a:lstStyle/>
          <a:p>
            <a:r>
              <a:rPr lang="en-US" dirty="0"/>
              <a:t>Excel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A7FF1C7A-9569-B643-B806-B52E132A1DBA}"/>
              </a:ext>
            </a:extLst>
          </p:cNvPr>
          <p:cNvSpPr txBox="1">
            <a:spLocks/>
          </p:cNvSpPr>
          <p:nvPr/>
        </p:nvSpPr>
        <p:spPr>
          <a:xfrm>
            <a:off x="873209" y="1821267"/>
            <a:ext cx="2366458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Feature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A615548-C500-16AF-B9C1-C22079A21DC5}"/>
              </a:ext>
            </a:extLst>
          </p:cNvPr>
          <p:cNvSpPr txBox="1">
            <a:spLocks/>
          </p:cNvSpPr>
          <p:nvPr/>
        </p:nvSpPr>
        <p:spPr>
          <a:xfrm>
            <a:off x="646111" y="2665803"/>
            <a:ext cx="2552555" cy="3589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Structure</a:t>
            </a:r>
          </a:p>
          <a:p>
            <a:r>
              <a:rPr lang="en-GB" b="1" dirty="0"/>
              <a:t>Metadata</a:t>
            </a:r>
          </a:p>
          <a:p>
            <a:r>
              <a:rPr lang="en-GB" b="1" dirty="0"/>
              <a:t>Data types</a:t>
            </a:r>
          </a:p>
          <a:p>
            <a:r>
              <a:rPr lang="en-GB" b="1" dirty="0"/>
              <a:t>Column names</a:t>
            </a:r>
          </a:p>
          <a:p>
            <a:r>
              <a:rPr lang="en-GB" b="1" dirty="0"/>
              <a:t>Row labels</a:t>
            </a:r>
          </a:p>
          <a:p>
            <a:r>
              <a:rPr lang="en-GB" b="1" dirty="0"/>
              <a:t>Data cleaning</a:t>
            </a:r>
          </a:p>
          <a:p>
            <a:r>
              <a:rPr lang="en-GB" b="1" dirty="0"/>
              <a:t>Automation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01448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1B14-977F-8711-1115-566D89C4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/>
              <a:t>look like?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5B4A9A-B7D7-2A15-9FB6-0CF0BD91D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0375" y="2274094"/>
            <a:ext cx="5153025" cy="3752850"/>
          </a:xfrm>
        </p:spPr>
      </p:pic>
    </p:spTree>
    <p:extLst>
      <p:ext uri="{BB962C8B-B14F-4D97-AF65-F5344CB8AC3E}">
        <p14:creationId xmlns:p14="http://schemas.microsoft.com/office/powerpoint/2010/main" val="145238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AD3F-A473-E873-0ECC-5242A662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B59C-AE93-F1CB-08DF-7675EFF5F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Data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actual 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e.g., trade = 120.5</a:t>
            </a:r>
          </a:p>
          <a:p>
            <a:r>
              <a:rPr lang="en-GB" b="1" dirty="0"/>
              <a:t>Metadata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Information about the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Variable definitions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Units (USD, %, index)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Time coverage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Source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Coding schemes (e.g., country codes)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44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65B6-03D4-0C1A-0AC7-1FE92D80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FFBB6-CBA0-6D21-2E53-029BE022F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Arrays: Only hold one type of data—numeric or string</a:t>
            </a:r>
          </a:p>
          <a:p>
            <a:r>
              <a:rPr lang="en-US" dirty="0" err="1"/>
              <a:t>Dataframes</a:t>
            </a:r>
            <a:r>
              <a:rPr lang="en-US" dirty="0"/>
              <a:t>: Columns can hold mixed data types</a:t>
            </a:r>
          </a:p>
          <a:p>
            <a:pPr lvl="1"/>
            <a:r>
              <a:rPr lang="en-US" dirty="0"/>
              <a:t>But should hold one type per column</a:t>
            </a:r>
          </a:p>
        </p:txBody>
      </p:sp>
    </p:spTree>
    <p:extLst>
      <p:ext uri="{BB962C8B-B14F-4D97-AF65-F5344CB8AC3E}">
        <p14:creationId xmlns:p14="http://schemas.microsoft.com/office/powerpoint/2010/main" val="2806378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094BCB-754B-2F36-E04A-457E8DB29582}"/>
              </a:ext>
            </a:extLst>
          </p:cNvPr>
          <p:cNvSpPr txBox="1"/>
          <p:nvPr/>
        </p:nvSpPr>
        <p:spPr>
          <a:xfrm rot="18900000">
            <a:off x="2262909" y="2891104"/>
            <a:ext cx="71027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NOT ON TEST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3B553-3C93-EC39-5D31-8D9A4E6F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C5A3-3D92-E4EE-E911-08B46D88642F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r>
              <a:rPr lang="en-US" dirty="0"/>
              <a:t>Strings are costly while numbers are cheaper</a:t>
            </a:r>
          </a:p>
          <a:p>
            <a:r>
              <a:rPr lang="en-US" dirty="0"/>
              <a:t>Repeated strings are costly</a:t>
            </a:r>
          </a:p>
          <a:p>
            <a:r>
              <a:rPr lang="en-US" dirty="0"/>
              <a:t>Additional rows or columns are costly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093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AE85-4776-0DFB-6E46-98E04C80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4EB3-4B02-4857-CAD1-5A3720F1B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 or combination of variables that uniquely identifies </a:t>
            </a:r>
            <a:r>
              <a:rPr lang="en-US" dirty="0" err="1"/>
              <a:t>dataframe</a:t>
            </a:r>
            <a:r>
              <a:rPr lang="en-US" dirty="0"/>
              <a:t> observations</a:t>
            </a:r>
          </a:p>
          <a:p>
            <a:r>
              <a:rPr lang="en-US" dirty="0"/>
              <a:t>Index is not sufficient</a:t>
            </a:r>
          </a:p>
          <a:p>
            <a:r>
              <a:rPr lang="en-US" dirty="0"/>
              <a:t>Know your data and unit of analysis</a:t>
            </a:r>
          </a:p>
          <a:p>
            <a:r>
              <a:rPr lang="en-US" dirty="0" err="1"/>
              <a:t>Dataframe</a:t>
            </a:r>
            <a:r>
              <a:rPr lang="en-US" dirty="0"/>
              <a:t> specific</a:t>
            </a:r>
          </a:p>
        </p:txBody>
      </p:sp>
    </p:spTree>
    <p:extLst>
      <p:ext uri="{BB962C8B-B14F-4D97-AF65-F5344CB8AC3E}">
        <p14:creationId xmlns:p14="http://schemas.microsoft.com/office/powerpoint/2010/main" val="3041830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6B96-280E-8392-1AA4-92F59782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of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B1D5-12BE-D028-A36C-D055803FF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 of unit at which data are measured</a:t>
            </a:r>
          </a:p>
          <a:p>
            <a:r>
              <a:rPr lang="en-US" dirty="0"/>
              <a:t>Many options: individual, country, country-year</a:t>
            </a:r>
          </a:p>
          <a:p>
            <a:r>
              <a:rPr lang="en-US" dirty="0"/>
              <a:t>Should be guided by your research question</a:t>
            </a:r>
          </a:p>
          <a:p>
            <a:r>
              <a:rPr lang="en-US" dirty="0"/>
              <a:t>Not always equivalent to unique identifier</a:t>
            </a:r>
          </a:p>
        </p:txBody>
      </p:sp>
    </p:spTree>
    <p:extLst>
      <p:ext uri="{BB962C8B-B14F-4D97-AF65-F5344CB8AC3E}">
        <p14:creationId xmlns:p14="http://schemas.microsoft.com/office/powerpoint/2010/main" val="289813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CE1E-266F-4CB3-07C7-CCED0AC9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B441-6D9C-A299-A760-48392533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Arrays: Missing values complicate things</a:t>
            </a:r>
          </a:p>
          <a:p>
            <a:pPr lvl="1"/>
            <a:r>
              <a:rPr lang="en-US" dirty="0"/>
              <a:t>Need complete matrices for multiplication</a:t>
            </a:r>
          </a:p>
          <a:p>
            <a:r>
              <a:rPr lang="en-US" dirty="0" err="1"/>
              <a:t>Dataframes</a:t>
            </a:r>
            <a:r>
              <a:rPr lang="en-US" dirty="0"/>
              <a:t>: Built to handle messy/incomplete data</a:t>
            </a:r>
          </a:p>
          <a:p>
            <a:pPr lvl="1"/>
            <a:r>
              <a:rPr lang="en-US" dirty="0"/>
              <a:t>Drop rows with missing values in analysis: Listwise deletion</a:t>
            </a:r>
          </a:p>
        </p:txBody>
      </p:sp>
    </p:spTree>
    <p:extLst>
      <p:ext uri="{BB962C8B-B14F-4D97-AF65-F5344CB8AC3E}">
        <p14:creationId xmlns:p14="http://schemas.microsoft.com/office/powerpoint/2010/main" val="97872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84516-7AB3-FBD4-8476-ECC99050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data,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A41AC-43EE-ED27-1B7F-359599C9E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Important to understand </a:t>
            </a:r>
            <a:r>
              <a:rPr lang="en-GB" i="1" dirty="0"/>
              <a:t>why </a:t>
            </a:r>
            <a:r>
              <a:rPr lang="en-GB" dirty="0"/>
              <a:t>data is missing</a:t>
            </a:r>
          </a:p>
          <a:p>
            <a:r>
              <a:rPr lang="en-GB" dirty="0"/>
              <a:t>Missing Values Can Have Meaning:</a:t>
            </a:r>
          </a:p>
          <a:p>
            <a:pPr lvl="1"/>
            <a:r>
              <a:rPr lang="en-GB" dirty="0"/>
              <a:t>Survey non</a:t>
            </a:r>
            <a:r>
              <a:rPr lang="en-GB" dirty="0">
                <a:solidFill>
                  <a:srgbClr val="61AFEF"/>
                </a:solidFill>
                <a:effectLst/>
              </a:rPr>
              <a:t>-</a:t>
            </a:r>
            <a:r>
              <a:rPr lang="en-GB" dirty="0"/>
              <a:t>response </a:t>
            </a:r>
          </a:p>
          <a:p>
            <a:pPr lvl="1"/>
            <a:r>
              <a:rPr lang="en-GB" dirty="0"/>
              <a:t>Question </a:t>
            </a:r>
            <a:r>
              <a:rPr lang="en-GB" dirty="0">
                <a:solidFill>
                  <a:srgbClr val="C678DD"/>
                </a:solidFill>
                <a:effectLst/>
              </a:rPr>
              <a:t>not</a:t>
            </a:r>
            <a:r>
              <a:rPr lang="en-GB" dirty="0"/>
              <a:t> applicable </a:t>
            </a:r>
            <a:endParaRPr lang="en-GB" dirty="0">
              <a:solidFill>
                <a:srgbClr val="61AFEF"/>
              </a:solidFill>
            </a:endParaRPr>
          </a:p>
          <a:p>
            <a:pPr lvl="1"/>
            <a:r>
              <a:rPr lang="en-GB" dirty="0"/>
              <a:t>Data collection error </a:t>
            </a:r>
            <a:endParaRPr lang="en-GB" dirty="0">
              <a:solidFill>
                <a:srgbClr val="61AFEF"/>
              </a:solidFill>
            </a:endParaRPr>
          </a:p>
          <a:p>
            <a:pPr lvl="1"/>
            <a:r>
              <a:rPr lang="en-GB" dirty="0"/>
              <a:t>Genuinely unknown</a:t>
            </a:r>
          </a:p>
          <a:p>
            <a:pPr lvl="1"/>
            <a:r>
              <a:rPr lang="en-GB" dirty="0"/>
              <a:t>Issues with merging (coming up)</a:t>
            </a:r>
          </a:p>
          <a:p>
            <a:r>
              <a:rPr lang="en-GB" dirty="0"/>
              <a:t>Always investigate unexpected missing 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22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921A-46B1-E70D-F2DF-8B0F8332D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</a:t>
            </a:r>
            <a:r>
              <a:rPr lang="en-US" dirty="0" err="1"/>
              <a:t>takeways</a:t>
            </a:r>
            <a:r>
              <a:rPr lang="en-US" dirty="0"/>
              <a:t> (so far)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E831-ECAE-9F0D-7623-88D0C2EC4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unit of analysis?</a:t>
            </a:r>
          </a:p>
          <a:p>
            <a:pPr lvl="1"/>
            <a:r>
              <a:rPr lang="en-US" dirty="0"/>
              <a:t>What does each row represent</a:t>
            </a:r>
          </a:p>
          <a:p>
            <a:r>
              <a:rPr lang="en-US" dirty="0"/>
              <a:t>What is unique identifier?</a:t>
            </a:r>
          </a:p>
          <a:p>
            <a:pPr lvl="1"/>
            <a:r>
              <a:rPr lang="en-US" dirty="0"/>
              <a:t>What variable or variables form key?</a:t>
            </a:r>
          </a:p>
          <a:p>
            <a:r>
              <a:rPr lang="en-US" dirty="0"/>
              <a:t>What are variables and their types?</a:t>
            </a:r>
          </a:p>
          <a:p>
            <a:pPr lvl="1"/>
            <a:r>
              <a:rPr lang="en-US" dirty="0"/>
              <a:t>What variables do I need and in what format?</a:t>
            </a:r>
          </a:p>
          <a:p>
            <a:r>
              <a:rPr lang="en-US" dirty="0"/>
              <a:t>What is structure of data?</a:t>
            </a:r>
          </a:p>
          <a:p>
            <a:pPr lvl="1"/>
            <a:r>
              <a:rPr lang="en-US" dirty="0"/>
              <a:t>Long or wide?</a:t>
            </a:r>
          </a:p>
          <a:p>
            <a:r>
              <a:rPr lang="en-US" dirty="0"/>
              <a:t>What metadata is needed?</a:t>
            </a:r>
          </a:p>
          <a:p>
            <a:pPr lvl="1"/>
            <a:r>
              <a:rPr lang="en-US" dirty="0"/>
              <a:t>How are variables coded? From where?</a:t>
            </a:r>
          </a:p>
        </p:txBody>
      </p:sp>
    </p:spTree>
    <p:extLst>
      <p:ext uri="{BB962C8B-B14F-4D97-AF65-F5344CB8AC3E}">
        <p14:creationId xmlns:p14="http://schemas.microsoft.com/office/powerpoint/2010/main" val="452781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642D-291F-4DC9-BBB2-8DC59910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data</a:t>
            </a:r>
          </a:p>
        </p:txBody>
      </p:sp>
      <p:pic>
        <p:nvPicPr>
          <p:cNvPr id="2050" name="Picture 2" descr="Chapter 17 Joining (Merging) Data | R for HR: An Introduction to Human  Resource Analytics Using R">
            <a:extLst>
              <a:ext uri="{FF2B5EF4-FFF2-40B4-BE49-F238E27FC236}">
                <a16:creationId xmlns:a16="http://schemas.microsoft.com/office/drawing/2014/main" id="{2D68EDED-0DF7-66E8-CD1D-E286EB9A66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2109450"/>
            <a:ext cx="8947150" cy="408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8560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9EA6-33DC-AC8E-3E2D-97D9B858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A724-FEA6-BD76-14CA-61469E91C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Python for Business: Working with Tabular Data">
            <a:extLst>
              <a:ext uri="{FF2B5EF4-FFF2-40B4-BE49-F238E27FC236}">
                <a16:creationId xmlns:a16="http://schemas.microsoft.com/office/drawing/2014/main" id="{24C92456-B4D8-5D83-C568-16EACEA68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673" y="362975"/>
            <a:ext cx="7740967" cy="588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391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7BB69-2427-D6E2-92B6-B0BE41A2B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EE34-747E-C52A-BFFC-0D9BCE92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0" name="Picture 4" descr="Pandas: Merge | Datacomy">
            <a:extLst>
              <a:ext uri="{FF2B5EF4-FFF2-40B4-BE49-F238E27FC236}">
                <a16:creationId xmlns:a16="http://schemas.microsoft.com/office/drawing/2014/main" id="{54E29D44-93F4-4524-426B-0C8EDFE4D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715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62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A9A8E-DFDA-D47F-57D8-21D58967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ombining datasets: merging — Practical Data Science with Python">
            <a:extLst>
              <a:ext uri="{FF2B5EF4-FFF2-40B4-BE49-F238E27FC236}">
                <a16:creationId xmlns:a16="http://schemas.microsoft.com/office/drawing/2014/main" id="{28CAF18A-60CC-C84A-F37A-F3B3F1C4F2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055" y="284033"/>
            <a:ext cx="7399607" cy="596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942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7756-2697-6E12-32FC-FF582059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Reshaping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928A9-E518-9113-FDC1-95185622A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Wide data: each variable has own column</a:t>
            </a:r>
          </a:p>
          <a:p>
            <a:r>
              <a:rPr lang="en-US" dirty="0"/>
              <a:t>Long data: multiple rows for unique entity</a:t>
            </a:r>
          </a:p>
          <a:p>
            <a:endParaRPr lang="en-US" dirty="0"/>
          </a:p>
          <a:p>
            <a:r>
              <a:rPr lang="en-US" dirty="0"/>
              <a:t>Reshaping: converting from wide to long</a:t>
            </a:r>
            <a:br>
              <a:rPr lang="en-US" dirty="0"/>
            </a:br>
            <a:r>
              <a:rPr lang="en-US" dirty="0"/>
              <a:t>or from long to wide </a:t>
            </a:r>
          </a:p>
        </p:txBody>
      </p:sp>
      <p:pic>
        <p:nvPicPr>
          <p:cNvPr id="6148" name="Picture 4" descr="Data reshaping: from wide to long and back – Introduction to ...">
            <a:extLst>
              <a:ext uri="{FF2B5EF4-FFF2-40B4-BE49-F238E27FC236}">
                <a16:creationId xmlns:a16="http://schemas.microsoft.com/office/drawing/2014/main" id="{C7B7BE0A-5957-61C0-E7E5-2824B0761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708" y="3248788"/>
            <a:ext cx="5476009" cy="351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96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2CBA-9AA2-1A82-9F1F-7E5DF0D3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and Wide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E77FB-31F6-0D47-7E53-F1A7BB770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and wide relative concepts</a:t>
            </a:r>
          </a:p>
          <a:p>
            <a:r>
              <a:rPr lang="en-US" dirty="0"/>
              <a:t>Data can be wide on some variables and long on others</a:t>
            </a:r>
          </a:p>
          <a:p>
            <a:r>
              <a:rPr lang="en-US" dirty="0"/>
              <a:t>No “correct” format—data structure depends on analysis goal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1EBF4-7B16-0892-3837-4EE13F000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627332"/>
            <a:ext cx="2610214" cy="2419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3FC6CE-DE49-8E06-433A-9B527FC7C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550" y="3627332"/>
            <a:ext cx="3762900" cy="933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0A6B97-A51D-81BE-6A2B-BA4333040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550" y="4908559"/>
            <a:ext cx="5315692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874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12288</TotalTime>
  <Words>461</Words>
  <Application>Microsoft Office PowerPoint</Application>
  <PresentationFormat>Widescreen</PresentationFormat>
  <Paragraphs>106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Century Gothic</vt:lpstr>
      <vt:lpstr>Wingdings 3</vt:lpstr>
      <vt:lpstr>Ion</vt:lpstr>
      <vt:lpstr>Dataframes</vt:lpstr>
      <vt:lpstr>What is a dataframe</vt:lpstr>
      <vt:lpstr>Array v. Dataframe v. Excel</vt:lpstr>
      <vt:lpstr>What does a dataframe look like?</vt:lpstr>
      <vt:lpstr>Data and metadata</vt:lpstr>
      <vt:lpstr>Mixed types</vt:lpstr>
      <vt:lpstr>Size considerations</vt:lpstr>
      <vt:lpstr>Unique identifiers</vt:lpstr>
      <vt:lpstr>Unit of analysis</vt:lpstr>
      <vt:lpstr>Missing data</vt:lpstr>
      <vt:lpstr>Missing data, part 2</vt:lpstr>
      <vt:lpstr>Five takeways (so far)</vt:lpstr>
      <vt:lpstr>Merging data</vt:lpstr>
      <vt:lpstr>PowerPoint Presentation</vt:lpstr>
      <vt:lpstr>PowerPoint Presentation</vt:lpstr>
      <vt:lpstr>PowerPoint Presentation</vt:lpstr>
      <vt:lpstr>Reshaping data</vt:lpstr>
      <vt:lpstr>Long and Wide data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Hicks</dc:creator>
  <cp:lastModifiedBy>Raymond Hicks</cp:lastModifiedBy>
  <cp:revision>7</cp:revision>
  <dcterms:created xsi:type="dcterms:W3CDTF">2026-02-03T20:51:18Z</dcterms:created>
  <dcterms:modified xsi:type="dcterms:W3CDTF">2026-02-12T22:58:39Z</dcterms:modified>
</cp:coreProperties>
</file>