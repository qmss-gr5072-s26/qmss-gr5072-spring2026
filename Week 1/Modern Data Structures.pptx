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8" r:id="rId3"/>
    <p:sldId id="259" r:id="rId4"/>
    <p:sldId id="260" r:id="rId5"/>
    <p:sldId id="347" r:id="rId6"/>
    <p:sldId id="279" r:id="rId7"/>
    <p:sldId id="353" r:id="rId8"/>
    <p:sldId id="354" r:id="rId9"/>
    <p:sldId id="290" r:id="rId10"/>
    <p:sldId id="343" r:id="rId11"/>
    <p:sldId id="344" r:id="rId12"/>
    <p:sldId id="262" r:id="rId13"/>
    <p:sldId id="346" r:id="rId14"/>
    <p:sldId id="345" r:id="rId15"/>
    <p:sldId id="357" r:id="rId16"/>
    <p:sldId id="355" r:id="rId17"/>
    <p:sldId id="356" r:id="rId18"/>
    <p:sldId id="297" r:id="rId19"/>
    <p:sldId id="298" r:id="rId20"/>
    <p:sldId id="299" r:id="rId21"/>
    <p:sldId id="348" r:id="rId22"/>
    <p:sldId id="349" r:id="rId23"/>
    <p:sldId id="350" r:id="rId24"/>
    <p:sldId id="351" r:id="rId25"/>
    <p:sldId id="35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7E8538-5C4D-47DC-8752-E3A42BC535D9}"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10560D-069C-43DB-A19F-EBC8EA3CC9BD}" type="slidenum">
              <a:rPr lang="en-US" smtClean="0"/>
              <a:t>‹#›</a:t>
            </a:fld>
            <a:endParaRPr lang="en-US"/>
          </a:p>
        </p:txBody>
      </p:sp>
    </p:spTree>
    <p:extLst>
      <p:ext uri="{BB962C8B-B14F-4D97-AF65-F5344CB8AC3E}">
        <p14:creationId xmlns:p14="http://schemas.microsoft.com/office/powerpoint/2010/main" val="833929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With numeric data, it</a:t>
            </a:r>
            <a:r>
              <a:rPr lang="en-US" baseline="0" dirty="0"/>
              <a:t> is easier to see how to organize and structure data. </a:t>
            </a:r>
          </a:p>
          <a:p>
            <a:pPr marL="171450" indent="-171450">
              <a:buFontTx/>
              <a:buChar char="-"/>
            </a:pPr>
            <a:r>
              <a:rPr lang="en-US" baseline="0" dirty="0"/>
              <a:t>Here’s an example of data that I work with in my other role as an international political economy scholar</a:t>
            </a:r>
          </a:p>
          <a:p>
            <a:pPr marL="171450" indent="-171450">
              <a:buFontTx/>
              <a:buChar char="-"/>
            </a:pPr>
            <a:r>
              <a:rPr lang="en-US" baseline="0" dirty="0"/>
              <a:t>This is part of a 200 page document on United States trade by commodity and country for the year 1962</a:t>
            </a:r>
          </a:p>
          <a:p>
            <a:pPr marL="171450" indent="-171450">
              <a:buFontTx/>
              <a:buChar char="-"/>
            </a:pPr>
            <a:r>
              <a:rPr lang="en-US" baseline="0" dirty="0"/>
              <a:t>For each commodity it list the number and the description, then each country, the quantity of the good the U.S. imported from that country, and then the value of the good. </a:t>
            </a:r>
          </a:p>
          <a:p>
            <a:pPr marL="171450" indent="-171450">
              <a:buFontTx/>
              <a:buChar char="-"/>
            </a:pP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3879E79-A5C4-42E5-A677-BA87C50DAC56}" type="slidenum">
              <a:rPr lang="en-US" smtClean="0"/>
              <a:t>11</a:t>
            </a:fld>
            <a:endParaRPr lang="en-US"/>
          </a:p>
        </p:txBody>
      </p:sp>
    </p:spTree>
    <p:extLst>
      <p:ext uri="{BB962C8B-B14F-4D97-AF65-F5344CB8AC3E}">
        <p14:creationId xmlns:p14="http://schemas.microsoft.com/office/powerpoint/2010/main" val="340004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data is easily structured </a:t>
            </a:r>
          </a:p>
        </p:txBody>
      </p:sp>
      <p:sp>
        <p:nvSpPr>
          <p:cNvPr id="4" name="Slide Number Placeholder 3"/>
          <p:cNvSpPr>
            <a:spLocks noGrp="1"/>
          </p:cNvSpPr>
          <p:nvPr>
            <p:ph type="sldNum" sz="quarter" idx="10"/>
          </p:nvPr>
        </p:nvSpPr>
        <p:spPr/>
        <p:txBody>
          <a:bodyPr/>
          <a:lstStyle/>
          <a:p>
            <a:fld id="{23879E79-A5C4-42E5-A677-BA87C50DAC56}" type="slidenum">
              <a:rPr lang="en-US" smtClean="0"/>
              <a:t>12</a:t>
            </a:fld>
            <a:endParaRPr lang="en-US"/>
          </a:p>
        </p:txBody>
      </p:sp>
    </p:spTree>
    <p:extLst>
      <p:ext uri="{BB962C8B-B14F-4D97-AF65-F5344CB8AC3E}">
        <p14:creationId xmlns:p14="http://schemas.microsoft.com/office/powerpoint/2010/main" val="3011967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1173977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575655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3293870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83F161-C347-4603-834C-CEC2E76CECD7}"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2783582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83F161-C347-4603-834C-CEC2E76CECD7}"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2437146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2541458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4021075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4194792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83F161-C347-4603-834C-CEC2E76CECD7}"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1142492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83F161-C347-4603-834C-CEC2E76CECD7}"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2261464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230938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31878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2722084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163539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2426459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1057620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83F161-C347-4603-834C-CEC2E76CECD7}"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68A5B-E573-40B5-A509-317A5B788843}" type="slidenum">
              <a:rPr lang="en-US" smtClean="0"/>
              <a:t>‹#›</a:t>
            </a:fld>
            <a:endParaRPr lang="en-US"/>
          </a:p>
        </p:txBody>
      </p:sp>
    </p:spTree>
    <p:extLst>
      <p:ext uri="{BB962C8B-B14F-4D97-AF65-F5344CB8AC3E}">
        <p14:creationId xmlns:p14="http://schemas.microsoft.com/office/powerpoint/2010/main" val="439348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F83F161-C347-4603-834C-CEC2E76CECD7}" type="datetimeFigureOut">
              <a:rPr lang="en-US" smtClean="0"/>
              <a:t>1/17/2026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9368A5B-E573-40B5-A509-317A5B788843}" type="slidenum">
              <a:rPr lang="en-US" smtClean="0"/>
              <a:t>‹#›</a:t>
            </a:fld>
            <a:endParaRPr lang="en-US"/>
          </a:p>
        </p:txBody>
      </p:sp>
    </p:spTree>
    <p:extLst>
      <p:ext uri="{BB962C8B-B14F-4D97-AF65-F5344CB8AC3E}">
        <p14:creationId xmlns:p14="http://schemas.microsoft.com/office/powerpoint/2010/main" val="318129374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history-lab.org/documents/frus1969-76v06d339#frus1969-76v06d339u_n1"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14BE-38B4-0F46-C5D7-CABBDC8CD2FD}"/>
              </a:ext>
            </a:extLst>
          </p:cNvPr>
          <p:cNvSpPr>
            <a:spLocks noGrp="1"/>
          </p:cNvSpPr>
          <p:nvPr>
            <p:ph type="ctrTitle"/>
          </p:nvPr>
        </p:nvSpPr>
        <p:spPr/>
        <p:txBody>
          <a:bodyPr/>
          <a:lstStyle/>
          <a:p>
            <a:r>
              <a:rPr lang="en-US" dirty="0"/>
              <a:t>Modern Data Structures</a:t>
            </a:r>
          </a:p>
        </p:txBody>
      </p:sp>
      <p:sp>
        <p:nvSpPr>
          <p:cNvPr id="3" name="Subtitle 2">
            <a:extLst>
              <a:ext uri="{FF2B5EF4-FFF2-40B4-BE49-F238E27FC236}">
                <a16:creationId xmlns:a16="http://schemas.microsoft.com/office/drawing/2014/main" id="{327D0DA6-9E5A-E7E5-87FA-8C191B0F47F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55048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BEBF6-9F51-DD57-02F4-967CFAE0865B}"/>
              </a:ext>
            </a:extLst>
          </p:cNvPr>
          <p:cNvSpPr>
            <a:spLocks noGrp="1"/>
          </p:cNvSpPr>
          <p:nvPr>
            <p:ph type="title"/>
          </p:nvPr>
        </p:nvSpPr>
        <p:spPr/>
        <p:txBody>
          <a:bodyPr/>
          <a:lstStyle/>
          <a:p>
            <a:r>
              <a:rPr lang="en-US" dirty="0"/>
              <a:t>Course Outline</a:t>
            </a:r>
          </a:p>
        </p:txBody>
      </p:sp>
      <p:sp>
        <p:nvSpPr>
          <p:cNvPr id="3" name="Content Placeholder 2">
            <a:extLst>
              <a:ext uri="{FF2B5EF4-FFF2-40B4-BE49-F238E27FC236}">
                <a16:creationId xmlns:a16="http://schemas.microsoft.com/office/drawing/2014/main" id="{8E981C9B-594E-22CE-D263-03AD187FA1F4}"/>
              </a:ext>
            </a:extLst>
          </p:cNvPr>
          <p:cNvSpPr>
            <a:spLocks noGrp="1"/>
          </p:cNvSpPr>
          <p:nvPr>
            <p:ph idx="1"/>
          </p:nvPr>
        </p:nvSpPr>
        <p:spPr/>
        <p:txBody>
          <a:bodyPr/>
          <a:lstStyle/>
          <a:p>
            <a:r>
              <a:rPr lang="en-US" sz="2400" b="1" dirty="0"/>
              <a:t>Week 1: Introduction</a:t>
            </a:r>
          </a:p>
          <a:p>
            <a:pPr lvl="1"/>
            <a:r>
              <a:rPr lang="en-US" dirty="0"/>
              <a:t>What is data and how can it be organized</a:t>
            </a:r>
          </a:p>
          <a:p>
            <a:pPr lvl="1"/>
            <a:r>
              <a:rPr lang="en-US" dirty="0"/>
              <a:t>Review of Python basics </a:t>
            </a:r>
          </a:p>
        </p:txBody>
      </p:sp>
    </p:spTree>
    <p:extLst>
      <p:ext uri="{BB962C8B-B14F-4D97-AF65-F5344CB8AC3E}">
        <p14:creationId xmlns:p14="http://schemas.microsoft.com/office/powerpoint/2010/main" val="1573921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68F00-4BC9-5A1E-05C4-6A7884CE3220}"/>
              </a:ext>
            </a:extLst>
          </p:cNvPr>
          <p:cNvSpPr>
            <a:spLocks noGrp="1"/>
          </p:cNvSpPr>
          <p:nvPr>
            <p:ph type="title"/>
          </p:nvPr>
        </p:nvSpPr>
        <p:spPr/>
        <p:txBody>
          <a:bodyPr/>
          <a:lstStyle/>
          <a:p>
            <a:r>
              <a:rPr lang="en-US" dirty="0"/>
              <a:t>Course Outline </a:t>
            </a:r>
          </a:p>
        </p:txBody>
      </p:sp>
      <p:sp>
        <p:nvSpPr>
          <p:cNvPr id="3" name="Content Placeholder 2">
            <a:extLst>
              <a:ext uri="{FF2B5EF4-FFF2-40B4-BE49-F238E27FC236}">
                <a16:creationId xmlns:a16="http://schemas.microsoft.com/office/drawing/2014/main" id="{FF52D012-8537-6005-5B7D-DD84E1E413DA}"/>
              </a:ext>
            </a:extLst>
          </p:cNvPr>
          <p:cNvSpPr>
            <a:spLocks noGrp="1"/>
          </p:cNvSpPr>
          <p:nvPr>
            <p:ph idx="1"/>
          </p:nvPr>
        </p:nvSpPr>
        <p:spPr/>
        <p:txBody>
          <a:bodyPr/>
          <a:lstStyle/>
          <a:p>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PART I: Data Manipulation and Coding</a:t>
            </a:r>
          </a:p>
          <a:p>
            <a:pPr lvl="1"/>
            <a:r>
              <a:rPr lang="en-US" sz="1800" b="1" kern="100" dirty="0" err="1">
                <a:latin typeface="Century Gothic" panose="020B0502020202020204" pitchFamily="34" charset="0"/>
                <a:ea typeface="Calibri" panose="020F0502020204030204" pitchFamily="34" charset="0"/>
                <a:cs typeface="Times New Roman" panose="02020603050405020304" pitchFamily="18" charset="0"/>
              </a:rPr>
              <a:t>Github</a:t>
            </a:r>
            <a:r>
              <a:rPr lang="en-US" sz="1800" b="1" kern="100" dirty="0">
                <a:latin typeface="Century Gothic" panose="020B0502020202020204" pitchFamily="34" charset="0"/>
                <a:ea typeface="Calibri" panose="020F0502020204030204" pitchFamily="34" charset="0"/>
                <a:cs typeface="Times New Roman" panose="02020603050405020304" pitchFamily="18" charset="0"/>
              </a:rPr>
              <a:t> and virtual environments</a:t>
            </a:r>
          </a:p>
          <a:p>
            <a:pPr lvl="1"/>
            <a:r>
              <a:rPr lang="en-US" sz="1800" b="1" kern="100" dirty="0" err="1">
                <a:effectLst/>
                <a:latin typeface="Century Gothic" panose="020B0502020202020204" pitchFamily="34" charset="0"/>
                <a:ea typeface="Calibri" panose="020F0502020204030204" pitchFamily="34" charset="0"/>
                <a:cs typeface="Times New Roman" panose="02020603050405020304" pitchFamily="18" charset="0"/>
              </a:rPr>
              <a:t>Numpy</a:t>
            </a:r>
            <a:r>
              <a:rPr lang="en-US" sz="1800" b="1" kern="100" dirty="0">
                <a:effectLst/>
                <a:latin typeface="Century Gothic" panose="020B0502020202020204" pitchFamily="34" charset="0"/>
                <a:ea typeface="Calibri" panose="020F0502020204030204" pitchFamily="34" charset="0"/>
                <a:cs typeface="Times New Roman" panose="02020603050405020304" pitchFamily="18" charset="0"/>
              </a:rPr>
              <a:t> array objects</a:t>
            </a:r>
          </a:p>
          <a:p>
            <a:pPr lvl="1"/>
            <a:r>
              <a:rPr lang="en-US" sz="1800" b="1" kern="100" dirty="0">
                <a:latin typeface="Century Gothic" panose="020B0502020202020204" pitchFamily="34" charset="0"/>
                <a:ea typeface="Calibri" panose="020F0502020204030204" pitchFamily="34" charset="0"/>
                <a:cs typeface="Times New Roman" panose="02020603050405020304" pitchFamily="18" charset="0"/>
              </a:rPr>
              <a:t>Data wrangling with Pandas</a:t>
            </a:r>
          </a:p>
          <a:p>
            <a:pPr lvl="1"/>
            <a:r>
              <a:rPr lang="en-US" sz="1800" b="1" kern="100" dirty="0">
                <a:effectLst/>
                <a:latin typeface="Century Gothic" panose="020B0502020202020204" pitchFamily="34" charset="0"/>
                <a:ea typeface="Calibri" panose="020F0502020204030204" pitchFamily="34" charset="0"/>
              </a:rPr>
              <a:t>Functions I: Basic structure and logic</a:t>
            </a:r>
          </a:p>
          <a:p>
            <a:pPr lvl="1"/>
            <a:r>
              <a:rPr lang="en-US" sz="1800" b="1" kern="100" dirty="0">
                <a:effectLst/>
                <a:latin typeface="Century Gothic" panose="020B0502020202020204" pitchFamily="34" charset="0"/>
                <a:ea typeface="Calibri" panose="020F0502020204030204" pitchFamily="34" charset="0"/>
              </a:rPr>
              <a:t>Functions II: For loops, nested and complex operations</a:t>
            </a:r>
          </a:p>
          <a:p>
            <a:pPr lvl="1"/>
            <a:r>
              <a:rPr lang="en-US" sz="1800" b="1" kern="100" dirty="0">
                <a:effectLst/>
                <a:latin typeface="Century Gothic" panose="020B0502020202020204" pitchFamily="34" charset="0"/>
                <a:ea typeface="Calibri" panose="020F0502020204030204" pitchFamily="34" charset="0"/>
              </a:rPr>
              <a:t>Working with strings and classes in Python</a:t>
            </a:r>
          </a:p>
          <a:p>
            <a:pPr lvl="1"/>
            <a:r>
              <a:rPr lang="en-US" sz="1800" b="1" kern="100" dirty="0">
                <a:latin typeface="Century Gothic" panose="020B0502020202020204" pitchFamily="34" charset="0"/>
                <a:ea typeface="Calibri" panose="020F0502020204030204" pitchFamily="34" charset="0"/>
              </a:rPr>
              <a:t>Testing</a:t>
            </a:r>
            <a:endParaRPr lang="en-US" sz="1800" b="1" kern="100" dirty="0">
              <a:effectLst/>
              <a:latin typeface="Century Gothic" panose="020B0502020202020204" pitchFamily="34" charset="0"/>
              <a:ea typeface="Calibri" panose="020F0502020204030204" pitchFamily="34" charset="0"/>
            </a:endParaRPr>
          </a:p>
          <a:p>
            <a:pPr lvl="1"/>
            <a:endParaRPr lang="en-US" sz="1400" b="1" kern="100" dirty="0">
              <a:effectLst/>
              <a:latin typeface="Courier New" panose="02070309020205020404" pitchFamily="49" charset="0"/>
              <a:ea typeface="Calibri" panose="020F0502020204030204" pitchFamily="34" charset="0"/>
            </a:endParaRPr>
          </a:p>
          <a:p>
            <a:pPr lvl="1"/>
            <a:endParaRPr lang="en-US" sz="1400" b="1" kern="100" dirty="0">
              <a:latin typeface="Courier New" panose="02070309020205020404" pitchFamily="49" charset="0"/>
              <a:ea typeface="Calibri" panose="020F0502020204030204" pitchFamily="34" charset="0"/>
              <a:cs typeface="Times New Roman" panose="02020603050405020304" pitchFamily="18" charset="0"/>
            </a:endParaRPr>
          </a:p>
          <a:p>
            <a:pPr lvl="1"/>
            <a:endParaRPr lang="en-US" sz="1400" kern="100" dirty="0">
              <a:effectLst/>
              <a:latin typeface="Consolas" panose="020B0609020204030204" pitchFamily="49"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86887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A5D9-24CB-1349-346B-08F6610812C6}"/>
              </a:ext>
            </a:extLst>
          </p:cNvPr>
          <p:cNvSpPr>
            <a:spLocks noGrp="1"/>
          </p:cNvSpPr>
          <p:nvPr>
            <p:ph type="title"/>
          </p:nvPr>
        </p:nvSpPr>
        <p:spPr/>
        <p:txBody>
          <a:bodyPr/>
          <a:lstStyle/>
          <a:p>
            <a:r>
              <a:rPr lang="en-US" dirty="0"/>
              <a:t>Course Outline </a:t>
            </a:r>
          </a:p>
        </p:txBody>
      </p:sp>
      <p:sp>
        <p:nvSpPr>
          <p:cNvPr id="3" name="Content Placeholder 2">
            <a:extLst>
              <a:ext uri="{FF2B5EF4-FFF2-40B4-BE49-F238E27FC236}">
                <a16:creationId xmlns:a16="http://schemas.microsoft.com/office/drawing/2014/main" id="{1FE706C7-3E20-D2FD-8F8A-473126A0302E}"/>
              </a:ext>
            </a:extLst>
          </p:cNvPr>
          <p:cNvSpPr>
            <a:spLocks noGrp="1"/>
          </p:cNvSpPr>
          <p:nvPr>
            <p:ph idx="1"/>
          </p:nvPr>
        </p:nvSpPr>
        <p:spPr/>
        <p:txBody>
          <a:bodyPr/>
          <a:lstStyle/>
          <a:p>
            <a:r>
              <a:rPr lang="en-US" sz="2400" b="1" kern="100" dirty="0">
                <a:effectLst/>
                <a:latin typeface="Century Gothic" panose="020B0502020202020204" pitchFamily="34" charset="0"/>
                <a:ea typeface="Calibri" panose="020F0502020204030204" pitchFamily="34" charset="0"/>
              </a:rPr>
              <a:t>PART II: Python and leveraging other software tools</a:t>
            </a:r>
          </a:p>
          <a:p>
            <a:pPr lvl="1"/>
            <a:r>
              <a:rPr lang="en-US" sz="1800" b="1" kern="100" dirty="0">
                <a:effectLst/>
                <a:latin typeface="Century Gothic" panose="020B0502020202020204" pitchFamily="34" charset="0"/>
                <a:ea typeface="Calibri" panose="020F0502020204030204" pitchFamily="34" charset="0"/>
              </a:rPr>
              <a:t>Textual data</a:t>
            </a:r>
          </a:p>
          <a:p>
            <a:pPr lvl="1"/>
            <a:r>
              <a:rPr lang="en-US" sz="1800" b="1" kern="100" dirty="0">
                <a:effectLst/>
                <a:latin typeface="Century Gothic" panose="020B0502020202020204" pitchFamily="34" charset="0"/>
                <a:ea typeface="Calibri" panose="020F0502020204030204" pitchFamily="34" charset="0"/>
              </a:rPr>
              <a:t>Working with APIs</a:t>
            </a:r>
          </a:p>
          <a:p>
            <a:pPr lvl="1"/>
            <a:r>
              <a:rPr lang="en-US" sz="1800" b="1" kern="100" dirty="0">
                <a:effectLst/>
                <a:latin typeface="Century Gothic" panose="020B0502020202020204" pitchFamily="34" charset="0"/>
                <a:ea typeface="Calibri" panose="020F0502020204030204" pitchFamily="34" charset="0"/>
              </a:rPr>
              <a:t>Working with SQL</a:t>
            </a:r>
            <a:endParaRPr lang="en-US" sz="1800" b="1" kern="100" dirty="0">
              <a:latin typeface="Century Gothic" panose="020B0502020202020204" pitchFamily="34" charset="0"/>
              <a:ea typeface="Calibri" panose="020F0502020204030204" pitchFamily="34" charset="0"/>
            </a:endParaRPr>
          </a:p>
          <a:p>
            <a:pPr lvl="1"/>
            <a:r>
              <a:rPr lang="en-US" sz="1800" b="1" kern="100" dirty="0">
                <a:effectLst/>
                <a:latin typeface="Century Gothic" panose="020B0502020202020204" pitchFamily="34" charset="0"/>
                <a:ea typeface="Calibri" panose="020F0502020204030204" pitchFamily="34" charset="0"/>
              </a:rPr>
              <a:t>Web scraping from HTML</a:t>
            </a:r>
          </a:p>
          <a:p>
            <a:pPr lvl="1"/>
            <a:endParaRPr lang="en-US" dirty="0"/>
          </a:p>
        </p:txBody>
      </p:sp>
    </p:spTree>
    <p:extLst>
      <p:ext uri="{BB962C8B-B14F-4D97-AF65-F5344CB8AC3E}">
        <p14:creationId xmlns:p14="http://schemas.microsoft.com/office/powerpoint/2010/main" val="985137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87F3A-31A3-4BB1-43F3-384698FA1DFA}"/>
              </a:ext>
            </a:extLst>
          </p:cNvPr>
          <p:cNvSpPr>
            <a:spLocks noGrp="1"/>
          </p:cNvSpPr>
          <p:nvPr>
            <p:ph type="title"/>
          </p:nvPr>
        </p:nvSpPr>
        <p:spPr/>
        <p:txBody>
          <a:bodyPr/>
          <a:lstStyle/>
          <a:p>
            <a:r>
              <a:rPr lang="en-US" dirty="0"/>
              <a:t>Course Outline</a:t>
            </a:r>
          </a:p>
        </p:txBody>
      </p:sp>
      <p:sp>
        <p:nvSpPr>
          <p:cNvPr id="3" name="Content Placeholder 2">
            <a:extLst>
              <a:ext uri="{FF2B5EF4-FFF2-40B4-BE49-F238E27FC236}">
                <a16:creationId xmlns:a16="http://schemas.microsoft.com/office/drawing/2014/main" id="{CF0753BC-A16B-8BCB-85D8-E69112F8CDE5}"/>
              </a:ext>
            </a:extLst>
          </p:cNvPr>
          <p:cNvSpPr>
            <a:spLocks noGrp="1"/>
          </p:cNvSpPr>
          <p:nvPr>
            <p:ph idx="1"/>
          </p:nvPr>
        </p:nvSpPr>
        <p:spPr/>
        <p:txBody>
          <a:bodyPr>
            <a:normAutofit/>
          </a:bodyPr>
          <a:lstStyle/>
          <a:p>
            <a:r>
              <a:rPr lang="en-US" sz="2400" b="1" kern="100" dirty="0">
                <a:effectLst/>
                <a:latin typeface="+mn-lt"/>
                <a:ea typeface="Calibri" panose="020F0502020204030204" pitchFamily="34" charset="0"/>
              </a:rPr>
              <a:t>PART II: Advanced topics</a:t>
            </a:r>
          </a:p>
          <a:p>
            <a:pPr lvl="1"/>
            <a:r>
              <a:rPr lang="en-US" sz="2000" dirty="0">
                <a:latin typeface="+mn-lt"/>
              </a:rPr>
              <a:t>LLMs and Vibe coding</a:t>
            </a:r>
          </a:p>
          <a:p>
            <a:pPr lvl="1"/>
            <a:r>
              <a:rPr lang="en-US" sz="2000" dirty="0">
                <a:latin typeface="+mn-lt"/>
              </a:rPr>
              <a:t>Cloud computing</a:t>
            </a:r>
          </a:p>
        </p:txBody>
      </p:sp>
    </p:spTree>
    <p:extLst>
      <p:ext uri="{BB962C8B-B14F-4D97-AF65-F5344CB8AC3E}">
        <p14:creationId xmlns:p14="http://schemas.microsoft.com/office/powerpoint/2010/main" val="141394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b="1"/>
              <a:t>Data</a:t>
            </a:r>
            <a:endParaRPr lang="en-US" b="1"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45271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2FC52-9E3B-3685-2546-AFD617F165F2}"/>
              </a:ext>
            </a:extLst>
          </p:cNvPr>
          <p:cNvSpPr>
            <a:spLocks noGrp="1"/>
          </p:cNvSpPr>
          <p:nvPr>
            <p:ph type="title"/>
          </p:nvPr>
        </p:nvSpPr>
        <p:spPr/>
        <p:txBody>
          <a:bodyPr/>
          <a:lstStyle/>
          <a:p>
            <a:r>
              <a:rPr lang="en-US" dirty="0"/>
              <a:t>Social science data</a:t>
            </a:r>
          </a:p>
        </p:txBody>
      </p:sp>
      <p:sp>
        <p:nvSpPr>
          <p:cNvPr id="3" name="Content Placeholder 2">
            <a:extLst>
              <a:ext uri="{FF2B5EF4-FFF2-40B4-BE49-F238E27FC236}">
                <a16:creationId xmlns:a16="http://schemas.microsoft.com/office/drawing/2014/main" id="{0E4389F3-BFE4-33CF-53FF-56F0A6F17BB4}"/>
              </a:ext>
            </a:extLst>
          </p:cNvPr>
          <p:cNvSpPr>
            <a:spLocks noGrp="1"/>
          </p:cNvSpPr>
          <p:nvPr>
            <p:ph idx="1"/>
          </p:nvPr>
        </p:nvSpPr>
        <p:spPr/>
        <p:txBody>
          <a:bodyPr/>
          <a:lstStyle/>
          <a:p>
            <a:r>
              <a:rPr lang="en-GB" i="1" dirty="0"/>
              <a:t>Information collected about human </a:t>
            </a:r>
            <a:r>
              <a:rPr lang="en-GB" i="1" dirty="0" err="1"/>
              <a:t>behavior</a:t>
            </a:r>
            <a:r>
              <a:rPr lang="en-GB" i="1" dirty="0"/>
              <a:t>, societies, and social phenomena to answer questions, test theories, and draw conclusions about social life</a:t>
            </a:r>
            <a:r>
              <a:rPr lang="en-GB" dirty="0"/>
              <a:t>.</a:t>
            </a:r>
          </a:p>
          <a:p>
            <a:endParaRPr lang="en-GB" dirty="0"/>
          </a:p>
          <a:p>
            <a:r>
              <a:rPr lang="en-GB" dirty="0"/>
              <a:t>Qualitative (surveys, interviews, text)</a:t>
            </a:r>
          </a:p>
          <a:p>
            <a:r>
              <a:rPr lang="en-US" dirty="0"/>
              <a:t>Quantitative (numeric)	</a:t>
            </a:r>
          </a:p>
        </p:txBody>
      </p:sp>
    </p:spTree>
    <p:extLst>
      <p:ext uri="{BB962C8B-B14F-4D97-AF65-F5344CB8AC3E}">
        <p14:creationId xmlns:p14="http://schemas.microsoft.com/office/powerpoint/2010/main" val="788858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78E9E-0EFC-6618-7551-74B7B7971D31}"/>
              </a:ext>
            </a:extLst>
          </p:cNvPr>
          <p:cNvSpPr>
            <a:spLocks noGrp="1"/>
          </p:cNvSpPr>
          <p:nvPr>
            <p:ph type="title"/>
          </p:nvPr>
        </p:nvSpPr>
        <p:spPr/>
        <p:txBody>
          <a:bodyPr/>
          <a:lstStyle/>
          <a:p>
            <a:r>
              <a:rPr lang="en-US" dirty="0"/>
              <a:t>Key question</a:t>
            </a:r>
          </a:p>
        </p:txBody>
      </p:sp>
      <p:sp>
        <p:nvSpPr>
          <p:cNvPr id="3" name="Content Placeholder 2">
            <a:extLst>
              <a:ext uri="{FF2B5EF4-FFF2-40B4-BE49-F238E27FC236}">
                <a16:creationId xmlns:a16="http://schemas.microsoft.com/office/drawing/2014/main" id="{70E62060-8FD1-25C7-C243-556D2E04ED04}"/>
              </a:ext>
            </a:extLst>
          </p:cNvPr>
          <p:cNvSpPr>
            <a:spLocks noGrp="1"/>
          </p:cNvSpPr>
          <p:nvPr>
            <p:ph idx="1"/>
          </p:nvPr>
        </p:nvSpPr>
        <p:spPr/>
        <p:txBody>
          <a:bodyPr/>
          <a:lstStyle/>
          <a:p>
            <a:r>
              <a:rPr lang="en-GB" dirty="0"/>
              <a:t>How do we reliably turn messy, real-world data into analysis-ready data?</a:t>
            </a:r>
            <a:endParaRPr lang="en-US" dirty="0"/>
          </a:p>
        </p:txBody>
      </p:sp>
      <p:sp>
        <p:nvSpPr>
          <p:cNvPr id="4" name="TextBox 3">
            <a:extLst>
              <a:ext uri="{FF2B5EF4-FFF2-40B4-BE49-F238E27FC236}">
                <a16:creationId xmlns:a16="http://schemas.microsoft.com/office/drawing/2014/main" id="{70FC8316-4433-3C36-BE02-F11D5F2286BC}"/>
              </a:ext>
            </a:extLst>
          </p:cNvPr>
          <p:cNvSpPr txBox="1"/>
          <p:nvPr/>
        </p:nvSpPr>
        <p:spPr>
          <a:xfrm>
            <a:off x="646111" y="3493008"/>
            <a:ext cx="2014793" cy="369332"/>
          </a:xfrm>
          <a:prstGeom prst="rect">
            <a:avLst/>
          </a:prstGeom>
          <a:noFill/>
        </p:spPr>
        <p:txBody>
          <a:bodyPr wrap="square" rtlCol="0">
            <a:spAutoFit/>
          </a:bodyPr>
          <a:lstStyle/>
          <a:p>
            <a:r>
              <a:rPr lang="en-US" dirty="0"/>
              <a:t>Collection</a:t>
            </a:r>
          </a:p>
        </p:txBody>
      </p:sp>
      <p:sp>
        <p:nvSpPr>
          <p:cNvPr id="7" name="TextBox 6">
            <a:extLst>
              <a:ext uri="{FF2B5EF4-FFF2-40B4-BE49-F238E27FC236}">
                <a16:creationId xmlns:a16="http://schemas.microsoft.com/office/drawing/2014/main" id="{1B3E2ACD-2A4E-5128-6945-E531806CC574}"/>
              </a:ext>
            </a:extLst>
          </p:cNvPr>
          <p:cNvSpPr txBox="1"/>
          <p:nvPr/>
        </p:nvSpPr>
        <p:spPr>
          <a:xfrm>
            <a:off x="3300984" y="3493008"/>
            <a:ext cx="2203704" cy="369332"/>
          </a:xfrm>
          <a:prstGeom prst="rect">
            <a:avLst/>
          </a:prstGeom>
          <a:noFill/>
        </p:spPr>
        <p:txBody>
          <a:bodyPr wrap="square" rtlCol="0">
            <a:spAutoFit/>
          </a:bodyPr>
          <a:lstStyle/>
          <a:p>
            <a:r>
              <a:rPr lang="en-US" dirty="0"/>
              <a:t>Organization</a:t>
            </a:r>
          </a:p>
        </p:txBody>
      </p:sp>
      <p:sp>
        <p:nvSpPr>
          <p:cNvPr id="8" name="Arrow: Right 7">
            <a:extLst>
              <a:ext uri="{FF2B5EF4-FFF2-40B4-BE49-F238E27FC236}">
                <a16:creationId xmlns:a16="http://schemas.microsoft.com/office/drawing/2014/main" id="{48A49AA5-2CFB-ED47-2CD6-0AFAE6119BA4}"/>
              </a:ext>
            </a:extLst>
          </p:cNvPr>
          <p:cNvSpPr/>
          <p:nvPr/>
        </p:nvSpPr>
        <p:spPr>
          <a:xfrm>
            <a:off x="2244852" y="3586234"/>
            <a:ext cx="941832" cy="1828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7A500CF4-DC5B-BB6C-D4A0-FBC28B4AC326}"/>
              </a:ext>
            </a:extLst>
          </p:cNvPr>
          <p:cNvSpPr/>
          <p:nvPr/>
        </p:nvSpPr>
        <p:spPr>
          <a:xfrm>
            <a:off x="5105666" y="3586234"/>
            <a:ext cx="941832" cy="1828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E7A172F-DA6E-A6D5-0FBC-FCBE9B3CB75A}"/>
              </a:ext>
            </a:extLst>
          </p:cNvPr>
          <p:cNvSpPr txBox="1"/>
          <p:nvPr/>
        </p:nvSpPr>
        <p:spPr>
          <a:xfrm>
            <a:off x="6144505" y="3493008"/>
            <a:ext cx="1573032" cy="369332"/>
          </a:xfrm>
          <a:prstGeom prst="rect">
            <a:avLst/>
          </a:prstGeom>
          <a:noFill/>
        </p:spPr>
        <p:txBody>
          <a:bodyPr wrap="square" rtlCol="0">
            <a:spAutoFit/>
          </a:bodyPr>
          <a:lstStyle/>
          <a:p>
            <a:r>
              <a:rPr lang="en-US" dirty="0"/>
              <a:t>Cleaning</a:t>
            </a:r>
          </a:p>
        </p:txBody>
      </p:sp>
      <p:sp>
        <p:nvSpPr>
          <p:cNvPr id="12" name="Arrow: Right 11">
            <a:extLst>
              <a:ext uri="{FF2B5EF4-FFF2-40B4-BE49-F238E27FC236}">
                <a16:creationId xmlns:a16="http://schemas.microsoft.com/office/drawing/2014/main" id="{B7FC40F1-C071-3A20-B83B-BE7DE5C9924B}"/>
              </a:ext>
            </a:extLst>
          </p:cNvPr>
          <p:cNvSpPr/>
          <p:nvPr/>
        </p:nvSpPr>
        <p:spPr>
          <a:xfrm>
            <a:off x="7489236" y="3589806"/>
            <a:ext cx="941832" cy="1828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71B8817-1656-373A-E5DA-AC8EA923867B}"/>
              </a:ext>
            </a:extLst>
          </p:cNvPr>
          <p:cNvSpPr txBox="1"/>
          <p:nvPr/>
        </p:nvSpPr>
        <p:spPr>
          <a:xfrm>
            <a:off x="8696508" y="3493008"/>
            <a:ext cx="1363053" cy="369332"/>
          </a:xfrm>
          <a:prstGeom prst="rect">
            <a:avLst/>
          </a:prstGeom>
          <a:noFill/>
        </p:spPr>
        <p:txBody>
          <a:bodyPr wrap="square" rtlCol="0">
            <a:spAutoFit/>
          </a:bodyPr>
          <a:lstStyle/>
          <a:p>
            <a:r>
              <a:rPr lang="en-US" dirty="0"/>
              <a:t>Analysis</a:t>
            </a:r>
          </a:p>
        </p:txBody>
      </p:sp>
    </p:spTree>
    <p:extLst>
      <p:ext uri="{BB962C8B-B14F-4D97-AF65-F5344CB8AC3E}">
        <p14:creationId xmlns:p14="http://schemas.microsoft.com/office/powerpoint/2010/main" val="912485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122A-524A-D780-1AE0-A9556AF392BF}"/>
              </a:ext>
            </a:extLst>
          </p:cNvPr>
          <p:cNvSpPr>
            <a:spLocks noGrp="1"/>
          </p:cNvSpPr>
          <p:nvPr>
            <p:ph type="title"/>
          </p:nvPr>
        </p:nvSpPr>
        <p:spPr/>
        <p:txBody>
          <a:bodyPr/>
          <a:lstStyle/>
          <a:p>
            <a:r>
              <a:rPr lang="en-US" dirty="0"/>
              <a:t>Key concepts</a:t>
            </a:r>
          </a:p>
        </p:txBody>
      </p:sp>
      <p:sp>
        <p:nvSpPr>
          <p:cNvPr id="4" name="Content Placeholder 3">
            <a:extLst>
              <a:ext uri="{FF2B5EF4-FFF2-40B4-BE49-F238E27FC236}">
                <a16:creationId xmlns:a16="http://schemas.microsoft.com/office/drawing/2014/main" id="{619A2BEB-C43F-D266-8003-1B88AD52C947}"/>
              </a:ext>
            </a:extLst>
          </p:cNvPr>
          <p:cNvSpPr>
            <a:spLocks noGrp="1"/>
          </p:cNvSpPr>
          <p:nvPr>
            <p:ph idx="1"/>
          </p:nvPr>
        </p:nvSpPr>
        <p:spPr/>
        <p:txBody>
          <a:bodyPr/>
          <a:lstStyle/>
          <a:p>
            <a:pPr>
              <a:buFont typeface="Arial" panose="020B0604020202020204" pitchFamily="34" charset="0"/>
              <a:buChar char="•"/>
            </a:pPr>
            <a:r>
              <a:rPr lang="en-US" b="1" dirty="0"/>
              <a:t>Observational identity</a:t>
            </a:r>
            <a:r>
              <a:rPr lang="en-US" dirty="0"/>
              <a:t>: </a:t>
            </a:r>
            <a:r>
              <a:rPr lang="en-GB" dirty="0"/>
              <a:t>Variables (possibly multiple) that uniquely define each observation.</a:t>
            </a:r>
          </a:p>
          <a:p>
            <a:pPr>
              <a:buFont typeface="Arial" panose="020B0604020202020204" pitchFamily="34" charset="0"/>
              <a:buChar char="•"/>
            </a:pPr>
            <a:r>
              <a:rPr lang="en-US" b="1" dirty="0"/>
              <a:t>Unit of analysis: </a:t>
            </a:r>
            <a:r>
              <a:rPr lang="en-GB" dirty="0"/>
              <a:t>The level at which observations should be organized and interpreted.</a:t>
            </a:r>
            <a:endParaRPr lang="en-US" b="1" dirty="0"/>
          </a:p>
          <a:p>
            <a:pPr>
              <a:buFont typeface="Arial" panose="020B0604020202020204" pitchFamily="34" charset="0"/>
              <a:buChar char="•"/>
            </a:pPr>
            <a:r>
              <a:rPr lang="en-US" b="1" dirty="0"/>
              <a:t>Replicability: </a:t>
            </a:r>
            <a:r>
              <a:rPr lang="en-GB" dirty="0"/>
              <a:t>Code produces the same results given the same data and conditions.</a:t>
            </a:r>
            <a:endParaRPr lang="en-US" dirty="0"/>
          </a:p>
          <a:p>
            <a:pPr>
              <a:buFont typeface="Arial" panose="020B0604020202020204" pitchFamily="34" charset="0"/>
              <a:buChar char="•"/>
            </a:pPr>
            <a:r>
              <a:rPr lang="en-US" b="1" dirty="0"/>
              <a:t>Documentation: </a:t>
            </a:r>
            <a:r>
              <a:rPr lang="en-US" dirty="0"/>
              <a:t>Code can be easily understood by others</a:t>
            </a:r>
          </a:p>
          <a:p>
            <a:pPr>
              <a:buFont typeface="Arial" panose="020B0604020202020204" pitchFamily="34" charset="0"/>
              <a:buChar char="•"/>
            </a:pPr>
            <a:r>
              <a:rPr lang="en-US" b="1" dirty="0"/>
              <a:t>Assumptions:</a:t>
            </a:r>
            <a:r>
              <a:rPr lang="en-US" dirty="0"/>
              <a:t> </a:t>
            </a:r>
            <a:r>
              <a:rPr lang="en-GB" dirty="0"/>
              <a:t>Choices and constraints made when putting data together</a:t>
            </a:r>
            <a:r>
              <a:rPr lang="en-US" dirty="0"/>
              <a:t> </a:t>
            </a:r>
          </a:p>
          <a:p>
            <a:pPr>
              <a:buFont typeface="Arial" panose="020B0604020202020204" pitchFamily="34" charset="0"/>
              <a:buChar char="•"/>
            </a:pPr>
            <a:r>
              <a:rPr lang="en-US" b="1" dirty="0"/>
              <a:t>Validation: </a:t>
            </a:r>
            <a:r>
              <a:rPr lang="en-GB" dirty="0"/>
              <a:t>Evidence that the data and transformations are plausible and correct</a:t>
            </a:r>
            <a:r>
              <a:rPr lang="en-US" dirty="0"/>
              <a:t> </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3002295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 data structures</a:t>
            </a:r>
          </a:p>
        </p:txBody>
      </p:sp>
      <p:sp>
        <p:nvSpPr>
          <p:cNvPr id="3" name="Content Placeholder 2"/>
          <p:cNvSpPr>
            <a:spLocks noGrp="1"/>
          </p:cNvSpPr>
          <p:nvPr>
            <p:ph idx="1"/>
          </p:nvPr>
        </p:nvSpPr>
        <p:spPr/>
        <p:txBody>
          <a:bodyPr/>
          <a:lstStyle/>
          <a:p>
            <a:r>
              <a:rPr lang="en-US" dirty="0"/>
              <a:t>One-dimensional data</a:t>
            </a:r>
          </a:p>
          <a:p>
            <a:pPr lvl="1"/>
            <a:r>
              <a:rPr lang="en-US" dirty="0"/>
              <a:t>Time-series or cross-section data</a:t>
            </a:r>
          </a:p>
          <a:p>
            <a:r>
              <a:rPr lang="en-US" dirty="0"/>
              <a:t>Two-dimensional data</a:t>
            </a:r>
          </a:p>
          <a:p>
            <a:pPr lvl="1"/>
            <a:r>
              <a:rPr lang="en-US" dirty="0"/>
              <a:t>Panel data or cross-section, time-series data</a:t>
            </a:r>
          </a:p>
          <a:p>
            <a:r>
              <a:rPr lang="en-US" dirty="0"/>
              <a:t>Three-dimensional data</a:t>
            </a:r>
          </a:p>
          <a:p>
            <a:pPr lvl="1"/>
            <a:r>
              <a:rPr lang="en-US" dirty="0"/>
              <a:t>Panel data at disaggregated level</a:t>
            </a:r>
          </a:p>
          <a:p>
            <a:pPr lvl="2"/>
            <a:r>
              <a:rPr lang="en-US" dirty="0"/>
              <a:t>Subnational data by country over time</a:t>
            </a:r>
          </a:p>
          <a:p>
            <a:pPr lvl="2"/>
            <a:r>
              <a:rPr lang="en-US" dirty="0"/>
              <a:t>Product level imports or exports by country over time</a:t>
            </a:r>
          </a:p>
        </p:txBody>
      </p:sp>
    </p:spTree>
    <p:extLst>
      <p:ext uri="{BB962C8B-B14F-4D97-AF65-F5344CB8AC3E}">
        <p14:creationId xmlns:p14="http://schemas.microsoft.com/office/powerpoint/2010/main" val="2819276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 - numeric</a:t>
            </a:r>
          </a:p>
        </p:txBody>
      </p:sp>
      <p:sp>
        <p:nvSpPr>
          <p:cNvPr id="5" name="Content Placeholder 4"/>
          <p:cNvSpPr>
            <a:spLocks noGrp="1"/>
          </p:cNvSpPr>
          <p:nvPr>
            <p:ph idx="1"/>
          </p:nvPr>
        </p:nvSpPr>
        <p:spPr>
          <a:xfrm>
            <a:off x="1058011" y="1737360"/>
            <a:ext cx="10058400" cy="4023360"/>
          </a:xfrm>
        </p:spPr>
        <p:txBody>
          <a:bodyPr/>
          <a:lstStyle/>
          <a:p>
            <a:endParaRPr lang="en-US"/>
          </a:p>
        </p:txBody>
      </p:sp>
      <p:pic>
        <p:nvPicPr>
          <p:cNvPr id="6" name="Content Placeholder 3" descr="us1962.pdf - Adobe Acrobat Reader DC"/>
          <p:cNvPicPr>
            <a:picLocks noChangeAspect="1"/>
          </p:cNvPicPr>
          <p:nvPr/>
        </p:nvPicPr>
        <p:blipFill rotWithShape="1">
          <a:blip r:embed="rId3">
            <a:extLst>
              <a:ext uri="{28A0092B-C50C-407E-A947-70E740481C1C}">
                <a14:useLocalDpi xmlns:a14="http://schemas.microsoft.com/office/drawing/2010/main" val="0"/>
              </a:ext>
            </a:extLst>
          </a:blip>
          <a:srcRect l="1737" t="12694" r="-308" b="49459"/>
          <a:stretch/>
        </p:blipFill>
        <p:spPr>
          <a:xfrm>
            <a:off x="1097280" y="2049266"/>
            <a:ext cx="10177520" cy="3399548"/>
          </a:xfrm>
          <a:prstGeom prst="rect">
            <a:avLst/>
          </a:prstGeom>
        </p:spPr>
      </p:pic>
      <p:sp>
        <p:nvSpPr>
          <p:cNvPr id="7" name="Footer Placeholder 3"/>
          <p:cNvSpPr txBox="1">
            <a:spLocks/>
          </p:cNvSpPr>
          <p:nvPr/>
        </p:nvSpPr>
        <p:spPr>
          <a:xfrm>
            <a:off x="112197" y="6459785"/>
            <a:ext cx="575567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dirty="0"/>
              <a:t>Lesson 1 - Organizing data</a:t>
            </a:r>
          </a:p>
        </p:txBody>
      </p:sp>
    </p:spTree>
    <p:extLst>
      <p:ext uri="{BB962C8B-B14F-4D97-AF65-F5344CB8AC3E}">
        <p14:creationId xmlns:p14="http://schemas.microsoft.com/office/powerpoint/2010/main" val="3124331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transformed</a:t>
            </a:r>
          </a:p>
        </p:txBody>
      </p:sp>
      <p:graphicFrame>
        <p:nvGraphicFramePr>
          <p:cNvPr id="4" name="Content Placeholder 3"/>
          <p:cNvGraphicFramePr>
            <a:graphicFrameLocks noGrp="1"/>
          </p:cNvGraphicFramePr>
          <p:nvPr>
            <p:ph idx="1"/>
          </p:nvPr>
        </p:nvGraphicFramePr>
        <p:xfrm>
          <a:off x="1097280" y="2042247"/>
          <a:ext cx="9903229" cy="3926214"/>
        </p:xfrm>
        <a:graphic>
          <a:graphicData uri="http://schemas.openxmlformats.org/drawingml/2006/table">
            <a:tbl>
              <a:tblPr>
                <a:tableStyleId>{5C22544A-7EE6-4342-B048-85BDC9FD1C3A}</a:tableStyleId>
              </a:tblPr>
              <a:tblGrid>
                <a:gridCol w="1344009">
                  <a:extLst>
                    <a:ext uri="{9D8B030D-6E8A-4147-A177-3AD203B41FA5}">
                      <a16:colId xmlns:a16="http://schemas.microsoft.com/office/drawing/2014/main" val="73481244"/>
                    </a:ext>
                  </a:extLst>
                </a:gridCol>
                <a:gridCol w="4631987">
                  <a:extLst>
                    <a:ext uri="{9D8B030D-6E8A-4147-A177-3AD203B41FA5}">
                      <a16:colId xmlns:a16="http://schemas.microsoft.com/office/drawing/2014/main" val="1976581499"/>
                    </a:ext>
                  </a:extLst>
                </a:gridCol>
                <a:gridCol w="2381093">
                  <a:extLst>
                    <a:ext uri="{9D8B030D-6E8A-4147-A177-3AD203B41FA5}">
                      <a16:colId xmlns:a16="http://schemas.microsoft.com/office/drawing/2014/main" val="425775752"/>
                    </a:ext>
                  </a:extLst>
                </a:gridCol>
                <a:gridCol w="1546140">
                  <a:extLst>
                    <a:ext uri="{9D8B030D-6E8A-4147-A177-3AD203B41FA5}">
                      <a16:colId xmlns:a16="http://schemas.microsoft.com/office/drawing/2014/main" val="3025017858"/>
                    </a:ext>
                  </a:extLst>
                </a:gridCol>
              </a:tblGrid>
              <a:tr h="180975">
                <a:tc>
                  <a:txBody>
                    <a:bodyPr/>
                    <a:lstStyle/>
                    <a:p>
                      <a:pPr algn="l" fontAlgn="b"/>
                      <a:r>
                        <a:rPr lang="en-US" sz="1400" b="1" i="0" u="none" strike="noStrike" dirty="0">
                          <a:solidFill>
                            <a:srgbClr val="000000"/>
                          </a:solidFill>
                          <a:effectLst/>
                          <a:latin typeface="Calibri" panose="020F0502020204030204" pitchFamily="34" charset="0"/>
                        </a:rPr>
                        <a:t>Commodity</a:t>
                      </a:r>
                    </a:p>
                  </a:txBody>
                  <a:tcPr marL="4763" marR="4763" marT="4763" marB="0" anchor="b"/>
                </a:tc>
                <a:tc>
                  <a:txBody>
                    <a:bodyPr/>
                    <a:lstStyle/>
                    <a:p>
                      <a:pPr algn="l" fontAlgn="b"/>
                      <a:r>
                        <a:rPr lang="en-US" sz="1400" b="1" i="0" u="none" strike="noStrike" dirty="0">
                          <a:solidFill>
                            <a:srgbClr val="000000"/>
                          </a:solidFill>
                          <a:effectLst/>
                          <a:latin typeface="Calibri" panose="020F0502020204030204" pitchFamily="34" charset="0"/>
                        </a:rPr>
                        <a:t>Description</a:t>
                      </a:r>
                    </a:p>
                  </a:txBody>
                  <a:tcPr marL="4763" marR="4763" marT="4763" marB="0" anchor="b"/>
                </a:tc>
                <a:tc>
                  <a:txBody>
                    <a:bodyPr/>
                    <a:lstStyle/>
                    <a:p>
                      <a:pPr algn="l" fontAlgn="b"/>
                      <a:r>
                        <a:rPr lang="en-US" sz="1400" b="1" i="0" u="none" strike="noStrike" dirty="0">
                          <a:solidFill>
                            <a:srgbClr val="000000"/>
                          </a:solidFill>
                          <a:effectLst/>
                          <a:latin typeface="Calibri" panose="020F0502020204030204" pitchFamily="34" charset="0"/>
                        </a:rPr>
                        <a:t>Country</a:t>
                      </a:r>
                    </a:p>
                  </a:txBody>
                  <a:tcPr marL="4763" marR="4763" marT="4763" marB="0" anchor="b"/>
                </a:tc>
                <a:tc>
                  <a:txBody>
                    <a:bodyPr/>
                    <a:lstStyle/>
                    <a:p>
                      <a:pPr algn="r" fontAlgn="b"/>
                      <a:r>
                        <a:rPr lang="en-US" sz="1400" b="1" i="0" u="none" strike="noStrike" dirty="0">
                          <a:solidFill>
                            <a:srgbClr val="000000"/>
                          </a:solidFill>
                          <a:effectLst/>
                          <a:latin typeface="Calibri" panose="020F0502020204030204" pitchFamily="34" charset="0"/>
                        </a:rPr>
                        <a:t>Value</a:t>
                      </a:r>
                    </a:p>
                  </a:txBody>
                  <a:tcPr marL="4763" marR="4763" marT="4763" marB="0" anchor="b"/>
                </a:tc>
                <a:extLst>
                  <a:ext uri="{0D108BD9-81ED-4DB2-BD59-A6C34878D82A}">
                    <a16:rowId xmlns:a16="http://schemas.microsoft.com/office/drawing/2014/main" val="149140047"/>
                  </a:ext>
                </a:extLst>
              </a:tr>
              <a:tr h="180975">
                <a:tc>
                  <a:txBody>
                    <a:bodyPr/>
                    <a:lstStyle/>
                    <a:p>
                      <a:pPr algn="l" fontAlgn="b"/>
                      <a:r>
                        <a:rPr lang="en-US" sz="1400" u="none" strike="noStrike" dirty="0">
                          <a:effectLst/>
                        </a:rPr>
                        <a:t>3913300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b="0" i="0" u="none" strike="noStrike" dirty="0">
                          <a:solidFill>
                            <a:srgbClr val="000000"/>
                          </a:solidFill>
                          <a:effectLst/>
                          <a:latin typeface="Calibri" panose="020F0502020204030204" pitchFamily="34" charset="0"/>
                        </a:rPr>
                        <a:t>Hemp hats,</a:t>
                      </a:r>
                      <a:r>
                        <a:rPr lang="en-US" sz="1400" b="0" i="0" u="none" strike="noStrike" baseline="0" dirty="0">
                          <a:solidFill>
                            <a:srgbClr val="000000"/>
                          </a:solidFill>
                          <a:effectLst/>
                          <a:latin typeface="Calibri" panose="020F0502020204030204" pitchFamily="34" charset="0"/>
                        </a:rPr>
                        <a:t> unfinished, bleached, dyed, </a:t>
                      </a:r>
                      <a:r>
                        <a:rPr lang="en-US" sz="1400" b="0" i="0" u="none" strike="noStrike" baseline="0" dirty="0" err="1">
                          <a:solidFill>
                            <a:srgbClr val="000000"/>
                          </a:solidFill>
                          <a:effectLst/>
                          <a:latin typeface="Calibri" panose="020F0502020204030204" pitchFamily="34" charset="0"/>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HAITI</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dirty="0">
                          <a:effectLst/>
                        </a:rPr>
                        <a:t>672</a:t>
                      </a:r>
                      <a:endParaRPr lang="en-US" sz="14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757655791"/>
                  </a:ext>
                </a:extLst>
              </a:tr>
              <a:tr h="180975">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Hemp hats, unfinished,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ITALY</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1292</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069749442"/>
                  </a:ext>
                </a:extLst>
              </a:tr>
              <a:tr h="180975">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Hemp hats, unfinished, bleached, dyed,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JAPAN</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2776</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285710398"/>
                  </a:ext>
                </a:extLst>
              </a:tr>
              <a:tr h="180975">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Hemp hats, unfinished, bleached, dyed,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WORLD</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4740</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120319402"/>
                  </a:ext>
                </a:extLst>
              </a:tr>
              <a:tr h="180975">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lang="en-US" sz="1400" b="0" i="0" u="none" strike="noStrike" dirty="0">
                          <a:solidFill>
                            <a:srgbClr val="000000"/>
                          </a:solidFill>
                          <a:effectLst/>
                          <a:latin typeface="Calibri" panose="020F0502020204030204" pitchFamily="34" charset="0"/>
                        </a:rPr>
                        <a:t>Natural fiber hats,</a:t>
                      </a:r>
                      <a:r>
                        <a:rPr lang="en-US" sz="1400" b="0" i="0" u="none" strike="noStrike" baseline="0" dirty="0">
                          <a:solidFill>
                            <a:srgbClr val="000000"/>
                          </a:solidFill>
                          <a:effectLst/>
                          <a:latin typeface="Calibri" panose="020F0502020204030204" pitchFamily="34" charset="0"/>
                        </a:rPr>
                        <a:t> </a:t>
                      </a:r>
                      <a:r>
                        <a:rPr lang="en-US" sz="1400" b="0" i="0" u="none" strike="noStrike" baseline="0" dirty="0" err="1">
                          <a:solidFill>
                            <a:srgbClr val="000000"/>
                          </a:solidFill>
                          <a:effectLst/>
                          <a:latin typeface="Calibri" panose="020F0502020204030204" pitchFamily="34" charset="0"/>
                        </a:rPr>
                        <a:t>nes</a:t>
                      </a:r>
                      <a:r>
                        <a:rPr lang="en-US" sz="1400" b="0" i="0" u="none" strike="noStrike" baseline="0" dirty="0">
                          <a:solidFill>
                            <a:srgbClr val="000000"/>
                          </a:solidFill>
                          <a:effectLst/>
                          <a:latin typeface="Calibri" panose="020F0502020204030204" pitchFamily="34" charset="0"/>
                        </a:rPr>
                        <a:t>, </a:t>
                      </a:r>
                      <a:r>
                        <a:rPr lang="en-US" sz="1400" b="0" i="0" u="none" strike="noStrike" baseline="0" dirty="0" err="1">
                          <a:solidFill>
                            <a:srgbClr val="000000"/>
                          </a:solidFill>
                          <a:effectLst/>
                          <a:latin typeface="Calibri" panose="020F0502020204030204" pitchFamily="34" charset="0"/>
                        </a:rPr>
                        <a:t>unfin</a:t>
                      </a:r>
                      <a:r>
                        <a:rPr lang="en-US" sz="1400" b="0" i="0" u="none" strike="noStrike" baseline="0" dirty="0">
                          <a:solidFill>
                            <a:srgbClr val="000000"/>
                          </a:solidFill>
                          <a:effectLst/>
                          <a:latin typeface="Calibri" panose="020F0502020204030204" pitchFamily="34" charset="0"/>
                        </a:rPr>
                        <a:t>, not bleached, dyed, </a:t>
                      </a:r>
                      <a:r>
                        <a:rPr lang="en-US" sz="1400" b="0" i="0" u="none" strike="noStrike" baseline="0" dirty="0" err="1">
                          <a:solidFill>
                            <a:srgbClr val="000000"/>
                          </a:solidFill>
                          <a:effectLst/>
                          <a:latin typeface="Calibri" panose="020F0502020204030204" pitchFamily="34" charset="0"/>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MEXICO</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3648</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448610628"/>
                  </a:ext>
                </a:extLst>
              </a:tr>
              <a:tr h="180975">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DOM REP</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185</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81275764"/>
                  </a:ext>
                </a:extLst>
              </a:tr>
              <a:tr h="180975">
                <a:tc>
                  <a:txBody>
                    <a:bodyPr/>
                    <a:lstStyle/>
                    <a:p>
                      <a:pPr algn="l" fontAlgn="b"/>
                      <a:r>
                        <a:rPr lang="en-US" sz="1400" u="none" strike="noStrike" dirty="0">
                          <a:effectLst/>
                        </a:rPr>
                        <a:t>3913400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ITALY</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4419</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878765367"/>
                  </a:ext>
                </a:extLst>
              </a:tr>
              <a:tr h="180975">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KOR REP</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204</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827886465"/>
                  </a:ext>
                </a:extLst>
              </a:tr>
              <a:tr h="180975">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TAIWAN</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7924</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470427536"/>
                  </a:ext>
                </a:extLst>
              </a:tr>
              <a:tr h="180975">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JAPAN</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10124</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135503844"/>
                  </a:ext>
                </a:extLst>
              </a:tr>
              <a:tr h="180975">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Natural fiber hats,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nes</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unfin</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not bleached, dyed,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WORLD</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26504</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740938156"/>
                  </a:ext>
                </a:extLst>
              </a:tr>
              <a:tr h="180975">
                <a:tc>
                  <a:txBody>
                    <a:bodyPr/>
                    <a:lstStyle/>
                    <a:p>
                      <a:pPr algn="l" fontAlgn="b"/>
                      <a:r>
                        <a:rPr lang="en-US" sz="1400" u="none" strike="noStrike">
                          <a:effectLst/>
                        </a:rPr>
                        <a:t>3913500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lang="en-US" sz="1400" b="0" i="0" u="none" strike="noStrike" dirty="0">
                          <a:solidFill>
                            <a:srgbClr val="000000"/>
                          </a:solidFill>
                          <a:effectLst/>
                          <a:latin typeface="Calibri" panose="020F0502020204030204" pitchFamily="34" charset="0"/>
                        </a:rPr>
                        <a:t>Natural fiber hats </a:t>
                      </a:r>
                      <a:r>
                        <a:rPr lang="en-US" sz="1400" b="0" i="0" u="none" strike="noStrike" dirty="0" err="1">
                          <a:solidFill>
                            <a:srgbClr val="000000"/>
                          </a:solidFill>
                          <a:effectLst/>
                          <a:latin typeface="Calibri" panose="020F0502020204030204" pitchFamily="34" charset="0"/>
                        </a:rPr>
                        <a:t>nes</a:t>
                      </a:r>
                      <a:r>
                        <a:rPr lang="en-US" sz="1400" b="0" i="0" u="none" strike="noStrike" dirty="0">
                          <a:solidFill>
                            <a:srgbClr val="000000"/>
                          </a:solidFill>
                          <a:effectLst/>
                          <a:latin typeface="Calibri" panose="020F0502020204030204" pitchFamily="34" charset="0"/>
                        </a:rPr>
                        <a:t>, </a:t>
                      </a:r>
                      <a:r>
                        <a:rPr lang="en-US" sz="1400" b="0" i="0" u="none" strike="noStrike" dirty="0" err="1">
                          <a:solidFill>
                            <a:srgbClr val="000000"/>
                          </a:solidFill>
                          <a:effectLst/>
                          <a:latin typeface="Calibri" panose="020F0502020204030204" pitchFamily="34" charset="0"/>
                        </a:rPr>
                        <a:t>uniinished</a:t>
                      </a:r>
                      <a:r>
                        <a:rPr lang="en-US" sz="1400" b="0" i="0" u="none" strike="noStrike" baseline="0" dirty="0">
                          <a:solidFill>
                            <a:srgbClr val="000000"/>
                          </a:solidFill>
                          <a:effectLst/>
                          <a:latin typeface="Calibri" panose="020F0502020204030204" pitchFamily="34" charset="0"/>
                        </a:rPr>
                        <a: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HAITI</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380</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626535130"/>
                  </a:ext>
                </a:extLst>
              </a:tr>
              <a:tr h="180975">
                <a:tc>
                  <a:txBody>
                    <a:bodyPr/>
                    <a:lstStyle/>
                    <a:p>
                      <a:pPr algn="l" fontAlgn="b"/>
                      <a:r>
                        <a:rPr lang="en-US" sz="1400" u="none" strike="noStrike">
                          <a:effectLst/>
                        </a:rPr>
                        <a:t>3913500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uniinished, bleached, dyed, etc.</a:t>
                      </a: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4763" marR="4763" marT="4763" marB="0" anchor="b"/>
                </a:tc>
                <a:tc>
                  <a:txBody>
                    <a:bodyPr/>
                    <a:lstStyle/>
                    <a:p>
                      <a:pPr algn="l" fontAlgn="b"/>
                      <a:r>
                        <a:rPr lang="en-US" sz="1400" u="none" strike="noStrike">
                          <a:effectLst/>
                        </a:rPr>
                        <a:t>ITALY</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98958</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913926734"/>
                  </a:ext>
                </a:extLst>
              </a:tr>
              <a:tr h="180975">
                <a:tc>
                  <a:txBody>
                    <a:bodyPr/>
                    <a:lstStyle/>
                    <a:p>
                      <a:pPr algn="l" fontAlgn="b"/>
                      <a:r>
                        <a:rPr lang="en-US" sz="1400" u="none" strike="noStrike">
                          <a:effectLst/>
                        </a:rPr>
                        <a:t>3913500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uniinished, bleached, dyed, etc.</a:t>
                      </a: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4763" marR="4763" marT="4763" marB="0" anchor="b"/>
                </a:tc>
                <a:tc>
                  <a:txBody>
                    <a:bodyPr/>
                    <a:lstStyle/>
                    <a:p>
                      <a:pPr algn="l" fontAlgn="b"/>
                      <a:r>
                        <a:rPr lang="en-US" sz="1400" u="none" strike="noStrike">
                          <a:effectLst/>
                        </a:rPr>
                        <a:t>HG KONG</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798</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873562821"/>
                  </a:ext>
                </a:extLst>
              </a:tr>
              <a:tr h="180975">
                <a:tc>
                  <a:txBody>
                    <a:bodyPr/>
                    <a:lstStyle/>
                    <a:p>
                      <a:pPr algn="l" fontAlgn="b"/>
                      <a:r>
                        <a:rPr lang="en-US" sz="1400" u="none" strike="noStrike">
                          <a:effectLst/>
                        </a:rPr>
                        <a:t>3913500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uniinished, bleached, dyed, etc.</a:t>
                      </a: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4763" marR="4763" marT="4763" marB="0" anchor="b"/>
                </a:tc>
                <a:tc>
                  <a:txBody>
                    <a:bodyPr/>
                    <a:lstStyle/>
                    <a:p>
                      <a:pPr algn="l" fontAlgn="b"/>
                      <a:r>
                        <a:rPr lang="en-US" sz="1400" u="none" strike="noStrike">
                          <a:effectLst/>
                        </a:rPr>
                        <a:t>TAIWAN</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516</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582660942"/>
                  </a:ext>
                </a:extLst>
              </a:tr>
              <a:tr h="180975">
                <a:tc>
                  <a:txBody>
                    <a:bodyPr/>
                    <a:lstStyle/>
                    <a:p>
                      <a:pPr algn="l" fontAlgn="b"/>
                      <a:r>
                        <a:rPr lang="en-US" sz="1400" u="none" strike="noStrike">
                          <a:effectLst/>
                        </a:rPr>
                        <a:t>3913500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uniinished, bleached, dyed, etc.</a:t>
                      </a: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4763" marR="4763" marT="4763" marB="0" anchor="b"/>
                </a:tc>
                <a:tc>
                  <a:txBody>
                    <a:bodyPr/>
                    <a:lstStyle/>
                    <a:p>
                      <a:pPr algn="l" fontAlgn="b"/>
                      <a:r>
                        <a:rPr lang="en-US" sz="1400" u="none" strike="noStrike">
                          <a:effectLst/>
                        </a:rPr>
                        <a:t>JAPAN</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35106</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537556165"/>
                  </a:ext>
                </a:extLst>
              </a:tr>
              <a:tr h="180975">
                <a:tc>
                  <a:txBody>
                    <a:bodyPr/>
                    <a:lstStyle/>
                    <a:p>
                      <a:pPr algn="l" fontAlgn="b"/>
                      <a:r>
                        <a:rPr lang="en-US" sz="1400" u="none" strike="noStrike">
                          <a:effectLst/>
                        </a:rPr>
                        <a:t>3913500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Natural fiber hats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nes</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uniinished</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bleached, dyed, etc.</a:t>
                      </a:r>
                    </a:p>
                  </a:txBody>
                  <a:tcPr marL="4763" marR="4763" marT="4763" marB="0" anchor="b"/>
                </a:tc>
                <a:tc>
                  <a:txBody>
                    <a:bodyPr/>
                    <a:lstStyle/>
                    <a:p>
                      <a:pPr algn="l" fontAlgn="b"/>
                      <a:r>
                        <a:rPr lang="en-US" sz="1400" u="none" strike="noStrike">
                          <a:effectLst/>
                        </a:rPr>
                        <a:t>WORLD</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dirty="0">
                          <a:effectLst/>
                        </a:rPr>
                        <a:t>135758</a:t>
                      </a:r>
                      <a:endParaRPr lang="en-US" sz="14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073720909"/>
                  </a:ext>
                </a:extLst>
              </a:tr>
            </a:tbl>
          </a:graphicData>
        </a:graphic>
      </p:graphicFrame>
      <p:sp>
        <p:nvSpPr>
          <p:cNvPr id="5" name="Footer Placeholder 3"/>
          <p:cNvSpPr txBox="1">
            <a:spLocks/>
          </p:cNvSpPr>
          <p:nvPr/>
        </p:nvSpPr>
        <p:spPr>
          <a:xfrm>
            <a:off x="112197" y="6459785"/>
            <a:ext cx="575567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dirty="0"/>
              <a:t>Lesson 1 - Organizing data</a:t>
            </a:r>
          </a:p>
        </p:txBody>
      </p:sp>
    </p:spTree>
    <p:extLst>
      <p:ext uri="{BB962C8B-B14F-4D97-AF65-F5344CB8AC3E}">
        <p14:creationId xmlns:p14="http://schemas.microsoft.com/office/powerpoint/2010/main" val="3799653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 - Qualitative</a:t>
            </a:r>
          </a:p>
        </p:txBody>
      </p:sp>
      <p:sp>
        <p:nvSpPr>
          <p:cNvPr id="3" name="Content Placeholder 2"/>
          <p:cNvSpPr>
            <a:spLocks noGrp="1"/>
          </p:cNvSpPr>
          <p:nvPr>
            <p:ph idx="1"/>
          </p:nvPr>
        </p:nvSpPr>
        <p:spPr>
          <a:xfrm>
            <a:off x="838200" y="1690688"/>
            <a:ext cx="10515600" cy="4486275"/>
          </a:xfrm>
        </p:spPr>
        <p:txBody>
          <a:bodyPr>
            <a:normAutofit fontScale="77500" lnSpcReduction="20000"/>
          </a:bodyPr>
          <a:lstStyle/>
          <a:p>
            <a:r>
              <a:rPr lang="en-US" sz="3800" b="1" dirty="0"/>
              <a:t>Central bank independence</a:t>
            </a:r>
          </a:p>
          <a:p>
            <a:r>
              <a:rPr lang="en-US" b="1" dirty="0"/>
              <a:t>Chief Executive Officer (weight = .20)</a:t>
            </a:r>
            <a:endParaRPr lang="en-US" dirty="0"/>
          </a:p>
          <a:p>
            <a:r>
              <a:rPr lang="en-US" b="1" i="1" dirty="0"/>
              <a:t>Term of office</a:t>
            </a:r>
            <a:br>
              <a:rPr lang="en-US" b="1" i="1" dirty="0"/>
            </a:br>
            <a:r>
              <a:rPr lang="en-US" i="1" dirty="0"/>
              <a:t>Swaziland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a:t>
            </a:r>
            <a:br>
              <a:rPr lang="en-US" dirty="0"/>
            </a:br>
            <a:r>
              <a:rPr lang="en-US" dirty="0"/>
              <a:t>The governor and the deputy governor shall be persons of recognized qualification and experience in financial matters, and shall be appointed for a term not exceeding five years. (Added in 2004)</a:t>
            </a:r>
            <a:br>
              <a:rPr lang="en-US" dirty="0"/>
            </a:br>
            <a:r>
              <a:rPr lang="en-US" dirty="0"/>
              <a:t>Subject to this Order, the governor and the deputy governor shall be appointed on such terms and conditions as may be set out in their letters of appointment, and shall be eligible for reappointment. (Section 11)  (Coded as .5 from 2004)</a:t>
            </a:r>
          </a:p>
          <a:p>
            <a:r>
              <a:rPr lang="en-US" b="1" i="1" dirty="0"/>
              <a:t>Who appoints CEO?</a:t>
            </a:r>
            <a:br>
              <a:rPr lang="en-US" b="1" i="1" dirty="0"/>
            </a:br>
            <a:r>
              <a:rPr lang="en-US" i="1" dirty="0"/>
              <a:t>Swaziland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 (Coded as 0)</a:t>
            </a:r>
          </a:p>
          <a:p>
            <a:r>
              <a:rPr lang="en-US" b="1" i="1" dirty="0"/>
              <a:t>Dismissal</a:t>
            </a:r>
            <a:br>
              <a:rPr lang="en-US" b="1" i="1" dirty="0"/>
            </a:br>
            <a:r>
              <a:rPr lang="en-US" i="1" dirty="0"/>
              <a:t>Swaziland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 (Coded as 0)</a:t>
            </a:r>
          </a:p>
          <a:p>
            <a:endParaRPr lang="en-US" dirty="0"/>
          </a:p>
        </p:txBody>
      </p:sp>
    </p:spTree>
    <p:extLst>
      <p:ext uri="{BB962C8B-B14F-4D97-AF65-F5344CB8AC3E}">
        <p14:creationId xmlns:p14="http://schemas.microsoft.com/office/powerpoint/2010/main" val="1108028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Coding: Central bank independence</a:t>
            </a:r>
          </a:p>
        </p:txBody>
      </p:sp>
      <p:sp>
        <p:nvSpPr>
          <p:cNvPr id="3" name="Content Placeholder 2"/>
          <p:cNvSpPr>
            <a:spLocks noGrp="1"/>
          </p:cNvSpPr>
          <p:nvPr>
            <p:ph idx="1"/>
          </p:nvPr>
        </p:nvSpPr>
        <p:spPr>
          <a:xfrm>
            <a:off x="838200" y="1737360"/>
            <a:ext cx="5123688" cy="4439603"/>
          </a:xfrm>
        </p:spPr>
        <p:txBody>
          <a:bodyPr>
            <a:normAutofit fontScale="77500" lnSpcReduction="20000"/>
          </a:bodyPr>
          <a:lstStyle/>
          <a:p>
            <a:r>
              <a:rPr lang="en-US" b="1" dirty="0"/>
              <a:t>Chief executive officer (CEO) 		0.20 </a:t>
            </a:r>
          </a:p>
          <a:p>
            <a:pPr lvl="1"/>
            <a:r>
              <a:rPr lang="en-US" i="1" dirty="0"/>
              <a:t>a. Term of office </a:t>
            </a:r>
          </a:p>
          <a:p>
            <a:pPr marL="914400" lvl="2" indent="0">
              <a:buNone/>
            </a:pPr>
            <a:r>
              <a:rPr lang="en-US" dirty="0"/>
              <a:t>Over 8 years 						1.00 </a:t>
            </a:r>
          </a:p>
          <a:p>
            <a:pPr marL="914400" lvl="2" indent="0">
              <a:buNone/>
            </a:pPr>
            <a:r>
              <a:rPr lang="en-US" dirty="0"/>
              <a:t>6 to 8 years 							0.75 </a:t>
            </a:r>
          </a:p>
          <a:p>
            <a:pPr marL="914400" lvl="2" indent="0">
              <a:buNone/>
            </a:pPr>
            <a:r>
              <a:rPr lang="en-US" dirty="0"/>
              <a:t>5 years 							0.50 </a:t>
            </a:r>
          </a:p>
          <a:p>
            <a:pPr marL="914400" lvl="2" indent="0">
              <a:buNone/>
            </a:pPr>
            <a:r>
              <a:rPr lang="en-US" dirty="0"/>
              <a:t>4 years 							0.25 </a:t>
            </a:r>
          </a:p>
          <a:p>
            <a:pPr marL="914400" lvl="2" indent="0">
              <a:buNone/>
            </a:pPr>
            <a:r>
              <a:rPr lang="en-US" dirty="0"/>
              <a:t>Under 4 years or at the discretion of appointer 	0.00 </a:t>
            </a:r>
          </a:p>
          <a:p>
            <a:pPr lvl="1"/>
            <a:r>
              <a:rPr lang="en-US" i="1" dirty="0"/>
              <a:t>b. Who appoints CEO? </a:t>
            </a:r>
          </a:p>
          <a:p>
            <a:pPr marL="914400" lvl="2" indent="0">
              <a:buNone/>
            </a:pPr>
            <a:r>
              <a:rPr lang="en-US" dirty="0"/>
              <a:t>Board of central bank 					1.00 </a:t>
            </a:r>
          </a:p>
          <a:p>
            <a:pPr marL="914400" lvl="2" indent="0">
              <a:buNone/>
            </a:pPr>
            <a:r>
              <a:rPr lang="en-US" dirty="0"/>
              <a:t>A council of the central bank board, executive branch, and legislative branch 			0.75 </a:t>
            </a:r>
          </a:p>
          <a:p>
            <a:pPr marL="914400" lvl="2" indent="0">
              <a:buNone/>
            </a:pPr>
            <a:r>
              <a:rPr lang="en-US" dirty="0"/>
              <a:t>Legislature 							0.50 </a:t>
            </a:r>
          </a:p>
          <a:p>
            <a:pPr marL="914400" lvl="2" indent="0">
              <a:buNone/>
            </a:pPr>
            <a:r>
              <a:rPr lang="en-US" dirty="0"/>
              <a:t>Executive collectively (council of ministers) 		0.25 </a:t>
            </a:r>
          </a:p>
          <a:p>
            <a:pPr marL="914400" lvl="2" indent="0">
              <a:buNone/>
            </a:pPr>
            <a:r>
              <a:rPr lang="en-US" dirty="0"/>
              <a:t>1 or 2 members of the executive branch 		0.00 </a:t>
            </a:r>
          </a:p>
        </p:txBody>
      </p:sp>
      <p:sp>
        <p:nvSpPr>
          <p:cNvPr id="4" name="Content Placeholder 2">
            <a:extLst>
              <a:ext uri="{FF2B5EF4-FFF2-40B4-BE49-F238E27FC236}">
                <a16:creationId xmlns:a16="http://schemas.microsoft.com/office/drawing/2014/main" id="{F364570D-0F99-A568-796B-DEA068D2FD6E}"/>
              </a:ext>
            </a:extLst>
          </p:cNvPr>
          <p:cNvSpPr txBox="1">
            <a:spLocks/>
          </p:cNvSpPr>
          <p:nvPr/>
        </p:nvSpPr>
        <p:spPr>
          <a:xfrm>
            <a:off x="5535168" y="1737360"/>
            <a:ext cx="6086856" cy="443960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b="1" dirty="0"/>
              <a:t>Chief executive officer (CEO) 	0.20 </a:t>
            </a:r>
          </a:p>
          <a:p>
            <a:pPr lvl="1"/>
            <a:r>
              <a:rPr lang="en-US" i="1" dirty="0"/>
              <a:t>c. Dismissal</a:t>
            </a:r>
            <a:r>
              <a:rPr lang="en-US" dirty="0"/>
              <a:t> </a:t>
            </a:r>
          </a:p>
          <a:p>
            <a:pPr marL="914400" lvl="2" indent="0">
              <a:buNone/>
            </a:pPr>
            <a:r>
              <a:rPr lang="en-US" dirty="0"/>
              <a:t>No provision for dismissal 				1.00 </a:t>
            </a:r>
          </a:p>
          <a:p>
            <a:pPr marL="914400" lvl="2" indent="0">
              <a:buNone/>
            </a:pPr>
            <a:r>
              <a:rPr lang="en-US" dirty="0"/>
              <a:t>Only for reasons not related to policy 	0.83 </a:t>
            </a:r>
          </a:p>
          <a:p>
            <a:pPr marL="914400" lvl="2" indent="0">
              <a:buNone/>
            </a:pPr>
            <a:r>
              <a:rPr lang="en-US" dirty="0"/>
              <a:t>At the discretion of central bank board 	0.67 </a:t>
            </a:r>
          </a:p>
          <a:p>
            <a:pPr marL="914400" lvl="2" indent="0">
              <a:buNone/>
            </a:pPr>
            <a:r>
              <a:rPr lang="en-US" dirty="0"/>
              <a:t>At legislature's discretion 				0.50 </a:t>
            </a:r>
          </a:p>
          <a:p>
            <a:pPr marL="914400" lvl="2" indent="0">
              <a:buNone/>
            </a:pPr>
            <a:r>
              <a:rPr lang="en-US" dirty="0"/>
              <a:t>Unconditional dismissal by legislature 	0.33 </a:t>
            </a:r>
          </a:p>
          <a:p>
            <a:pPr marL="914400" lvl="2" indent="0">
              <a:buNone/>
            </a:pPr>
            <a:r>
              <a:rPr lang="en-US" dirty="0"/>
              <a:t>At executive's discretion 				0.17 </a:t>
            </a:r>
          </a:p>
          <a:p>
            <a:pPr marL="914400" lvl="2" indent="0">
              <a:buNone/>
            </a:pPr>
            <a:r>
              <a:rPr lang="en-US" dirty="0"/>
              <a:t>Unconditional dismissal by executive 		0.00 </a:t>
            </a:r>
          </a:p>
        </p:txBody>
      </p:sp>
    </p:spTree>
    <p:extLst>
      <p:ext uri="{BB962C8B-B14F-4D97-AF65-F5344CB8AC3E}">
        <p14:creationId xmlns:p14="http://schemas.microsoft.com/office/powerpoint/2010/main" val="3890480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BED1C-2480-4AA3-AFDC-1236680B4B5C}"/>
              </a:ext>
            </a:extLst>
          </p:cNvPr>
          <p:cNvSpPr>
            <a:spLocks noGrp="1"/>
          </p:cNvSpPr>
          <p:nvPr>
            <p:ph type="title"/>
          </p:nvPr>
        </p:nvSpPr>
        <p:spPr/>
        <p:txBody>
          <a:bodyPr/>
          <a:lstStyle/>
          <a:p>
            <a:r>
              <a:rPr lang="en-US" dirty="0"/>
              <a:t>Text data</a:t>
            </a:r>
          </a:p>
        </p:txBody>
      </p:sp>
      <p:sp>
        <p:nvSpPr>
          <p:cNvPr id="3" name="Content Placeholder 2">
            <a:extLst>
              <a:ext uri="{FF2B5EF4-FFF2-40B4-BE49-F238E27FC236}">
                <a16:creationId xmlns:a16="http://schemas.microsoft.com/office/drawing/2014/main" id="{2436D76C-30D6-92F0-C549-57232FE2C90A}"/>
              </a:ext>
            </a:extLst>
          </p:cNvPr>
          <p:cNvSpPr>
            <a:spLocks noGrp="1"/>
          </p:cNvSpPr>
          <p:nvPr>
            <p:ph idx="1"/>
          </p:nvPr>
        </p:nvSpPr>
        <p:spPr/>
        <p:txBody>
          <a:bodyPr>
            <a:normAutofit fontScale="85000" lnSpcReduction="10000"/>
          </a:bodyPr>
          <a:lstStyle/>
          <a:p>
            <a:pPr marL="0" indent="0" fontAlgn="base">
              <a:buNone/>
            </a:pPr>
            <a:r>
              <a:rPr lang="en-US" b="1" dirty="0"/>
              <a:t>339. Memorandum From President Nixon to the Chairman of the Washington Special Actions Group (Kissinger)</a:t>
            </a:r>
            <a:r>
              <a:rPr lang="en-US" b="1" baseline="30000" dirty="0">
                <a:hlinkClick r:id="rId2"/>
              </a:rPr>
              <a:t>1</a:t>
            </a:r>
            <a:endParaRPr lang="en-US" b="1" dirty="0"/>
          </a:p>
          <a:p>
            <a:pPr marL="0" indent="0" fontAlgn="base">
              <a:buNone/>
            </a:pPr>
            <a:r>
              <a:rPr lang="en-US" dirty="0"/>
              <a:t>Upon the successful conclusion of U.S. ground operations in Cambodia, I want to re-emphasize to you and, through you, to the Washington Special Actions Group and the Departments concerned, that I place great emphasis on the need to redouble our efforts to provide appropriate military equipment and supplies to the Government of Cambodia.</a:t>
            </a:r>
          </a:p>
          <a:p>
            <a:pPr marL="0" indent="0" fontAlgn="base">
              <a:buNone/>
            </a:pPr>
            <a:r>
              <a:rPr lang="en-US" dirty="0"/>
              <a:t>I continue to believe that it is in our best interest to prevent Cambodia from falling under Communist control and I expect the Washington Special Actions Group to concentrate its efforts toward that end.</a:t>
            </a:r>
          </a:p>
          <a:p>
            <a:pPr marL="0" indent="0" fontAlgn="base">
              <a:buNone/>
            </a:pPr>
            <a:r>
              <a:rPr lang="en-US" dirty="0"/>
              <a:t>Termination of U.S. ground operations in Cambodia also underlines the desirability of maintaining maximum pressure on the enemy in Cambodia through U.S. and allied air efforts. For this reason, I want to reaffirm until further notice, all authorities heretofore promulgated for the conduct of U.S. air operations over Cambodia.</a:t>
            </a:r>
          </a:p>
          <a:p>
            <a:pPr marL="0" indent="0" fontAlgn="base">
              <a:buNone/>
            </a:pPr>
            <a:r>
              <a:rPr lang="en-US" dirty="0"/>
              <a:t>Richard Nixon</a:t>
            </a:r>
          </a:p>
          <a:p>
            <a:endParaRPr lang="en-US" dirty="0"/>
          </a:p>
        </p:txBody>
      </p:sp>
    </p:spTree>
    <p:extLst>
      <p:ext uri="{BB962C8B-B14F-4D97-AF65-F5344CB8AC3E}">
        <p14:creationId xmlns:p14="http://schemas.microsoft.com/office/powerpoint/2010/main" val="3863761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59A7-08CA-BAF3-B418-C1964414BC2B}"/>
              </a:ext>
            </a:extLst>
          </p:cNvPr>
          <p:cNvSpPr>
            <a:spLocks noGrp="1"/>
          </p:cNvSpPr>
          <p:nvPr>
            <p:ph type="title"/>
          </p:nvPr>
        </p:nvSpPr>
        <p:spPr/>
        <p:txBody>
          <a:bodyPr/>
          <a:lstStyle/>
          <a:p>
            <a:r>
              <a:rPr lang="en-US" dirty="0"/>
              <a:t>Assumptions</a:t>
            </a:r>
          </a:p>
        </p:txBody>
      </p:sp>
      <p:sp>
        <p:nvSpPr>
          <p:cNvPr id="3" name="Content Placeholder 2">
            <a:extLst>
              <a:ext uri="{FF2B5EF4-FFF2-40B4-BE49-F238E27FC236}">
                <a16:creationId xmlns:a16="http://schemas.microsoft.com/office/drawing/2014/main" id="{3014E5E7-54D9-3276-5DE6-26F74E6DAEEE}"/>
              </a:ext>
            </a:extLst>
          </p:cNvPr>
          <p:cNvSpPr>
            <a:spLocks noGrp="1"/>
          </p:cNvSpPr>
          <p:nvPr>
            <p:ph idx="1"/>
          </p:nvPr>
        </p:nvSpPr>
        <p:spPr/>
        <p:txBody>
          <a:bodyPr/>
          <a:lstStyle/>
          <a:p>
            <a:pPr>
              <a:buFont typeface="Arial" panose="020B0604020202020204" pitchFamily="34" charset="0"/>
              <a:buChar char="•"/>
            </a:pPr>
            <a:r>
              <a:rPr lang="en-GB" dirty="0"/>
              <a:t>What choices, explicit or implicit, were made when constructing dataset?</a:t>
            </a:r>
          </a:p>
          <a:p>
            <a:pPr>
              <a:buFont typeface="Arial" panose="020B0604020202020204" pitchFamily="34" charset="0"/>
              <a:buChar char="•"/>
            </a:pPr>
            <a:r>
              <a:rPr lang="en-GB" dirty="0"/>
              <a:t>What is missing, excluded, or imputed?</a:t>
            </a:r>
          </a:p>
          <a:p>
            <a:pPr>
              <a:buFont typeface="Arial" panose="020B0604020202020204" pitchFamily="34" charset="0"/>
              <a:buChar char="•"/>
            </a:pPr>
            <a:r>
              <a:rPr lang="en-GB" dirty="0"/>
              <a:t>What decisions were made silently?</a:t>
            </a:r>
          </a:p>
          <a:p>
            <a:r>
              <a:rPr lang="en-GB" dirty="0"/>
              <a:t>Examples:</a:t>
            </a:r>
          </a:p>
          <a:p>
            <a:pPr lvl="1">
              <a:buFont typeface="Arial" panose="020B0604020202020204" pitchFamily="34" charset="0"/>
              <a:buChar char="•"/>
            </a:pPr>
            <a:r>
              <a:rPr lang="en-GB" dirty="0"/>
              <a:t>Dropping rows with missing values</a:t>
            </a:r>
          </a:p>
          <a:p>
            <a:pPr lvl="1">
              <a:buFont typeface="Arial" panose="020B0604020202020204" pitchFamily="34" charset="0"/>
              <a:buChar char="•"/>
            </a:pPr>
            <a:r>
              <a:rPr lang="en-GB" dirty="0"/>
              <a:t>Choosing one source over another</a:t>
            </a:r>
          </a:p>
          <a:p>
            <a:pPr lvl="1">
              <a:buFont typeface="Arial" panose="020B0604020202020204" pitchFamily="34" charset="0"/>
              <a:buChar char="•"/>
            </a:pPr>
            <a:r>
              <a:rPr lang="en-GB" dirty="0"/>
              <a:t>Treating categories as comparable</a:t>
            </a:r>
          </a:p>
          <a:p>
            <a:pPr lvl="1">
              <a:buFont typeface="Arial" panose="020B0604020202020204" pitchFamily="34" charset="0"/>
              <a:buChar char="•"/>
            </a:pPr>
            <a:r>
              <a:rPr lang="en-GB" dirty="0"/>
              <a:t>Import versus export data</a:t>
            </a:r>
          </a:p>
          <a:p>
            <a:endParaRPr lang="en-US" dirty="0"/>
          </a:p>
        </p:txBody>
      </p:sp>
    </p:spTree>
    <p:extLst>
      <p:ext uri="{BB962C8B-B14F-4D97-AF65-F5344CB8AC3E}">
        <p14:creationId xmlns:p14="http://schemas.microsoft.com/office/powerpoint/2010/main" val="3449263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9D1F-5F68-7B22-80C2-3D888F249506}"/>
              </a:ext>
            </a:extLst>
          </p:cNvPr>
          <p:cNvSpPr>
            <a:spLocks noGrp="1"/>
          </p:cNvSpPr>
          <p:nvPr>
            <p:ph type="title"/>
          </p:nvPr>
        </p:nvSpPr>
        <p:spPr/>
        <p:txBody>
          <a:bodyPr/>
          <a:lstStyle/>
          <a:p>
            <a:r>
              <a:rPr lang="en-GB" b="1" dirty="0"/>
              <a:t>Validation</a:t>
            </a:r>
            <a:endParaRPr lang="en-US" dirty="0"/>
          </a:p>
        </p:txBody>
      </p:sp>
      <p:sp>
        <p:nvSpPr>
          <p:cNvPr id="3" name="Content Placeholder 2">
            <a:extLst>
              <a:ext uri="{FF2B5EF4-FFF2-40B4-BE49-F238E27FC236}">
                <a16:creationId xmlns:a16="http://schemas.microsoft.com/office/drawing/2014/main" id="{6F9F9874-AFB4-5D09-F4A3-55C76348A90D}"/>
              </a:ext>
            </a:extLst>
          </p:cNvPr>
          <p:cNvSpPr>
            <a:spLocks noGrp="1"/>
          </p:cNvSpPr>
          <p:nvPr>
            <p:ph idx="1"/>
          </p:nvPr>
        </p:nvSpPr>
        <p:spPr/>
        <p:txBody>
          <a:bodyPr/>
          <a:lstStyle/>
          <a:p>
            <a:pPr>
              <a:buFont typeface="Arial" panose="020B0604020202020204" pitchFamily="34" charset="0"/>
              <a:buChar char="•"/>
            </a:pPr>
            <a:r>
              <a:rPr lang="en-GB" dirty="0"/>
              <a:t>How do we know the data is </a:t>
            </a:r>
            <a:r>
              <a:rPr lang="en-GB" i="1" dirty="0"/>
              <a:t>correct</a:t>
            </a:r>
            <a:r>
              <a:rPr lang="en-GB" dirty="0"/>
              <a:t>, not just reproducible?</a:t>
            </a:r>
          </a:p>
          <a:p>
            <a:pPr>
              <a:buFont typeface="Arial" panose="020B0604020202020204" pitchFamily="34" charset="0"/>
              <a:buChar char="•"/>
            </a:pPr>
            <a:r>
              <a:rPr lang="en-GB" dirty="0"/>
              <a:t>Sanity checks, constraints, expectations</a:t>
            </a:r>
          </a:p>
          <a:p>
            <a:pPr>
              <a:buFont typeface="Arial" panose="020B0604020202020204" pitchFamily="34" charset="0"/>
              <a:buChar char="•"/>
            </a:pPr>
            <a:r>
              <a:rPr lang="en-GB" dirty="0"/>
              <a:t>Does the data match reality?</a:t>
            </a:r>
          </a:p>
          <a:p>
            <a:pPr>
              <a:buFont typeface="Arial" panose="020B0604020202020204" pitchFamily="34" charset="0"/>
              <a:buChar char="•"/>
            </a:pPr>
            <a:r>
              <a:rPr lang="en-GB" dirty="0"/>
              <a:t>Example:</a:t>
            </a:r>
          </a:p>
          <a:p>
            <a:pPr lvl="1">
              <a:buFont typeface="Arial" panose="020B0604020202020204" pitchFamily="34" charset="0"/>
              <a:buChar char="•"/>
            </a:pPr>
            <a:r>
              <a:rPr lang="en-GB" dirty="0"/>
              <a:t>Proxies</a:t>
            </a:r>
          </a:p>
          <a:p>
            <a:endParaRPr lang="en-US" dirty="0"/>
          </a:p>
        </p:txBody>
      </p:sp>
    </p:spTree>
    <p:extLst>
      <p:ext uri="{BB962C8B-B14F-4D97-AF65-F5344CB8AC3E}">
        <p14:creationId xmlns:p14="http://schemas.microsoft.com/office/powerpoint/2010/main" val="3786302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Idiosyncrasies in Python</a:t>
            </a:r>
          </a:p>
        </p:txBody>
      </p:sp>
      <p:sp>
        <p:nvSpPr>
          <p:cNvPr id="3" name="Content Placeholder 2"/>
          <p:cNvSpPr>
            <a:spLocks noGrp="1"/>
          </p:cNvSpPr>
          <p:nvPr>
            <p:ph idx="1"/>
          </p:nvPr>
        </p:nvSpPr>
        <p:spPr>
          <a:xfrm>
            <a:off x="838200" y="1737360"/>
            <a:ext cx="10515600" cy="4439603"/>
          </a:xfrm>
        </p:spPr>
        <p:txBody>
          <a:bodyPr>
            <a:normAutofit fontScale="92500" lnSpcReduction="20000"/>
          </a:bodyPr>
          <a:lstStyle/>
          <a:p>
            <a:r>
              <a:rPr lang="en-US" dirty="0"/>
              <a:t>Indentations and white space in loops</a:t>
            </a:r>
          </a:p>
          <a:p>
            <a:pPr marL="0" indent="0">
              <a:buNone/>
            </a:pPr>
            <a:r>
              <a:rPr lang="en-US" b="1" dirty="0"/>
              <a:t>Stata: </a:t>
            </a:r>
          </a:p>
          <a:p>
            <a:pPr marL="457200" lvl="1" indent="0">
              <a:buNone/>
            </a:pPr>
            <a:r>
              <a:rPr lang="en-US" dirty="0" err="1"/>
              <a:t>forval</a:t>
            </a:r>
            <a:r>
              <a:rPr lang="en-US" dirty="0"/>
              <a:t> </a:t>
            </a:r>
            <a:r>
              <a:rPr lang="en-US" dirty="0" err="1"/>
              <a:t>i</a:t>
            </a:r>
            <a:r>
              <a:rPr lang="en-US" dirty="0"/>
              <a:t> 2000/2010 {</a:t>
            </a:r>
          </a:p>
          <a:p>
            <a:pPr marL="457200" lvl="1" indent="0">
              <a:buNone/>
            </a:pPr>
            <a:r>
              <a:rPr lang="en-US" dirty="0"/>
              <a:t>di “The year is `</a:t>
            </a:r>
            <a:r>
              <a:rPr lang="en-US" dirty="0" err="1"/>
              <a:t>i</a:t>
            </a:r>
            <a:r>
              <a:rPr lang="en-US" dirty="0"/>
              <a:t>‘”</a:t>
            </a:r>
          </a:p>
          <a:p>
            <a:pPr marL="457200" lvl="1" indent="0">
              <a:buNone/>
            </a:pPr>
            <a:r>
              <a:rPr lang="en-US" dirty="0"/>
              <a:t>}</a:t>
            </a:r>
          </a:p>
          <a:p>
            <a:pPr marL="0" indent="0">
              <a:buNone/>
            </a:pPr>
            <a:r>
              <a:rPr lang="en-US" b="1" dirty="0"/>
              <a:t>R:</a:t>
            </a:r>
          </a:p>
          <a:p>
            <a:pPr marL="457200" lvl="1" indent="0">
              <a:buNone/>
            </a:pPr>
            <a:r>
              <a:rPr lang="en-US" dirty="0"/>
              <a:t>for(</a:t>
            </a:r>
            <a:r>
              <a:rPr lang="en-US" dirty="0" err="1"/>
              <a:t>i</a:t>
            </a:r>
            <a:r>
              <a:rPr lang="en-US" dirty="0"/>
              <a:t> in 2000:2010){</a:t>
            </a:r>
          </a:p>
          <a:p>
            <a:pPr marL="457200" lvl="1" indent="0">
              <a:buNone/>
            </a:pPr>
            <a:r>
              <a:rPr lang="en-US" dirty="0"/>
              <a:t>print(paste(“The year is”,</a:t>
            </a:r>
            <a:r>
              <a:rPr lang="en-US" dirty="0" err="1"/>
              <a:t>i</a:t>
            </a:r>
            <a:r>
              <a:rPr lang="en-US" dirty="0"/>
              <a:t>)</a:t>
            </a:r>
          </a:p>
          <a:p>
            <a:pPr marL="457200" lvl="1" indent="0">
              <a:buNone/>
            </a:pPr>
            <a:r>
              <a:rPr lang="en-US" dirty="0"/>
              <a:t>}</a:t>
            </a:r>
          </a:p>
          <a:p>
            <a:pPr marL="0" indent="0">
              <a:buNone/>
            </a:pPr>
            <a:r>
              <a:rPr lang="en-US" b="1" dirty="0"/>
              <a:t>Python</a:t>
            </a:r>
          </a:p>
          <a:p>
            <a:pPr marL="457200" lvl="1" indent="0">
              <a:buNone/>
            </a:pPr>
            <a:r>
              <a:rPr lang="en-US" dirty="0"/>
              <a:t>for </a:t>
            </a:r>
            <a:r>
              <a:rPr lang="en-US" dirty="0" err="1"/>
              <a:t>i</a:t>
            </a:r>
            <a:r>
              <a:rPr lang="en-US" dirty="0"/>
              <a:t> in range(2000:2010):</a:t>
            </a:r>
          </a:p>
          <a:p>
            <a:pPr marL="457200" lvl="1" indent="0">
              <a:buNone/>
            </a:pPr>
            <a:r>
              <a:rPr lang="en-US" dirty="0"/>
              <a:t>     print(“The year is” + </a:t>
            </a:r>
            <a:r>
              <a:rPr lang="en-US" dirty="0" err="1"/>
              <a:t>str</a:t>
            </a:r>
            <a:r>
              <a:rPr lang="en-US" dirty="0"/>
              <a:t>(</a:t>
            </a:r>
            <a:r>
              <a:rPr lang="en-US" dirty="0" err="1"/>
              <a:t>i</a:t>
            </a:r>
            <a:r>
              <a:rPr lang="en-US" dirty="0"/>
              <a:t>))</a:t>
            </a:r>
          </a:p>
          <a:p>
            <a:pPr marL="0" indent="0">
              <a:buNone/>
            </a:pPr>
            <a:r>
              <a:rPr lang="en-US" dirty="0"/>
              <a:t> </a:t>
            </a:r>
          </a:p>
        </p:txBody>
      </p:sp>
    </p:spTree>
    <p:extLst>
      <p:ext uri="{BB962C8B-B14F-4D97-AF65-F5344CB8AC3E}">
        <p14:creationId xmlns:p14="http://schemas.microsoft.com/office/powerpoint/2010/main" val="411690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Indexing </a:t>
            </a:r>
          </a:p>
        </p:txBody>
      </p:sp>
      <p:sp>
        <p:nvSpPr>
          <p:cNvPr id="3" name="Content Placeholder 2"/>
          <p:cNvSpPr>
            <a:spLocks noGrp="1"/>
          </p:cNvSpPr>
          <p:nvPr>
            <p:ph idx="1"/>
          </p:nvPr>
        </p:nvSpPr>
        <p:spPr/>
        <p:txBody>
          <a:bodyPr/>
          <a:lstStyle/>
          <a:p>
            <a:r>
              <a:rPr lang="en-US" dirty="0"/>
              <a:t>Python starts indexing elements with 0</a:t>
            </a:r>
          </a:p>
          <a:p>
            <a:pPr marL="457200" lvl="1" indent="0">
              <a:buNone/>
            </a:pPr>
            <a:r>
              <a:rPr lang="en-US" dirty="0"/>
              <a:t>&gt;&gt;&gt; </a:t>
            </a:r>
            <a:r>
              <a:rPr lang="en-US" dirty="0" err="1"/>
              <a:t>elec_data</a:t>
            </a:r>
            <a:r>
              <a:rPr lang="en-US" dirty="0"/>
              <a:t>['State'][1]</a:t>
            </a:r>
          </a:p>
          <a:p>
            <a:pPr marL="457200" lvl="1" indent="0">
              <a:buNone/>
            </a:pPr>
            <a:r>
              <a:rPr lang="en-US" dirty="0"/>
              <a:t>'Alaska'</a:t>
            </a:r>
          </a:p>
          <a:p>
            <a:pPr marL="457200" lvl="1" indent="0">
              <a:buNone/>
            </a:pPr>
            <a:r>
              <a:rPr lang="en-US" dirty="0"/>
              <a:t>&gt;&gt;&gt; </a:t>
            </a:r>
            <a:r>
              <a:rPr lang="en-US" dirty="0" err="1"/>
              <a:t>elec_data</a:t>
            </a:r>
            <a:r>
              <a:rPr lang="en-US" dirty="0"/>
              <a:t>['State'][0]</a:t>
            </a:r>
          </a:p>
          <a:p>
            <a:pPr marL="457200" lvl="1" indent="0">
              <a:buNone/>
            </a:pPr>
            <a:r>
              <a:rPr lang="en-US" dirty="0"/>
              <a:t>'Alabama‘</a:t>
            </a:r>
          </a:p>
          <a:p>
            <a:pPr marL="0" indent="0">
              <a:buNone/>
            </a:pPr>
            <a:endParaRPr lang="en-US" dirty="0"/>
          </a:p>
        </p:txBody>
      </p:sp>
    </p:spTree>
    <p:extLst>
      <p:ext uri="{BB962C8B-B14F-4D97-AF65-F5344CB8AC3E}">
        <p14:creationId xmlns:p14="http://schemas.microsoft.com/office/powerpoint/2010/main" val="3826478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Copies</a:t>
            </a:r>
          </a:p>
        </p:txBody>
      </p:sp>
      <p:sp>
        <p:nvSpPr>
          <p:cNvPr id="3" name="Content Placeholder 2"/>
          <p:cNvSpPr>
            <a:spLocks noGrp="1"/>
          </p:cNvSpPr>
          <p:nvPr>
            <p:ph idx="1"/>
          </p:nvPr>
        </p:nvSpPr>
        <p:spPr/>
        <p:txBody>
          <a:bodyPr/>
          <a:lstStyle/>
          <a:p>
            <a:endParaRPr lang="en-US" dirty="0"/>
          </a:p>
          <a:p>
            <a:r>
              <a:rPr lang="en-US" dirty="0"/>
              <a:t>Python does not make separate copies of objects</a:t>
            </a:r>
          </a:p>
          <a:p>
            <a:r>
              <a:rPr lang="en-US" dirty="0"/>
              <a:t>Objects are always attached or linked</a:t>
            </a:r>
          </a:p>
          <a:p>
            <a:r>
              <a:rPr lang="en-US" dirty="0"/>
              <a:t>Changes to one object will be made to copy</a:t>
            </a:r>
          </a:p>
          <a:p>
            <a:pPr lvl="1"/>
            <a:r>
              <a:rPr lang="en-US" dirty="0"/>
              <a:t>Really annoying</a:t>
            </a:r>
          </a:p>
        </p:txBody>
      </p:sp>
    </p:spTree>
    <p:extLst>
      <p:ext uri="{BB962C8B-B14F-4D97-AF65-F5344CB8AC3E}">
        <p14:creationId xmlns:p14="http://schemas.microsoft.com/office/powerpoint/2010/main" val="841436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FF6BC-3A31-78D9-797C-76B020EA297D}"/>
              </a:ext>
            </a:extLst>
          </p:cNvPr>
          <p:cNvSpPr>
            <a:spLocks noGrp="1"/>
          </p:cNvSpPr>
          <p:nvPr>
            <p:ph type="title"/>
          </p:nvPr>
        </p:nvSpPr>
        <p:spPr/>
        <p:txBody>
          <a:bodyPr/>
          <a:lstStyle/>
          <a:p>
            <a:r>
              <a:rPr lang="en-US" dirty="0"/>
              <a:t>Python objects</a:t>
            </a:r>
          </a:p>
        </p:txBody>
      </p:sp>
      <p:sp>
        <p:nvSpPr>
          <p:cNvPr id="3" name="Content Placeholder 2">
            <a:extLst>
              <a:ext uri="{FF2B5EF4-FFF2-40B4-BE49-F238E27FC236}">
                <a16:creationId xmlns:a16="http://schemas.microsoft.com/office/drawing/2014/main" id="{C78AFC1B-8C76-6AAC-12A3-649FA04D3994}"/>
              </a:ext>
            </a:extLst>
          </p:cNvPr>
          <p:cNvSpPr>
            <a:spLocks noGrp="1"/>
          </p:cNvSpPr>
          <p:nvPr>
            <p:ph idx="1"/>
          </p:nvPr>
        </p:nvSpPr>
        <p:spPr/>
        <p:txBody>
          <a:bodyPr/>
          <a:lstStyle/>
          <a:p>
            <a:r>
              <a:rPr lang="en-GB" dirty="0"/>
              <a:t>Key objects</a:t>
            </a:r>
          </a:p>
          <a:p>
            <a:pPr lvl="1"/>
            <a:r>
              <a:rPr lang="en-GB" dirty="0"/>
              <a:t>list (ordered, mutable)</a:t>
            </a:r>
          </a:p>
          <a:p>
            <a:pPr lvl="1"/>
            <a:r>
              <a:rPr lang="en-GB" dirty="0"/>
              <a:t>tuple (ordered, immutable) </a:t>
            </a:r>
          </a:p>
          <a:p>
            <a:pPr lvl="1"/>
            <a:r>
              <a:rPr lang="en-GB" dirty="0"/>
              <a:t>set (unique, unordered)</a:t>
            </a:r>
          </a:p>
          <a:p>
            <a:pPr lvl="1"/>
            <a:r>
              <a:rPr lang="en-GB" dirty="0"/>
              <a:t>dictionary (</a:t>
            </a:r>
            <a:r>
              <a:rPr lang="en-GB" dirty="0" err="1"/>
              <a:t>key→value</a:t>
            </a:r>
            <a:r>
              <a:rPr lang="en-GB" dirty="0"/>
              <a:t> mapping)</a:t>
            </a:r>
          </a:p>
          <a:p>
            <a:r>
              <a:rPr lang="en-GB" dirty="0"/>
              <a:t>Mutable: Object can be changed after creation</a:t>
            </a:r>
          </a:p>
          <a:p>
            <a:r>
              <a:rPr lang="en-GB" dirty="0"/>
              <a:t>Ordered: Elements have defined, consistent position</a:t>
            </a:r>
          </a:p>
          <a:p>
            <a:pPr lvl="1"/>
            <a:r>
              <a:rPr lang="en-GB" dirty="0"/>
              <a:t>Can be indexed </a:t>
            </a:r>
            <a:endParaRPr lang="en-US" dirty="0"/>
          </a:p>
        </p:txBody>
      </p:sp>
    </p:spTree>
    <p:extLst>
      <p:ext uri="{BB962C8B-B14F-4D97-AF65-F5344CB8AC3E}">
        <p14:creationId xmlns:p14="http://schemas.microsoft.com/office/powerpoint/2010/main" val="2618197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C841-0B39-1485-7F75-F9F0152B6CA8}"/>
              </a:ext>
            </a:extLst>
          </p:cNvPr>
          <p:cNvSpPr>
            <a:spLocks noGrp="1"/>
          </p:cNvSpPr>
          <p:nvPr>
            <p:ph type="title"/>
          </p:nvPr>
        </p:nvSpPr>
        <p:spPr/>
        <p:txBody>
          <a:bodyPr/>
          <a:lstStyle/>
          <a:p>
            <a:r>
              <a:rPr lang="en-US" dirty="0"/>
              <a:t>Lists</a:t>
            </a:r>
          </a:p>
        </p:txBody>
      </p:sp>
      <p:sp>
        <p:nvSpPr>
          <p:cNvPr id="3" name="Content Placeholder 2">
            <a:extLst>
              <a:ext uri="{FF2B5EF4-FFF2-40B4-BE49-F238E27FC236}">
                <a16:creationId xmlns:a16="http://schemas.microsoft.com/office/drawing/2014/main" id="{5C93925E-A311-EF3D-2698-79CD5DB26A32}"/>
              </a:ext>
            </a:extLst>
          </p:cNvPr>
          <p:cNvSpPr>
            <a:spLocks noGrp="1"/>
          </p:cNvSpPr>
          <p:nvPr>
            <p:ph idx="1"/>
          </p:nvPr>
        </p:nvSpPr>
        <p:spPr/>
        <p:txBody>
          <a:bodyPr/>
          <a:lstStyle/>
          <a:p>
            <a:r>
              <a:rPr lang="en-GB" dirty="0"/>
              <a:t>Syntax: [1, 2, 3]</a:t>
            </a:r>
          </a:p>
          <a:p>
            <a:r>
              <a:rPr lang="en-GB" dirty="0"/>
              <a:t>Ordered and indexable (supports slicing)</a:t>
            </a:r>
          </a:p>
          <a:p>
            <a:r>
              <a:rPr lang="en-GB" dirty="0"/>
              <a:t>Mutable: append, insert, pop, sort</a:t>
            </a:r>
          </a:p>
          <a:p>
            <a:r>
              <a:rPr lang="en-GB" dirty="0"/>
              <a:t>Allows duplicates; membership test is O(n)</a:t>
            </a:r>
          </a:p>
          <a:p>
            <a:r>
              <a:rPr lang="en-GB" dirty="0"/>
              <a:t>Good for ordered sequences you build or modify</a:t>
            </a:r>
          </a:p>
          <a:p>
            <a:endParaRPr lang="en-US" dirty="0"/>
          </a:p>
        </p:txBody>
      </p:sp>
    </p:spTree>
    <p:extLst>
      <p:ext uri="{BB962C8B-B14F-4D97-AF65-F5344CB8AC3E}">
        <p14:creationId xmlns:p14="http://schemas.microsoft.com/office/powerpoint/2010/main" val="1580499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3427F-8547-FF80-F810-E3FA6897860F}"/>
              </a:ext>
            </a:extLst>
          </p:cNvPr>
          <p:cNvSpPr>
            <a:spLocks noGrp="1"/>
          </p:cNvSpPr>
          <p:nvPr>
            <p:ph type="title"/>
          </p:nvPr>
        </p:nvSpPr>
        <p:spPr/>
        <p:txBody>
          <a:bodyPr/>
          <a:lstStyle/>
          <a:p>
            <a:r>
              <a:rPr lang="en-US" dirty="0"/>
              <a:t>Tuples</a:t>
            </a:r>
          </a:p>
        </p:txBody>
      </p:sp>
      <p:sp>
        <p:nvSpPr>
          <p:cNvPr id="3" name="Content Placeholder 2">
            <a:extLst>
              <a:ext uri="{FF2B5EF4-FFF2-40B4-BE49-F238E27FC236}">
                <a16:creationId xmlns:a16="http://schemas.microsoft.com/office/drawing/2014/main" id="{9E40C22A-B565-2D2B-BE44-A009A362E878}"/>
              </a:ext>
            </a:extLst>
          </p:cNvPr>
          <p:cNvSpPr>
            <a:spLocks noGrp="1"/>
          </p:cNvSpPr>
          <p:nvPr>
            <p:ph idx="1"/>
          </p:nvPr>
        </p:nvSpPr>
        <p:spPr/>
        <p:txBody>
          <a:bodyPr/>
          <a:lstStyle/>
          <a:p>
            <a:r>
              <a:rPr lang="en-GB" dirty="0"/>
              <a:t>Syntax: (1, 2, 3)</a:t>
            </a:r>
          </a:p>
          <a:p>
            <a:r>
              <a:rPr lang="en-GB" dirty="0"/>
              <a:t>Ordered and indexable, but immutable (no append/pop)</a:t>
            </a:r>
          </a:p>
          <a:p>
            <a:r>
              <a:rPr lang="en-GB" dirty="0"/>
              <a:t>Slightly lower memory overhead vs lists</a:t>
            </a:r>
          </a:p>
          <a:p>
            <a:r>
              <a:rPr lang="en-GB" dirty="0"/>
              <a:t>Can be used as </a:t>
            </a:r>
            <a:r>
              <a:rPr lang="en-GB" dirty="0" err="1"/>
              <a:t>dict</a:t>
            </a:r>
            <a:r>
              <a:rPr lang="en-GB" dirty="0"/>
              <a:t> keys if all elements are </a:t>
            </a:r>
            <a:r>
              <a:rPr lang="en-GB" dirty="0" err="1"/>
              <a:t>hashable</a:t>
            </a:r>
            <a:endParaRPr lang="en-GB" dirty="0"/>
          </a:p>
          <a:p>
            <a:r>
              <a:rPr lang="en-GB" dirty="0"/>
              <a:t>Ideal for fixed records and multiple return values</a:t>
            </a:r>
          </a:p>
          <a:p>
            <a:endParaRPr lang="en-US" dirty="0"/>
          </a:p>
        </p:txBody>
      </p:sp>
    </p:spTree>
    <p:extLst>
      <p:ext uri="{BB962C8B-B14F-4D97-AF65-F5344CB8AC3E}">
        <p14:creationId xmlns:p14="http://schemas.microsoft.com/office/powerpoint/2010/main" val="2103079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F73C6-72AC-07E4-8E33-8AB305C6D2DC}"/>
              </a:ext>
            </a:extLst>
          </p:cNvPr>
          <p:cNvSpPr>
            <a:spLocks noGrp="1"/>
          </p:cNvSpPr>
          <p:nvPr>
            <p:ph type="title"/>
          </p:nvPr>
        </p:nvSpPr>
        <p:spPr/>
        <p:txBody>
          <a:bodyPr/>
          <a:lstStyle/>
          <a:p>
            <a:r>
              <a:rPr lang="en-US" dirty="0"/>
              <a:t>Sets</a:t>
            </a:r>
          </a:p>
        </p:txBody>
      </p:sp>
      <p:sp>
        <p:nvSpPr>
          <p:cNvPr id="3" name="Content Placeholder 2">
            <a:extLst>
              <a:ext uri="{FF2B5EF4-FFF2-40B4-BE49-F238E27FC236}">
                <a16:creationId xmlns:a16="http://schemas.microsoft.com/office/drawing/2014/main" id="{A96CE220-F5DD-F325-B30C-04A7DACA5B22}"/>
              </a:ext>
            </a:extLst>
          </p:cNvPr>
          <p:cNvSpPr>
            <a:spLocks noGrp="1"/>
          </p:cNvSpPr>
          <p:nvPr>
            <p:ph idx="1"/>
          </p:nvPr>
        </p:nvSpPr>
        <p:spPr/>
        <p:txBody>
          <a:bodyPr/>
          <a:lstStyle/>
          <a:p>
            <a:r>
              <a:rPr lang="en-GB" dirty="0"/>
              <a:t>Syntax: {1, 2, 3} or set([...])</a:t>
            </a:r>
          </a:p>
          <a:p>
            <a:r>
              <a:rPr lang="en-GB" dirty="0"/>
              <a:t>Unordered: no reliable index or order in iteration</a:t>
            </a:r>
          </a:p>
          <a:p>
            <a:r>
              <a:rPr lang="en-GB" dirty="0"/>
              <a:t>Enforces uniqueness — ideal for deduping</a:t>
            </a:r>
          </a:p>
          <a:p>
            <a:r>
              <a:rPr lang="en-GB" dirty="0"/>
              <a:t>Fast membership checks and set algebra (union, intersection) — average O(1)</a:t>
            </a:r>
          </a:p>
          <a:p>
            <a:r>
              <a:rPr lang="en-GB" dirty="0"/>
              <a:t>Not suitable if you need a preserved order</a:t>
            </a:r>
          </a:p>
          <a:p>
            <a:endParaRPr lang="en-US" dirty="0"/>
          </a:p>
        </p:txBody>
      </p:sp>
    </p:spTree>
    <p:extLst>
      <p:ext uri="{BB962C8B-B14F-4D97-AF65-F5344CB8AC3E}">
        <p14:creationId xmlns:p14="http://schemas.microsoft.com/office/powerpoint/2010/main" val="1136402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BBDC5-D35F-2ABF-022F-73BB2BFE8FFF}"/>
              </a:ext>
            </a:extLst>
          </p:cNvPr>
          <p:cNvSpPr>
            <a:spLocks noGrp="1"/>
          </p:cNvSpPr>
          <p:nvPr>
            <p:ph type="title"/>
          </p:nvPr>
        </p:nvSpPr>
        <p:spPr/>
        <p:txBody>
          <a:bodyPr/>
          <a:lstStyle/>
          <a:p>
            <a:r>
              <a:rPr lang="en-US" dirty="0"/>
              <a:t>Dictionaries</a:t>
            </a:r>
          </a:p>
        </p:txBody>
      </p:sp>
      <p:sp>
        <p:nvSpPr>
          <p:cNvPr id="3" name="Content Placeholder 2">
            <a:extLst>
              <a:ext uri="{FF2B5EF4-FFF2-40B4-BE49-F238E27FC236}">
                <a16:creationId xmlns:a16="http://schemas.microsoft.com/office/drawing/2014/main" id="{E41D42D5-6647-A63D-A11A-E8961E71A640}"/>
              </a:ext>
            </a:extLst>
          </p:cNvPr>
          <p:cNvSpPr>
            <a:spLocks noGrp="1"/>
          </p:cNvSpPr>
          <p:nvPr>
            <p:ph idx="1"/>
          </p:nvPr>
        </p:nvSpPr>
        <p:spPr/>
        <p:txBody>
          <a:bodyPr/>
          <a:lstStyle/>
          <a:p>
            <a:r>
              <a:rPr lang="en-GB" dirty="0"/>
              <a:t>Syntax: {'a': 1, 'b': 2}</a:t>
            </a:r>
          </a:p>
          <a:p>
            <a:r>
              <a:rPr lang="en-GB" dirty="0"/>
              <a:t>Keys must be </a:t>
            </a:r>
            <a:r>
              <a:rPr lang="en-GB" dirty="0" err="1"/>
              <a:t>hashable</a:t>
            </a:r>
            <a:r>
              <a:rPr lang="en-GB" dirty="0"/>
              <a:t> and unique; values can be anything</a:t>
            </a:r>
          </a:p>
          <a:p>
            <a:r>
              <a:rPr lang="en-GB" dirty="0"/>
              <a:t>Fast lookups by key (average O(1)); preserves insertion order (Python 3.7+)</a:t>
            </a:r>
          </a:p>
          <a:p>
            <a:r>
              <a:rPr lang="en-GB" dirty="0"/>
              <a:t>Useful for structured data, lookups, and caches</a:t>
            </a:r>
          </a:p>
          <a:p>
            <a:r>
              <a:rPr lang="en-GB" dirty="0"/>
              <a:t>Methods: .get(), .items(), .keys(), .values(), .</a:t>
            </a:r>
            <a:r>
              <a:rPr lang="en-GB" dirty="0" err="1"/>
              <a:t>setdefault</a:t>
            </a:r>
            <a:r>
              <a:rPr lang="en-GB" dirty="0"/>
              <a:t>()</a:t>
            </a:r>
          </a:p>
          <a:p>
            <a:endParaRPr lang="en-US" dirty="0"/>
          </a:p>
        </p:txBody>
      </p:sp>
    </p:spTree>
    <p:extLst>
      <p:ext uri="{BB962C8B-B14F-4D97-AF65-F5344CB8AC3E}">
        <p14:creationId xmlns:p14="http://schemas.microsoft.com/office/powerpoint/2010/main" val="16047361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6840</TotalTime>
  <Words>1792</Words>
  <Application>Microsoft Office PowerPoint</Application>
  <PresentationFormat>Widescreen</PresentationFormat>
  <Paragraphs>246</Paragraphs>
  <Slides>25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Century Gothic</vt:lpstr>
      <vt:lpstr>Consolas</vt:lpstr>
      <vt:lpstr>Courier New</vt:lpstr>
      <vt:lpstr>Wingdings 3</vt:lpstr>
      <vt:lpstr>Ion</vt:lpstr>
      <vt:lpstr>Modern Data Structures</vt:lpstr>
      <vt:lpstr>Course Outline</vt:lpstr>
      <vt:lpstr>Course Outline </vt:lpstr>
      <vt:lpstr>Course Outline </vt:lpstr>
      <vt:lpstr>Course Outline</vt:lpstr>
      <vt:lpstr>Data</vt:lpstr>
      <vt:lpstr>Social science data</vt:lpstr>
      <vt:lpstr>Key question</vt:lpstr>
      <vt:lpstr>Key concepts</vt:lpstr>
      <vt:lpstr>Numeric data structures</vt:lpstr>
      <vt:lpstr>Types of data - numeric</vt:lpstr>
      <vt:lpstr>Data transformed</vt:lpstr>
      <vt:lpstr>Types of data - Qualitative</vt:lpstr>
      <vt:lpstr>Human Coding: Central bank independence</vt:lpstr>
      <vt:lpstr>Text data</vt:lpstr>
      <vt:lpstr>Assumptions</vt:lpstr>
      <vt:lpstr>Validation</vt:lpstr>
      <vt:lpstr>Idiosyncrasies in Python</vt:lpstr>
      <vt:lpstr>Indexing </vt:lpstr>
      <vt:lpstr>Copies</vt:lpstr>
      <vt:lpstr>Python objects</vt:lpstr>
      <vt:lpstr>Lists</vt:lpstr>
      <vt:lpstr>Tuples</vt:lpstr>
      <vt:lpstr>Sets</vt:lpstr>
      <vt:lpstr>Dictionaries</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Raymond Hicks</dc:creator>
  <cp:lastModifiedBy>Raymond Hicks</cp:lastModifiedBy>
  <cp:revision>9</cp:revision>
  <dcterms:created xsi:type="dcterms:W3CDTF">2026-01-17T20:42:57Z</dcterms:created>
  <dcterms:modified xsi:type="dcterms:W3CDTF">2026-01-22T14:43:47Z</dcterms:modified>
</cp:coreProperties>
</file>