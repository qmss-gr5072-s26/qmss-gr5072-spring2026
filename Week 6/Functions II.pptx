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66" r:id="rId5"/>
    <p:sldId id="259" r:id="rId6"/>
    <p:sldId id="268" r:id="rId7"/>
    <p:sldId id="260" r:id="rId8"/>
    <p:sldId id="269" r:id="rId9"/>
    <p:sldId id="261" r:id="rId10"/>
    <p:sldId id="267" r:id="rId11"/>
    <p:sldId id="270" r:id="rId12"/>
    <p:sldId id="263" r:id="rId13"/>
    <p:sldId id="264" r:id="rId14"/>
    <p:sldId id="262" r:id="rId15"/>
    <p:sldId id="272" r:id="rId16"/>
    <p:sldId id="273" r:id="rId17"/>
    <p:sldId id="271" r:id="rId18"/>
    <p:sldId id="27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66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119DD-57C2-4781-8500-1B4A19E20CF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998C1-F5F8-4655-ABD8-9197CF9EE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36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Last week we looked at making sure inputs were correct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998C1-F5F8-4655-ABD8-9197CF9EEA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10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8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0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55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7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7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30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590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5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85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29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8133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20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69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839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162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4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E0BB7AD-480B-4516-BC03-F970475DD11A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A8DE0-05EA-4C55-96FC-03EAD84DC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4754-5AD8-3BBB-A768-5E984C164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D9FBF-D7CC-3552-2A62-A08368991F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8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B761-659B-29B4-DF08-87E43164C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11736-8325-98A0-6D58-C327429AB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  <a:p>
            <a:pPr lvl="1"/>
            <a:r>
              <a:rPr lang="en-US" dirty="0"/>
              <a:t>Docstrings</a:t>
            </a:r>
          </a:p>
          <a:p>
            <a:r>
              <a:rPr lang="en-US" dirty="0"/>
              <a:t>Loops/iteration</a:t>
            </a:r>
          </a:p>
          <a:p>
            <a:pPr lvl="1"/>
            <a:r>
              <a:rPr lang="en-US" dirty="0"/>
              <a:t>For loops</a:t>
            </a:r>
          </a:p>
          <a:p>
            <a:pPr lvl="1"/>
            <a:r>
              <a:rPr lang="en-US" dirty="0"/>
              <a:t>While loops</a:t>
            </a:r>
          </a:p>
          <a:p>
            <a:pPr lvl="1"/>
            <a:r>
              <a:rPr lang="en-US" dirty="0"/>
              <a:t>List comprehension</a:t>
            </a:r>
          </a:p>
          <a:p>
            <a:r>
              <a:rPr lang="en-US" dirty="0"/>
              <a:t>Exceptions/errors</a:t>
            </a:r>
          </a:p>
        </p:txBody>
      </p:sp>
    </p:spTree>
    <p:extLst>
      <p:ext uri="{BB962C8B-B14F-4D97-AF65-F5344CB8AC3E}">
        <p14:creationId xmlns:p14="http://schemas.microsoft.com/office/powerpoint/2010/main" val="283593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B92A-6501-4B15-EB8B-3D905B82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AF5B1-67F4-A467-60EF-CB0E95D8F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0A4E2-E5DB-0770-B169-7E1C876AEA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explain how specific parts work</a:t>
            </a:r>
          </a:p>
          <a:p>
            <a:r>
              <a:rPr lang="en-US" dirty="0"/>
              <a:t>written for maintainers</a:t>
            </a:r>
          </a:p>
          <a:p>
            <a:r>
              <a:rPr lang="en-US" dirty="0"/>
              <a:t>Can appear anywhere within function body</a:t>
            </a:r>
            <a:endParaRPr lang="en-GB" dirty="0"/>
          </a:p>
          <a:p>
            <a:r>
              <a:rPr lang="en-US" dirty="0"/>
              <a:t>Ignored at runtime</a:t>
            </a:r>
          </a:p>
          <a:p>
            <a:r>
              <a:rPr lang="en-US" dirty="0"/>
              <a:t>Use sparingly to clarify 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9E80D1-284F-12B8-6464-F62F91A0B1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Docstrings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7528D-AA6A-9003-1CA6-FDCEC9C537D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explains what the function does</a:t>
            </a:r>
          </a:p>
          <a:p>
            <a:r>
              <a:rPr lang="en-GB" dirty="0"/>
              <a:t>written for users of the function</a:t>
            </a:r>
          </a:p>
          <a:p>
            <a:r>
              <a:rPr lang="en-GB" dirty="0"/>
              <a:t>first statement inside the function definition</a:t>
            </a:r>
          </a:p>
          <a:p>
            <a:r>
              <a:rPr lang="en-GB" dirty="0"/>
              <a:t>Accessible via help</a:t>
            </a:r>
          </a:p>
          <a:p>
            <a:r>
              <a:rPr lang="en-US" dirty="0"/>
              <a:t>Use to describe interface and intent</a:t>
            </a:r>
          </a:p>
        </p:txBody>
      </p:sp>
    </p:spTree>
    <p:extLst>
      <p:ext uri="{BB962C8B-B14F-4D97-AF65-F5344CB8AC3E}">
        <p14:creationId xmlns:p14="http://schemas.microsoft.com/office/powerpoint/2010/main" val="292510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6C006-7DE0-C487-4FA1-5ED977F32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199F5-67B3-0571-D132-0C7618EE5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C2050B4-48B5-FAD9-4107-7AA70220A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847850"/>
            <a:ext cx="7009384" cy="42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5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3E02-834F-41C3-2213-224A692A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EF825-37B0-8CB3-CC91-C2F6546C2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Known repetition</a:t>
            </a:r>
          </a:p>
          <a:p>
            <a:pPr lvl="1"/>
            <a:r>
              <a:rPr lang="en-US" dirty="0"/>
              <a:t>Number of iterations known in advance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i="1" dirty="0"/>
              <a:t>object</a:t>
            </a:r>
            <a:r>
              <a:rPr lang="en-US" dirty="0"/>
              <a:t> in </a:t>
            </a:r>
            <a:r>
              <a:rPr lang="en-US" i="1" dirty="0" err="1"/>
              <a:t>iterable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do something</a:t>
            </a:r>
          </a:p>
        </p:txBody>
      </p:sp>
    </p:spTree>
    <p:extLst>
      <p:ext uri="{BB962C8B-B14F-4D97-AF65-F5344CB8AC3E}">
        <p14:creationId xmlns:p14="http://schemas.microsoft.com/office/powerpoint/2010/main" val="3490170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C6A2-B6BF-CE65-1D15-ADBD7C52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4BA1-E65C-F6A8-5E7C-70526D106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Examples of Repetitions and For Loop in Python">
            <a:extLst>
              <a:ext uri="{FF2B5EF4-FFF2-40B4-BE49-F238E27FC236}">
                <a16:creationId xmlns:a16="http://schemas.microsoft.com/office/drawing/2014/main" id="{3087F1AC-1D9E-EC6F-DB3A-142E655CE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2180205"/>
            <a:ext cx="8946541" cy="394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61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F20B-48DE-DCB9-4731-22CBA2661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2B185-B8C0-5C2D-4A75-D01985F42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repetition</a:t>
            </a:r>
          </a:p>
          <a:p>
            <a:pPr lvl="1"/>
            <a:r>
              <a:rPr lang="en-US" dirty="0"/>
              <a:t>Number of iterations not known</a:t>
            </a:r>
          </a:p>
          <a:p>
            <a:pPr lvl="1"/>
            <a:r>
              <a:rPr lang="en-US" dirty="0"/>
              <a:t>Continue iterating until condition is met</a:t>
            </a:r>
          </a:p>
          <a:p>
            <a:pPr lvl="1"/>
            <a:r>
              <a:rPr lang="en-US" dirty="0"/>
              <a:t>Risk of infinite loop</a:t>
            </a:r>
          </a:p>
          <a:p>
            <a:r>
              <a:rPr lang="en-US" dirty="0"/>
              <a:t>While a value is less than a value</a:t>
            </a:r>
            <a:br>
              <a:rPr lang="en-US" dirty="0"/>
            </a:br>
            <a:r>
              <a:rPr lang="en-US" dirty="0"/>
              <a:t>	do something</a:t>
            </a:r>
          </a:p>
        </p:txBody>
      </p:sp>
    </p:spTree>
    <p:extLst>
      <p:ext uri="{BB962C8B-B14F-4D97-AF65-F5344CB8AC3E}">
        <p14:creationId xmlns:p14="http://schemas.microsoft.com/office/powerpoint/2010/main" val="106804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91AD-2C6E-D0A8-228F-135FD6418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A476-FA46-3C8F-1A49-1DC4070DE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Comparing for vs while loop in Python - Python Pool">
            <a:extLst>
              <a:ext uri="{FF2B5EF4-FFF2-40B4-BE49-F238E27FC236}">
                <a16:creationId xmlns:a16="http://schemas.microsoft.com/office/drawing/2014/main" id="{FAAF932B-88D6-DCB4-F0EF-C8D5EA8B5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347" y="1358096"/>
            <a:ext cx="6347206" cy="489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4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5EEC-992F-B60A-A448-39151ACF4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1DA9F-73EA-1EB5-B165-5A9601709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causes:</a:t>
            </a:r>
          </a:p>
          <a:p>
            <a:pPr lvl="1"/>
            <a:r>
              <a:rPr lang="en-US" dirty="0"/>
              <a:t>Human error</a:t>
            </a:r>
            <a:br>
              <a:rPr lang="en-US" dirty="0"/>
            </a:br>
            <a:r>
              <a:rPr lang="en-US" dirty="0"/>
              <a:t>x = 0</a:t>
            </a:r>
            <a:br>
              <a:rPr lang="en-US" dirty="0"/>
            </a:br>
            <a:r>
              <a:rPr lang="en-US" dirty="0"/>
              <a:t>while x&lt;10:</a:t>
            </a:r>
            <a:br>
              <a:rPr lang="en-US" dirty="0"/>
            </a:br>
            <a:r>
              <a:rPr lang="en-US" dirty="0"/>
              <a:t>    print(x)</a:t>
            </a:r>
          </a:p>
          <a:p>
            <a:pPr lvl="1"/>
            <a:r>
              <a:rPr lang="en-US" dirty="0"/>
              <a:t>Mechanical</a:t>
            </a:r>
          </a:p>
          <a:p>
            <a:pPr lvl="2"/>
            <a:r>
              <a:rPr lang="en-US" dirty="0"/>
              <a:t>Network loops</a:t>
            </a:r>
          </a:p>
          <a:p>
            <a:pPr lvl="2"/>
            <a:r>
              <a:rPr lang="en-US" dirty="0"/>
              <a:t>Threshold </a:t>
            </a:r>
          </a:p>
          <a:p>
            <a:pPr lvl="1"/>
            <a:r>
              <a:rPr lang="en-US" dirty="0"/>
              <a:t>Solution to mechanical: Maximum number of iterations</a:t>
            </a:r>
          </a:p>
        </p:txBody>
      </p:sp>
    </p:spTree>
    <p:extLst>
      <p:ext uri="{BB962C8B-B14F-4D97-AF65-F5344CB8AC3E}">
        <p14:creationId xmlns:p14="http://schemas.microsoft.com/office/powerpoint/2010/main" val="3332133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8689-CD2E-5BC2-1162-B398A569C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6B1F9-ED8B-6FF3-2E71-05E6AA0E4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Difference Between For and While Loop | Difference Between | For vs While  Loop">
            <a:extLst>
              <a:ext uri="{FF2B5EF4-FFF2-40B4-BE49-F238E27FC236}">
                <a16:creationId xmlns:a16="http://schemas.microsoft.com/office/drawing/2014/main" id="{5746B32C-0B43-A3FA-1C26-9267AC3FF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25" y="257175"/>
            <a:ext cx="5238750" cy="634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236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43C8-4484-4977-10F6-76754C1FC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or while loop?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76DF5-F8C6-6626-B807-C3341513E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Process every row in a spreadsheet</a:t>
            </a:r>
          </a:p>
          <a:p>
            <a:r>
              <a:rPr lang="en-GB" dirty="0"/>
              <a:t>Keep asking for a password until the user enters the correct one</a:t>
            </a:r>
          </a:p>
          <a:p>
            <a:r>
              <a:rPr lang="en-GB" dirty="0"/>
              <a:t>Calculate the total for each item in a shopping cart</a:t>
            </a:r>
          </a:p>
          <a:p>
            <a:r>
              <a:rPr lang="en-GB" dirty="0"/>
              <a:t>Download a file in chunks until the download is complete</a:t>
            </a:r>
          </a:p>
          <a:p>
            <a:r>
              <a:rPr lang="en-GB" dirty="0"/>
              <a:t>Send a welcome email to each new registrant</a:t>
            </a:r>
          </a:p>
          <a:p>
            <a:r>
              <a:rPr lang="en-GB" dirty="0"/>
              <a:t>Continue a countdown until a specified value is reached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7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FFB6-932D-9315-04C6-E8D8425F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 comprehension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6293-824C-5E71-C5ED-55870013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line loop over </a:t>
            </a:r>
            <a:r>
              <a:rPr lang="en-US" dirty="0" err="1"/>
              <a:t>iterable</a:t>
            </a:r>
            <a:r>
              <a:rPr lang="en-US" dirty="0"/>
              <a:t> object to produce a new collection</a:t>
            </a:r>
          </a:p>
          <a:p>
            <a:r>
              <a:rPr lang="en-US" dirty="0"/>
              <a:t>3 parts:</a:t>
            </a:r>
          </a:p>
          <a:p>
            <a:pPr lvl="1"/>
            <a:r>
              <a:rPr lang="en-US" dirty="0"/>
              <a:t>Output</a:t>
            </a:r>
          </a:p>
          <a:p>
            <a:pPr lvl="1"/>
            <a:r>
              <a:rPr lang="en-US" dirty="0" err="1"/>
              <a:t>Iterable</a:t>
            </a:r>
            <a:endParaRPr lang="en-US" dirty="0"/>
          </a:p>
          <a:p>
            <a:pPr lvl="1"/>
            <a:r>
              <a:rPr lang="en-US" dirty="0"/>
              <a:t>Condition</a:t>
            </a:r>
          </a:p>
        </p:txBody>
      </p:sp>
      <p:pic>
        <p:nvPicPr>
          <p:cNvPr id="1030" name="Picture 6" descr="List Comprehension in Python Explained for Beginners">
            <a:extLst>
              <a:ext uri="{FF2B5EF4-FFF2-40B4-BE49-F238E27FC236}">
                <a16:creationId xmlns:a16="http://schemas.microsoft.com/office/drawing/2014/main" id="{225172B8-62A3-1742-5967-4F9CD01E5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472" y="2513850"/>
            <a:ext cx="6798640" cy="327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26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808A9-E00B-DDF7-03E8-1D280BD52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comprehension: Nested loops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616DC-1F46-980A-729A-718FE8146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2880" y="2060575"/>
            <a:ext cx="5316771" cy="4195763"/>
          </a:xfrm>
        </p:spPr>
        <p:txBody>
          <a:bodyPr>
            <a:normAutofit/>
          </a:bodyPr>
          <a:lstStyle/>
          <a:p>
            <a:r>
              <a:rPr lang="en-US" dirty="0"/>
              <a:t>Multiple for loops: Logic flows from same way</a:t>
            </a:r>
          </a:p>
          <a:p>
            <a:pPr lvl="1"/>
            <a:r>
              <a:rPr lang="en-US" dirty="0"/>
              <a:t>Explicit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matrix = []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for row in range(3):       # outer loop → rows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row_list</a:t>
            </a:r>
            <a:r>
              <a:rPr lang="en-US" dirty="0"/>
              <a:t> = []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    for col in range(4):   # inner loop → columns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        </a:t>
            </a:r>
            <a:r>
              <a:rPr lang="en-US" dirty="0" err="1"/>
              <a:t>row_list.append</a:t>
            </a:r>
            <a:r>
              <a:rPr lang="en-US" dirty="0"/>
              <a:t>(row * col)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    </a:t>
            </a:r>
            <a:r>
              <a:rPr lang="en-US" dirty="0" err="1"/>
              <a:t>matrix.append</a:t>
            </a:r>
            <a:r>
              <a:rPr lang="en-US" dirty="0"/>
              <a:t>(</a:t>
            </a:r>
            <a:r>
              <a:rPr lang="en-US" dirty="0" err="1"/>
              <a:t>row_list</a:t>
            </a:r>
            <a:r>
              <a:rPr lang="en-US" dirty="0"/>
              <a:t>)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endParaRPr lang="en-US" dirty="0"/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print(matrix)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F3FF5-D319-DE3A-51AA-E2C65743F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241" y="2056092"/>
            <a:ext cx="6659880" cy="4200245"/>
          </a:xfrm>
        </p:spPr>
        <p:txBody>
          <a:bodyPr>
            <a:normAutofit/>
          </a:bodyPr>
          <a:lstStyle/>
          <a:p>
            <a:r>
              <a:rPr lang="en-US" dirty="0"/>
              <a:t>Outer loop, then inner loop, then inner loop</a:t>
            </a:r>
          </a:p>
          <a:p>
            <a:pPr marL="0" indent="0">
              <a:buNone/>
            </a:pPr>
            <a:br>
              <a:rPr lang="en-US" dirty="0"/>
            </a:br>
            <a:r>
              <a:rPr lang="en-GB" dirty="0"/>
              <a:t>matrix = [[row * col for col in range(4)] for row in range(3)]</a:t>
            </a:r>
            <a:br>
              <a:rPr lang="en-GB" dirty="0"/>
            </a:br>
            <a:r>
              <a:rPr lang="en-GB" dirty="0"/>
              <a:t>print(matrix)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96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B9E5-54EF-C77F-4D1F-6CBA8D34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2B751-6555-2D5C-EE9B-D386FDED9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something goes wrong with code?</a:t>
            </a:r>
          </a:p>
          <a:p>
            <a:pPr lvl="1"/>
            <a:r>
              <a:rPr lang="en-US" dirty="0"/>
              <a:t>Figuring out error messages</a:t>
            </a:r>
          </a:p>
          <a:p>
            <a:pPr lvl="1"/>
            <a:r>
              <a:rPr lang="en-US" dirty="0"/>
              <a:t>Debugging</a:t>
            </a:r>
          </a:p>
          <a:p>
            <a:pPr lvl="1"/>
            <a:r>
              <a:rPr lang="en-US" dirty="0"/>
              <a:t>Exceptions</a:t>
            </a:r>
          </a:p>
        </p:txBody>
      </p:sp>
    </p:spTree>
    <p:extLst>
      <p:ext uri="{BB962C8B-B14F-4D97-AF65-F5344CB8AC3E}">
        <p14:creationId xmlns:p14="http://schemas.microsoft.com/office/powerpoint/2010/main" val="4088520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FF1E-0912-71DF-5646-6DD08EF7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2167F-9583-3B21-3022-0B756B2F3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errors</a:t>
            </a:r>
          </a:p>
          <a:p>
            <a:pPr lvl="1"/>
            <a:r>
              <a:rPr lang="en-US" dirty="0"/>
              <a:t>Grammatical errors in code </a:t>
            </a:r>
          </a:p>
          <a:p>
            <a:r>
              <a:rPr lang="en-US" dirty="0"/>
              <a:t>Runtime errors</a:t>
            </a:r>
          </a:p>
          <a:p>
            <a:r>
              <a:rPr lang="en-US" dirty="0"/>
              <a:t>Logical errors</a:t>
            </a:r>
          </a:p>
          <a:p>
            <a:pPr lvl="1"/>
            <a:r>
              <a:rPr lang="en-US" dirty="0"/>
              <a:t>Code does not produce correct results</a:t>
            </a:r>
          </a:p>
        </p:txBody>
      </p:sp>
    </p:spTree>
    <p:extLst>
      <p:ext uri="{BB962C8B-B14F-4D97-AF65-F5344CB8AC3E}">
        <p14:creationId xmlns:p14="http://schemas.microsoft.com/office/powerpoint/2010/main" val="3249458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EEE7-EAD0-9261-3994-92E1ED58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FCE17-5438-4A2A-CEF9-F0156436F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NameError</a:t>
            </a:r>
            <a:r>
              <a:rPr lang="en-US" dirty="0"/>
              <a:t> – Function or object does not exist</a:t>
            </a:r>
          </a:p>
          <a:p>
            <a:r>
              <a:rPr lang="en-US" dirty="0" err="1"/>
              <a:t>TypeError</a:t>
            </a:r>
            <a:r>
              <a:rPr lang="en-US" dirty="0"/>
              <a:t> – Operation on incompatible data type</a:t>
            </a:r>
          </a:p>
          <a:p>
            <a:r>
              <a:rPr lang="en-US" dirty="0" err="1"/>
              <a:t>IndexError</a:t>
            </a:r>
            <a:r>
              <a:rPr lang="en-US" dirty="0"/>
              <a:t> -  Index value specified out of range</a:t>
            </a:r>
          </a:p>
          <a:p>
            <a:r>
              <a:rPr lang="en-US" dirty="0" err="1"/>
              <a:t>AttributeError</a:t>
            </a:r>
            <a:r>
              <a:rPr lang="en-US" dirty="0"/>
              <a:t> – Attribute does not exist for object type</a:t>
            </a:r>
          </a:p>
        </p:txBody>
      </p:sp>
    </p:spTree>
    <p:extLst>
      <p:ext uri="{BB962C8B-B14F-4D97-AF65-F5344CB8AC3E}">
        <p14:creationId xmlns:p14="http://schemas.microsoft.com/office/powerpoint/2010/main" val="3424533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B871-3359-D8CB-CFAD-E898EBD9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86A74-9E0B-11DC-E9A7-96B1C39F1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Narrowing uncertainty about where something went wrong and why</a:t>
            </a:r>
          </a:p>
          <a:p>
            <a:r>
              <a:rPr lang="en-US" dirty="0"/>
              <a:t>Options:</a:t>
            </a:r>
          </a:p>
          <a:p>
            <a:pPr lvl="1"/>
            <a:r>
              <a:rPr lang="en-US" dirty="0"/>
              <a:t>Print commands</a:t>
            </a:r>
          </a:p>
          <a:p>
            <a:pPr lvl="1"/>
            <a:r>
              <a:rPr lang="en-US" dirty="0"/>
              <a:t>Breakpoints</a:t>
            </a:r>
          </a:p>
          <a:p>
            <a:pPr lvl="1"/>
            <a:r>
              <a:rPr lang="en-US" dirty="0"/>
              <a:t>Logging </a:t>
            </a:r>
          </a:p>
          <a:p>
            <a:pPr lvl="1"/>
            <a:r>
              <a:rPr lang="en-US" dirty="0"/>
              <a:t>Dedicated debuggers</a:t>
            </a:r>
          </a:p>
        </p:txBody>
      </p:sp>
    </p:spTree>
    <p:extLst>
      <p:ext uri="{BB962C8B-B14F-4D97-AF65-F5344CB8AC3E}">
        <p14:creationId xmlns:p14="http://schemas.microsoft.com/office/powerpoint/2010/main" val="990108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386C-904A-B29F-AD76-1A7FE178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CAEE-087C-66A8-20A1-A946AC9F8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in functions</a:t>
            </a:r>
          </a:p>
          <a:p>
            <a:r>
              <a:rPr lang="en-US" dirty="0"/>
              <a:t>Anticipating potential errors and specifying what happens if they occur</a:t>
            </a:r>
          </a:p>
          <a:p>
            <a:pPr lvl="1"/>
            <a:r>
              <a:rPr lang="en-US" dirty="0"/>
              <a:t>Do this rather than let the program crash</a:t>
            </a:r>
          </a:p>
          <a:p>
            <a:r>
              <a:rPr lang="en-US" dirty="0"/>
              <a:t>try…except</a:t>
            </a:r>
          </a:p>
          <a:p>
            <a:pPr lvl="1"/>
            <a:r>
              <a:rPr lang="en-US" dirty="0"/>
              <a:t>try = Run this block of code</a:t>
            </a:r>
          </a:p>
          <a:p>
            <a:pPr lvl="1"/>
            <a:r>
              <a:rPr lang="en-US" dirty="0"/>
              <a:t>Except = if error in try block do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599DF-7557-9CDF-B188-58E5F70CD6D1}"/>
              </a:ext>
            </a:extLst>
          </p:cNvPr>
          <p:cNvSpPr txBox="1"/>
          <p:nvPr/>
        </p:nvSpPr>
        <p:spPr>
          <a:xfrm>
            <a:off x="1490472" y="4970741"/>
            <a:ext cx="49286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CC7BF4"/>
                </a:solidFill>
                <a:effectLst/>
              </a:rPr>
              <a:t>def</a:t>
            </a:r>
            <a:r>
              <a:rPr lang="en-GB" dirty="0"/>
              <a:t> </a:t>
            </a:r>
            <a:r>
              <a:rPr lang="en-GB" dirty="0" err="1">
                <a:solidFill>
                  <a:srgbClr val="70B8FF"/>
                </a:solidFill>
                <a:effectLst/>
              </a:rPr>
              <a:t>safe_convert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/>
              <a:t>value</a:t>
            </a:r>
            <a:r>
              <a:rPr lang="en-GB" dirty="0">
                <a:solidFill>
                  <a:srgbClr val="D3D7DE"/>
                </a:solidFill>
                <a:effectLst/>
              </a:rPr>
              <a:t>):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try</a:t>
            </a:r>
            <a:r>
              <a:rPr lang="en-GB" dirty="0">
                <a:solidFill>
                  <a:srgbClr val="D3D7DE"/>
                </a:solidFill>
                <a:effectLst/>
              </a:rPr>
              <a:t>: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	return</a:t>
            </a:r>
            <a:r>
              <a:rPr lang="en-GB" dirty="0"/>
              <a:t> </a:t>
            </a:r>
            <a:r>
              <a:rPr lang="en-GB" dirty="0">
                <a:solidFill>
                  <a:srgbClr val="FBAD60"/>
                </a:solidFill>
                <a:effectLst/>
              </a:rPr>
              <a:t>float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/>
              <a:t>value</a:t>
            </a:r>
            <a:r>
              <a:rPr lang="en-GB" dirty="0">
                <a:solidFill>
                  <a:srgbClr val="D3D7DE"/>
                </a:solidFill>
                <a:effectLst/>
              </a:rPr>
              <a:t>)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except</a:t>
            </a:r>
            <a:r>
              <a:rPr lang="en-GB" dirty="0"/>
              <a:t> </a:t>
            </a:r>
            <a:r>
              <a:rPr lang="en-GB" dirty="0">
                <a:solidFill>
                  <a:srgbClr val="D3D7DE"/>
                </a:solidFill>
                <a:effectLst/>
              </a:rPr>
              <a:t>(</a:t>
            </a:r>
            <a:r>
              <a:rPr lang="en-GB" dirty="0" err="1"/>
              <a:t>ValueError</a:t>
            </a:r>
            <a:r>
              <a:rPr lang="en-GB" dirty="0">
                <a:solidFill>
                  <a:srgbClr val="D3D7DE"/>
                </a:solidFill>
                <a:effectLst/>
              </a:rPr>
              <a:t>,</a:t>
            </a:r>
            <a:r>
              <a:rPr lang="en-GB" dirty="0"/>
              <a:t> </a:t>
            </a:r>
            <a:r>
              <a:rPr lang="en-GB" dirty="0" err="1"/>
              <a:t>TypeError</a:t>
            </a:r>
            <a:r>
              <a:rPr lang="en-GB" dirty="0">
                <a:solidFill>
                  <a:srgbClr val="D3D7DE"/>
                </a:solidFill>
                <a:effectLst/>
              </a:rPr>
              <a:t>):</a:t>
            </a:r>
            <a:r>
              <a:rPr lang="en-GB" dirty="0"/>
              <a:t> </a:t>
            </a:r>
          </a:p>
          <a:p>
            <a:r>
              <a:rPr lang="en-GB" dirty="0">
                <a:solidFill>
                  <a:srgbClr val="CC7BF4"/>
                </a:solidFill>
                <a:effectLst/>
              </a:rPr>
              <a:t>		return</a:t>
            </a:r>
            <a:r>
              <a:rPr lang="en-GB" dirty="0"/>
              <a:t> </a:t>
            </a:r>
            <a:r>
              <a:rPr lang="en-GB" dirty="0">
                <a:solidFill>
                  <a:srgbClr val="5EEDED"/>
                </a:solidFill>
                <a:effectLst/>
              </a:rPr>
              <a:t>None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65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6FF66-720F-FC7E-8B6D-690903BE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Exceptions,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976F2-7028-AAEF-0BB0-DEF4D36A2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try/except sparingly</a:t>
            </a:r>
          </a:p>
          <a:p>
            <a:pPr lvl="1"/>
            <a:r>
              <a:rPr lang="en-GB" dirty="0"/>
              <a:t>Wrap only code that may fail</a:t>
            </a:r>
          </a:p>
          <a:p>
            <a:pPr lvl="1"/>
            <a:r>
              <a:rPr lang="en-GB" dirty="0"/>
              <a:t>Catch specific exceptions</a:t>
            </a:r>
          </a:p>
          <a:p>
            <a:pPr lvl="1"/>
            <a:r>
              <a:rPr lang="en-GB" dirty="0"/>
              <a:t>Don’t use it for normal logic that can be checked</a:t>
            </a:r>
          </a:p>
          <a:p>
            <a:pPr lvl="1"/>
            <a:r>
              <a:rPr lang="en-GB" dirty="0"/>
              <a:t>Log or handle the error meaningfully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601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35131</TotalTime>
  <Words>541</Words>
  <Application>Microsoft Office PowerPoint</Application>
  <PresentationFormat>Widescreen</PresentationFormat>
  <Paragraphs>110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Century Gothic</vt:lpstr>
      <vt:lpstr>Wingdings 3</vt:lpstr>
      <vt:lpstr>Ion</vt:lpstr>
      <vt:lpstr>Functions II</vt:lpstr>
      <vt:lpstr>Outline </vt:lpstr>
      <vt:lpstr>Documentation</vt:lpstr>
      <vt:lpstr>PowerPoint Presentation</vt:lpstr>
      <vt:lpstr>For loops</vt:lpstr>
      <vt:lpstr>PowerPoint Presentation</vt:lpstr>
      <vt:lpstr>While loops</vt:lpstr>
      <vt:lpstr>PowerPoint Presentation</vt:lpstr>
      <vt:lpstr>Infinite loops</vt:lpstr>
      <vt:lpstr>PowerPoint Presentation</vt:lpstr>
      <vt:lpstr>For or while loop?</vt:lpstr>
      <vt:lpstr>List comprehension </vt:lpstr>
      <vt:lpstr>List comprehension: Nested loops </vt:lpstr>
      <vt:lpstr>Errors</vt:lpstr>
      <vt:lpstr>Error messages</vt:lpstr>
      <vt:lpstr>Runtime errors</vt:lpstr>
      <vt:lpstr>Debugging</vt:lpstr>
      <vt:lpstr>Exceptions</vt:lpstr>
      <vt:lpstr>Exceptions, part 2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Hicks</dc:creator>
  <cp:lastModifiedBy>Raymond Hicks</cp:lastModifiedBy>
  <cp:revision>9</cp:revision>
  <dcterms:created xsi:type="dcterms:W3CDTF">2026-02-13T15:52:46Z</dcterms:created>
  <dcterms:modified xsi:type="dcterms:W3CDTF">2026-03-11T19:19:12Z</dcterms:modified>
</cp:coreProperties>
</file>