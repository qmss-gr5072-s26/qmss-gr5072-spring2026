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81" r:id="rId7"/>
    <p:sldId id="261" r:id="rId8"/>
    <p:sldId id="267" r:id="rId9"/>
    <p:sldId id="283" r:id="rId10"/>
    <p:sldId id="262" r:id="rId11"/>
    <p:sldId id="276" r:id="rId12"/>
    <p:sldId id="270" r:id="rId13"/>
    <p:sldId id="269" r:id="rId14"/>
    <p:sldId id="268" r:id="rId15"/>
    <p:sldId id="282" r:id="rId16"/>
    <p:sldId id="263" r:id="rId17"/>
    <p:sldId id="277" r:id="rId18"/>
    <p:sldId id="278" r:id="rId19"/>
    <p:sldId id="279" r:id="rId20"/>
    <p:sldId id="264" r:id="rId21"/>
    <p:sldId id="265" r:id="rId22"/>
    <p:sldId id="266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34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8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95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77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2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3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86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9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49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4134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3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01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84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17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29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220E0F4-8B7E-464B-AEA5-AE3C4FE024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2644F-D048-4F09-8677-0468A181C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004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FB01-AF27-971E-16CA-D8C7F3FC53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Testing and Debugging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6D06A-2243-84E9-9AD3-DC5CB380F6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B13DA7A-F01F-6DE7-E288-BC28BC9EC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372" y="90742"/>
            <a:ext cx="57150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37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C59CC-C2F6-999E-E49C-995ACCE9D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8FDD3-657D-D08D-9651-56762BFDE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things go wrong</a:t>
            </a:r>
          </a:p>
          <a:p>
            <a:r>
              <a:rPr lang="en-US" dirty="0"/>
              <a:t>Finding errors</a:t>
            </a:r>
          </a:p>
          <a:p>
            <a:r>
              <a:rPr lang="en-US" dirty="0"/>
              <a:t>Preventing errors</a:t>
            </a:r>
          </a:p>
          <a:p>
            <a:r>
              <a:rPr lang="en-US" dirty="0"/>
              <a:t>Types of test</a:t>
            </a:r>
          </a:p>
          <a:p>
            <a:r>
              <a:rPr lang="en-US" dirty="0"/>
              <a:t>Hearts example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56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B7960-A513-5A88-FAE4-405477CF8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things go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1C49E-1E2B-A897-DEFE-90612AB12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Types of errors</a:t>
            </a:r>
          </a:p>
          <a:p>
            <a:r>
              <a:rPr lang="en-GB" dirty="0"/>
              <a:t>Reading tracebacks</a:t>
            </a:r>
          </a:p>
          <a:p>
            <a:r>
              <a:rPr lang="en-GB" dirty="0"/>
              <a:t>Logical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28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FFBD-2A13-6698-FEEC-FD8AA97AB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error code&#10;&#10;Description automatically generated">
            <a:extLst>
              <a:ext uri="{FF2B5EF4-FFF2-40B4-BE49-F238E27FC236}">
                <a16:creationId xmlns:a16="http://schemas.microsoft.com/office/drawing/2014/main" id="{F9AA3C61-A7C9-2CE4-35B7-679FAC723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856" y="428162"/>
            <a:ext cx="7781544" cy="6006380"/>
          </a:xfrm>
        </p:spPr>
      </p:pic>
    </p:spTree>
    <p:extLst>
      <p:ext uri="{BB962C8B-B14F-4D97-AF65-F5344CB8AC3E}">
        <p14:creationId xmlns:p14="http://schemas.microsoft.com/office/powerpoint/2010/main" val="2757585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BF7FF-CC03-70BD-266D-DFBBE85AD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Python Error types</a:t>
            </a:r>
          </a:p>
        </p:txBody>
      </p:sp>
      <p:pic>
        <p:nvPicPr>
          <p:cNvPr id="5" name="Content Placeholder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0EB237D5-5A2B-839E-EB2D-8CE7508F8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3" y="2312194"/>
            <a:ext cx="6534150" cy="3676650"/>
          </a:xfrm>
        </p:spPr>
      </p:pic>
    </p:spTree>
    <p:extLst>
      <p:ext uri="{BB962C8B-B14F-4D97-AF65-F5344CB8AC3E}">
        <p14:creationId xmlns:p14="http://schemas.microsoft.com/office/powerpoint/2010/main" val="1908071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4EEE7-EAD0-9261-3994-92E1ED588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FCE17-5438-4A2A-CEF9-F0156436F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NameError</a:t>
            </a:r>
            <a:r>
              <a:rPr lang="en-US" dirty="0"/>
              <a:t> – Function or object does not exist</a:t>
            </a:r>
          </a:p>
          <a:p>
            <a:r>
              <a:rPr lang="en-US" dirty="0" err="1"/>
              <a:t>TypeError</a:t>
            </a:r>
            <a:r>
              <a:rPr lang="en-US" dirty="0"/>
              <a:t> – Operation on incompatible data type</a:t>
            </a:r>
          </a:p>
          <a:p>
            <a:r>
              <a:rPr lang="en-US" dirty="0" err="1"/>
              <a:t>IndexError</a:t>
            </a:r>
            <a:r>
              <a:rPr lang="en-US" dirty="0"/>
              <a:t> -  Index value specified out of range</a:t>
            </a:r>
          </a:p>
          <a:p>
            <a:r>
              <a:rPr lang="en-US" dirty="0" err="1"/>
              <a:t>AttributeError</a:t>
            </a:r>
            <a:r>
              <a:rPr lang="en-US" dirty="0"/>
              <a:t> – Attribute does not exist for object type</a:t>
            </a:r>
          </a:p>
        </p:txBody>
      </p:sp>
    </p:spTree>
    <p:extLst>
      <p:ext uri="{BB962C8B-B14F-4D97-AF65-F5344CB8AC3E}">
        <p14:creationId xmlns:p14="http://schemas.microsoft.com/office/powerpoint/2010/main" val="3424533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2168A-8927-4932-1864-355E195C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85601-F95C-9C52-8512-578EE9AB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Blue box: Name of exception raised</a:t>
            </a:r>
          </a:p>
          <a:p>
            <a:r>
              <a:rPr lang="en-GB" dirty="0"/>
              <a:t>Green box: Error message with information about the reason an exception was raised</a:t>
            </a:r>
          </a:p>
          <a:p>
            <a:r>
              <a:rPr lang="en-GB" dirty="0"/>
              <a:t>Yellow box: Function calls moving from most recent to least recent, all specifying where the code can be found.</a:t>
            </a:r>
          </a:p>
          <a:p>
            <a:r>
              <a:rPr lang="en-GB" dirty="0"/>
              <a:t>Red underline: Actual code run</a:t>
            </a: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05E2C1D-4554-E72D-E2D0-B88D88015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940" y="1403794"/>
            <a:ext cx="78486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769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D2B8-2310-5939-9760-8BAD86C87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3A5AD-D43D-AB2D-6B3E-E7873A772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difficult to catch</a:t>
            </a:r>
          </a:p>
          <a:p>
            <a:r>
              <a:rPr lang="en-US" dirty="0"/>
              <a:t>Most of the time no errors outputted</a:t>
            </a:r>
          </a:p>
          <a:p>
            <a:r>
              <a:rPr lang="en-US" dirty="0"/>
              <a:t>Causes:</a:t>
            </a:r>
          </a:p>
          <a:p>
            <a:pPr lvl="1"/>
            <a:r>
              <a:rPr lang="en-US" dirty="0"/>
              <a:t>Flawed algorithms—wrong formulas</a:t>
            </a:r>
          </a:p>
          <a:p>
            <a:pPr lvl="1"/>
            <a:r>
              <a:rPr lang="en-US" dirty="0"/>
              <a:t>Incorrect syntax—code is correct, but wrong operators</a:t>
            </a:r>
          </a:p>
          <a:p>
            <a:pPr lvl="1"/>
            <a:r>
              <a:rPr lang="en-US" dirty="0"/>
              <a:t>Faulty logic—thinking about problem incorrectly</a:t>
            </a:r>
          </a:p>
          <a:p>
            <a:pPr lvl="2"/>
            <a:r>
              <a:rPr lang="en-US" dirty="0"/>
              <a:t>Hearts example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94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FEA2D-5189-975C-2383-871338F02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error fixes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9A557-F0FA-678B-4C5A-E2A550B7D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easiest way is to review code line by line</a:t>
            </a:r>
          </a:p>
          <a:p>
            <a:pPr lvl="1"/>
            <a:r>
              <a:rPr lang="en-US" dirty="0"/>
              <a:t>Another reason for modularity</a:t>
            </a:r>
          </a:p>
          <a:p>
            <a:r>
              <a:rPr lang="en-US" dirty="0"/>
              <a:t>Ask someone else to review</a:t>
            </a:r>
          </a:p>
          <a:p>
            <a:r>
              <a:rPr lang="en-US" dirty="0"/>
              <a:t>Rubber duck debugging: Explain code line by line to inanimate object</a:t>
            </a:r>
          </a:p>
        </p:txBody>
      </p:sp>
      <p:pic>
        <p:nvPicPr>
          <p:cNvPr id="5126" name="Picture 6" descr="Rubber duck debugging technique for coders">
            <a:extLst>
              <a:ext uri="{FF2B5EF4-FFF2-40B4-BE49-F238E27FC236}">
                <a16:creationId xmlns:a16="http://schemas.microsoft.com/office/drawing/2014/main" id="{5104545A-13AA-A793-C393-BF059BBDE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172" y="3831336"/>
            <a:ext cx="2896413" cy="243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896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7252-B2E9-2420-5946-2E489356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errors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0A401-045F-9493-9B61-8FA9843C7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Assert statements (defensive)</a:t>
            </a:r>
          </a:p>
          <a:p>
            <a:r>
              <a:rPr lang="en-GB" dirty="0"/>
              <a:t>Print statements</a:t>
            </a:r>
          </a:p>
          <a:p>
            <a:r>
              <a:rPr lang="en-GB" dirty="0"/>
              <a:t>Debuggers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26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1B871-3359-D8CB-CFAD-E898EBD9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86A74-9E0B-11DC-E9A7-96B1C39F1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Options:</a:t>
            </a:r>
          </a:p>
          <a:p>
            <a:pPr lvl="1"/>
            <a:r>
              <a:rPr lang="en-US" dirty="0"/>
              <a:t>Print commands</a:t>
            </a:r>
          </a:p>
          <a:p>
            <a:pPr lvl="1"/>
            <a:r>
              <a:rPr lang="en-US" dirty="0"/>
              <a:t>Breakpoints</a:t>
            </a:r>
          </a:p>
          <a:p>
            <a:pPr lvl="1"/>
            <a:r>
              <a:rPr lang="en-US" dirty="0"/>
              <a:t>Logging </a:t>
            </a:r>
          </a:p>
          <a:p>
            <a:pPr lvl="1"/>
            <a:r>
              <a:rPr lang="en-US" dirty="0"/>
              <a:t>Dedicated debuggers</a:t>
            </a:r>
          </a:p>
        </p:txBody>
      </p:sp>
    </p:spTree>
    <p:extLst>
      <p:ext uri="{BB962C8B-B14F-4D97-AF65-F5344CB8AC3E}">
        <p14:creationId xmlns:p14="http://schemas.microsoft.com/office/powerpoint/2010/main" val="990108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D4D1-9DBC-C937-2BA4-0CFADA698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58BB3-E19B-BF06-1624-6E370F63A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concept of class</a:t>
            </a:r>
          </a:p>
          <a:p>
            <a:r>
              <a:rPr lang="en-US" dirty="0"/>
              <a:t>Syntax:</a:t>
            </a:r>
            <a:br>
              <a:rPr lang="en-US" dirty="0"/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BF4"/>
                </a:solidFill>
                <a:effectLst/>
                <a:latin typeface="var(--font-mono)"/>
              </a:rPr>
              <a:t>assert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AECF0"/>
                </a:solidFill>
                <a:effectLst/>
                <a:latin typeface="var(--font-mono)"/>
              </a:rPr>
              <a:t> condition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3D7DE"/>
                </a:solidFill>
                <a:effectLst/>
                <a:latin typeface="var(--font-mono)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AECF0"/>
                </a:solidFill>
                <a:effectLst/>
                <a:latin typeface="var(--font-mono)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BE963"/>
                </a:solidFill>
                <a:effectLst/>
                <a:latin typeface="var(--font-mono)"/>
              </a:rPr>
              <a:t>"message if condition is False"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en-US" dirty="0"/>
              <a:t>Used for checking arguments</a:t>
            </a:r>
          </a:p>
          <a:p>
            <a:r>
              <a:rPr lang="en-US" dirty="0"/>
              <a:t>Used for debugging</a:t>
            </a:r>
          </a:p>
          <a:p>
            <a:r>
              <a:rPr lang="en-US" dirty="0"/>
              <a:t>Used for testing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305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CDB27-BD83-FBF9-75E0-917EBBD58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54A07-9651-65E5-CC1D-EB9DE3478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Print values of variables to ensure they are correct</a:t>
            </a:r>
          </a:p>
          <a:p>
            <a:pPr lvl="1"/>
            <a:r>
              <a:rPr lang="en-US" dirty="0"/>
              <a:t>Use f-strings for context</a:t>
            </a:r>
          </a:p>
          <a:p>
            <a:r>
              <a:rPr lang="en-US" dirty="0"/>
              <a:t>Tracking execution flow: </a:t>
            </a:r>
          </a:p>
          <a:p>
            <a:pPr lvl="1"/>
            <a:r>
              <a:rPr lang="en-US" dirty="0"/>
              <a:t>How far does code get before crashing</a:t>
            </a:r>
          </a:p>
          <a:p>
            <a:r>
              <a:rPr lang="en-US" dirty="0"/>
              <a:t>Effective placement:</a:t>
            </a:r>
          </a:p>
          <a:p>
            <a:pPr lvl="1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function entry — did we get here with the right values</a:t>
            </a:r>
          </a:p>
          <a:p>
            <a:pPr lvl="1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branch points — which path did we take </a:t>
            </a:r>
          </a:p>
          <a:p>
            <a:pPr lvl="1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loop iterations — are we iterating correctly </a:t>
            </a:r>
          </a:p>
          <a:p>
            <a:pPr lvl="1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function exit — what are we returning </a:t>
            </a:r>
          </a:p>
          <a:p>
            <a:r>
              <a:rPr lang="en-US" dirty="0"/>
              <a:t>Do not forget to remove after debugging</a:t>
            </a:r>
          </a:p>
        </p:txBody>
      </p:sp>
    </p:spTree>
    <p:extLst>
      <p:ext uri="{BB962C8B-B14F-4D97-AF65-F5344CB8AC3E}">
        <p14:creationId xmlns:p14="http://schemas.microsoft.com/office/powerpoint/2010/main" val="2434736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7D1C-6D01-E99B-7874-FB37CC7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4DF44-3FB5-75B4-68A6-2BB296D00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Narrowing uncertainty about where something went wrong and why</a:t>
            </a:r>
          </a:p>
          <a:p>
            <a:r>
              <a:rPr lang="en-US" dirty="0"/>
              <a:t>Basic intuition: Step into code and interact with it</a:t>
            </a:r>
          </a:p>
          <a:p>
            <a:r>
              <a:rPr lang="en-US" dirty="0"/>
              <a:t>Can set breakpoints to pause code at certain points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38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5A25-2DD6-FB27-57A1-22D9D86B7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Debuggers,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0FDB3-A8EB-86A8-9DD3-92B9C1E6F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VS Code</a:t>
            </a:r>
          </a:p>
          <a:p>
            <a:r>
              <a:rPr lang="en-US" dirty="0"/>
              <a:t>PyCharm</a:t>
            </a:r>
          </a:p>
          <a:p>
            <a:r>
              <a:rPr lang="en-US" dirty="0" err="1"/>
              <a:t>juPyter</a:t>
            </a:r>
            <a:r>
              <a:rPr lang="en-US" dirty="0"/>
              <a:t> </a:t>
            </a:r>
          </a:p>
          <a:p>
            <a:r>
              <a:rPr lang="en-US" dirty="0"/>
              <a:t>All have built-in debuggers that make it easy to step into code</a:t>
            </a:r>
          </a:p>
        </p:txBody>
      </p:sp>
    </p:spTree>
    <p:extLst>
      <p:ext uri="{BB962C8B-B14F-4D97-AF65-F5344CB8AC3E}">
        <p14:creationId xmlns:p14="http://schemas.microsoft.com/office/powerpoint/2010/main" val="3322322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3B84-42E8-5DBB-B66F-57DCDFC8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Preventing errors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C9167-FF5B-9433-651B-B265A06C6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Assert statements again (offensive)</a:t>
            </a:r>
          </a:p>
          <a:p>
            <a:r>
              <a:rPr lang="en-GB" dirty="0"/>
              <a:t>try/except</a:t>
            </a:r>
          </a:p>
          <a:p>
            <a:r>
              <a:rPr lang="en-GB" dirty="0"/>
              <a:t>Distinction between assert and try/except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45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FF355-37D9-4510-75FB-BAE0C3216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4150D-7569-D96B-BA4F-10E4D1EE4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beginning of functions to check arguments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58AF9"/>
                </a:solidFill>
                <a:effectLst/>
                <a:latin typeface="Arial Unicode MS"/>
              </a:rPr>
              <a:t>def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A903E"/>
                </a:solidFill>
                <a:effectLst/>
                <a:latin typeface="Arial Unicode MS"/>
              </a:rPr>
              <a:t>calculate_average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A903E"/>
                </a:solidFill>
                <a:effectLst/>
                <a:latin typeface="Arial Unicode MS"/>
              </a:rPr>
              <a:t>numbers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):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  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9AA0A6"/>
                </a:solidFill>
                <a:effectLst/>
                <a:latin typeface="Arial Unicode MS"/>
              </a:rPr>
              <a:t># Precondition: Ensure the list is not empty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58AF9"/>
                </a:solidFill>
                <a:effectLst/>
                <a:latin typeface="Arial Unicode MS"/>
              </a:rPr>
              <a:t>assert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len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(numbers) &gt;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A903E"/>
                </a:solidFill>
                <a:effectLst/>
                <a:latin typeface="Arial Unicode MS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1C995"/>
                </a:solidFill>
                <a:effectLst/>
                <a:latin typeface="Arial Unicode MS"/>
              </a:rPr>
              <a:t>"List of numbers cannot be empty"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58AF9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 sum(numbers) 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len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(numbers)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720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386C-904A-B29F-AD76-1A7FE178B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0CAEE-087C-66A8-20A1-A946AC9F8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Useful in functions</a:t>
            </a:r>
          </a:p>
          <a:p>
            <a:r>
              <a:rPr lang="en-US" dirty="0"/>
              <a:t>Anticipating potential errors and specifying what happens if they occur</a:t>
            </a:r>
          </a:p>
          <a:p>
            <a:pPr lvl="1"/>
            <a:r>
              <a:rPr lang="en-US" dirty="0"/>
              <a:t>Do this rather than let the program crash</a:t>
            </a:r>
          </a:p>
          <a:p>
            <a:r>
              <a:rPr lang="en-US" dirty="0"/>
              <a:t>try…except</a:t>
            </a:r>
          </a:p>
          <a:p>
            <a:pPr lvl="1"/>
            <a:r>
              <a:rPr lang="en-US" dirty="0"/>
              <a:t>try = Run this block of code</a:t>
            </a:r>
          </a:p>
          <a:p>
            <a:pPr lvl="1"/>
            <a:r>
              <a:rPr lang="en-US" dirty="0"/>
              <a:t>Except = if error in try block do this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3599DF-7557-9CDF-B188-58E5F70CD6D1}"/>
              </a:ext>
            </a:extLst>
          </p:cNvPr>
          <p:cNvSpPr txBox="1"/>
          <p:nvPr/>
        </p:nvSpPr>
        <p:spPr>
          <a:xfrm>
            <a:off x="1490472" y="4970741"/>
            <a:ext cx="49286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C7BF4"/>
                </a:solidFill>
                <a:effectLst/>
              </a:rPr>
              <a:t>def</a:t>
            </a:r>
            <a:r>
              <a:rPr lang="en-GB" dirty="0"/>
              <a:t> </a:t>
            </a:r>
            <a:r>
              <a:rPr lang="en-GB" dirty="0" err="1">
                <a:solidFill>
                  <a:srgbClr val="70B8FF"/>
                </a:solidFill>
                <a:effectLst/>
              </a:rPr>
              <a:t>safe_convert</a:t>
            </a:r>
            <a:r>
              <a:rPr lang="en-GB" dirty="0">
                <a:solidFill>
                  <a:srgbClr val="D3D7DE"/>
                </a:solidFill>
                <a:effectLst/>
              </a:rPr>
              <a:t>(</a:t>
            </a:r>
            <a:r>
              <a:rPr lang="en-GB" dirty="0"/>
              <a:t>value</a:t>
            </a:r>
            <a:r>
              <a:rPr lang="en-GB" dirty="0">
                <a:solidFill>
                  <a:srgbClr val="D3D7DE"/>
                </a:solidFill>
                <a:effectLst/>
              </a:rPr>
              <a:t>):</a:t>
            </a:r>
            <a:r>
              <a:rPr lang="en-GB" dirty="0"/>
              <a:t> </a:t>
            </a:r>
          </a:p>
          <a:p>
            <a:r>
              <a:rPr lang="en-GB" dirty="0">
                <a:solidFill>
                  <a:srgbClr val="CC7BF4"/>
                </a:solidFill>
                <a:effectLst/>
              </a:rPr>
              <a:t>	try</a:t>
            </a:r>
            <a:r>
              <a:rPr lang="en-GB" dirty="0">
                <a:solidFill>
                  <a:srgbClr val="D3D7DE"/>
                </a:solidFill>
                <a:effectLst/>
              </a:rPr>
              <a:t>:</a:t>
            </a:r>
            <a:r>
              <a:rPr lang="en-GB" dirty="0"/>
              <a:t> </a:t>
            </a:r>
          </a:p>
          <a:p>
            <a:r>
              <a:rPr lang="en-GB" dirty="0">
                <a:solidFill>
                  <a:srgbClr val="CC7BF4"/>
                </a:solidFill>
                <a:effectLst/>
              </a:rPr>
              <a:t>		return</a:t>
            </a:r>
            <a:r>
              <a:rPr lang="en-GB" dirty="0"/>
              <a:t> </a:t>
            </a:r>
            <a:r>
              <a:rPr lang="en-GB" dirty="0">
                <a:solidFill>
                  <a:srgbClr val="FBAD60"/>
                </a:solidFill>
                <a:effectLst/>
              </a:rPr>
              <a:t>float</a:t>
            </a:r>
            <a:r>
              <a:rPr lang="en-GB" dirty="0">
                <a:solidFill>
                  <a:srgbClr val="D3D7DE"/>
                </a:solidFill>
                <a:effectLst/>
              </a:rPr>
              <a:t>(</a:t>
            </a:r>
            <a:r>
              <a:rPr lang="en-GB" dirty="0"/>
              <a:t>value</a:t>
            </a:r>
            <a:r>
              <a:rPr lang="en-GB" dirty="0">
                <a:solidFill>
                  <a:srgbClr val="D3D7DE"/>
                </a:solidFill>
                <a:effectLst/>
              </a:rPr>
              <a:t>)</a:t>
            </a:r>
            <a:r>
              <a:rPr lang="en-GB" dirty="0"/>
              <a:t> </a:t>
            </a:r>
          </a:p>
          <a:p>
            <a:r>
              <a:rPr lang="en-GB" dirty="0">
                <a:solidFill>
                  <a:srgbClr val="CC7BF4"/>
                </a:solidFill>
                <a:effectLst/>
              </a:rPr>
              <a:t>	except</a:t>
            </a:r>
            <a:r>
              <a:rPr lang="en-GB" dirty="0"/>
              <a:t> </a:t>
            </a:r>
            <a:r>
              <a:rPr lang="en-GB" dirty="0">
                <a:solidFill>
                  <a:srgbClr val="D3D7DE"/>
                </a:solidFill>
                <a:effectLst/>
              </a:rPr>
              <a:t>(</a:t>
            </a:r>
            <a:r>
              <a:rPr lang="en-GB" dirty="0" err="1"/>
              <a:t>ValueError</a:t>
            </a:r>
            <a:r>
              <a:rPr lang="en-GB" dirty="0">
                <a:solidFill>
                  <a:srgbClr val="D3D7DE"/>
                </a:solidFill>
                <a:effectLst/>
              </a:rPr>
              <a:t>,</a:t>
            </a:r>
            <a:r>
              <a:rPr lang="en-GB" dirty="0"/>
              <a:t> </a:t>
            </a:r>
            <a:r>
              <a:rPr lang="en-GB" dirty="0" err="1"/>
              <a:t>TypeError</a:t>
            </a:r>
            <a:r>
              <a:rPr lang="en-GB" dirty="0">
                <a:solidFill>
                  <a:srgbClr val="D3D7DE"/>
                </a:solidFill>
                <a:effectLst/>
              </a:rPr>
              <a:t>):</a:t>
            </a:r>
            <a:r>
              <a:rPr lang="en-GB" dirty="0"/>
              <a:t> </a:t>
            </a:r>
          </a:p>
          <a:p>
            <a:r>
              <a:rPr lang="en-GB" dirty="0">
                <a:solidFill>
                  <a:srgbClr val="CC7BF4"/>
                </a:solidFill>
                <a:effectLst/>
              </a:rPr>
              <a:t>		return</a:t>
            </a:r>
            <a:r>
              <a:rPr lang="en-GB" dirty="0"/>
              <a:t> </a:t>
            </a:r>
            <a:r>
              <a:rPr lang="en-GB" dirty="0">
                <a:solidFill>
                  <a:srgbClr val="5EEDED"/>
                </a:solidFill>
                <a:effectLst/>
              </a:rPr>
              <a:t>None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365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6FF66-720F-FC7E-8B6D-690903BE4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Exceptions,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976F2-7028-AAEF-0BB0-DEF4D36A2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try/except sparingly</a:t>
            </a:r>
          </a:p>
          <a:p>
            <a:pPr lvl="1"/>
            <a:r>
              <a:rPr lang="en-GB" dirty="0"/>
              <a:t>Wrap only code that may fail</a:t>
            </a:r>
          </a:p>
          <a:p>
            <a:pPr lvl="1"/>
            <a:r>
              <a:rPr lang="en-GB" dirty="0"/>
              <a:t>Catch specific exceptions</a:t>
            </a:r>
          </a:p>
          <a:p>
            <a:pPr lvl="1"/>
            <a:r>
              <a:rPr lang="en-GB" dirty="0"/>
              <a:t>Don’t use it for normal logic that can be checked</a:t>
            </a:r>
          </a:p>
          <a:p>
            <a:pPr lvl="1"/>
            <a:r>
              <a:rPr lang="en-GB" dirty="0"/>
              <a:t>Log or handle the error meaningfully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60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EAE5-9210-65BA-F26A-959C5389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testing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804D1-4E3B-C3E9-C835-D9D897257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Unit testing</a:t>
            </a:r>
          </a:p>
          <a:p>
            <a:pPr lvl="1"/>
            <a:r>
              <a:rPr lang="en-GB" dirty="0"/>
              <a:t>Tests of individual functions to ensure they are working</a:t>
            </a:r>
          </a:p>
          <a:p>
            <a:r>
              <a:rPr lang="en-GB" dirty="0"/>
              <a:t>Integration testing</a:t>
            </a:r>
          </a:p>
          <a:p>
            <a:pPr lvl="1"/>
            <a:r>
              <a:rPr lang="en-GB" dirty="0"/>
              <a:t>Do functions work together?</a:t>
            </a:r>
          </a:p>
          <a:p>
            <a:pPr lvl="1"/>
            <a:r>
              <a:rPr lang="en-GB" dirty="0"/>
              <a:t>Is function output passed correctly between functions</a:t>
            </a:r>
          </a:p>
          <a:p>
            <a:r>
              <a:rPr lang="en-GB" dirty="0"/>
              <a:t>End to end testing </a:t>
            </a:r>
          </a:p>
          <a:p>
            <a:pPr lvl="1"/>
            <a:r>
              <a:rPr lang="en-GB" dirty="0"/>
              <a:t>Testing the whole shebang as a user </a:t>
            </a:r>
          </a:p>
          <a:p>
            <a:r>
              <a:rPr lang="en-GB" dirty="0"/>
              <a:t>Regression testing</a:t>
            </a:r>
          </a:p>
          <a:p>
            <a:pPr lvl="1"/>
            <a:r>
              <a:rPr lang="en-GB" dirty="0"/>
              <a:t>Did changes break something unexpected?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52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7412A-685B-34C8-58BD-D7DCFC73C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testing process&#10;&#10;Description automatically generated">
            <a:extLst>
              <a:ext uri="{FF2B5EF4-FFF2-40B4-BE49-F238E27FC236}">
                <a16:creationId xmlns:a16="http://schemas.microsoft.com/office/drawing/2014/main" id="{3F34DBD4-E6B1-1393-0020-F669AB32F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743" y="1773936"/>
            <a:ext cx="7188420" cy="3989573"/>
          </a:xfrm>
        </p:spPr>
      </p:pic>
    </p:spTree>
    <p:extLst>
      <p:ext uri="{BB962C8B-B14F-4D97-AF65-F5344CB8AC3E}">
        <p14:creationId xmlns:p14="http://schemas.microsoft.com/office/powerpoint/2010/main" val="2631351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204DB-E974-2028-7B06-76C5F0B5B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171E2DC8-A105-51EC-0680-BE238CC46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501" y="2052638"/>
            <a:ext cx="8068773" cy="4195762"/>
          </a:xfrm>
        </p:spPr>
      </p:pic>
    </p:spTree>
    <p:extLst>
      <p:ext uri="{BB962C8B-B14F-4D97-AF65-F5344CB8AC3E}">
        <p14:creationId xmlns:p14="http://schemas.microsoft.com/office/powerpoint/2010/main" val="2233913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AE03-8BD5-F056-AE70-E61A6BBE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DCA55-BC50-76F7-DF16-BCB27EAC8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Tests </a:t>
            </a:r>
            <a:r>
              <a:rPr lang="en-GB" b="1" dirty="0"/>
              <a:t>individual components</a:t>
            </a:r>
            <a:r>
              <a:rPr lang="en-GB" dirty="0"/>
              <a:t> (functions, methods) in isolation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Focuses on </a:t>
            </a:r>
            <a:r>
              <a:rPr lang="en-GB" b="1" dirty="0"/>
              <a:t>smallest testable pieces of code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Helps catch bugs </a:t>
            </a:r>
            <a:r>
              <a:rPr lang="en-GB" b="1" dirty="0"/>
              <a:t>early in development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Typically written by developers during coding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Example: Testing a function that calculates the mean of a vector </a:t>
            </a:r>
          </a:p>
          <a:p>
            <a:r>
              <a:rPr lang="en-GB" b="1" dirty="0"/>
              <a:t>Key Idea:</a:t>
            </a:r>
          </a:p>
          <a:p>
            <a:pPr lvl="1"/>
            <a:r>
              <a:rPr lang="en-GB" dirty="0"/>
              <a:t>Does this one piece of code work correctly on its own?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348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A9EA1-2BB1-2E53-9E70-7D6AC358E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5619-C493-6326-B422-D29C4C205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Tests how </a:t>
            </a:r>
            <a:r>
              <a:rPr lang="en-GB" b="1" dirty="0"/>
              <a:t>multiple components work together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Focuses on </a:t>
            </a:r>
            <a:r>
              <a:rPr lang="en-GB" b="1" dirty="0"/>
              <a:t>interactions between modules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Detects issues like </a:t>
            </a:r>
            <a:r>
              <a:rPr lang="en-GB" b="1" dirty="0"/>
              <a:t>data flow errors or interface mismatches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Often follows successful unit testing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Example: Testing whether data cleaning output correctly feeds into a model </a:t>
            </a:r>
          </a:p>
          <a:p>
            <a:r>
              <a:rPr lang="en-GB" b="1" dirty="0"/>
              <a:t>Key Idea:</a:t>
            </a:r>
          </a:p>
          <a:p>
            <a:pPr lvl="1"/>
            <a:r>
              <a:rPr lang="en-GB" dirty="0"/>
              <a:t>Do these pieces of code work correctly when combined?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331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7087B-C8FF-DC09-37E8-B1DDE1DDC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to end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08287-8315-54F2-51E5-991FA45BB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Tests the </a:t>
            </a:r>
            <a:r>
              <a:rPr lang="en-GB" b="1" dirty="0"/>
              <a:t>entire system from start to finish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Simulates </a:t>
            </a:r>
            <a:r>
              <a:rPr lang="en-GB" b="1" dirty="0"/>
              <a:t>real user workflows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Ensures all components (frontend, backend, data) work together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Often slower but very comprehensive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Example: Running a full pipeline from raw data → analysis → output report </a:t>
            </a:r>
          </a:p>
          <a:p>
            <a:r>
              <a:rPr lang="en-GB" b="1" dirty="0"/>
              <a:t>Key Idea:</a:t>
            </a:r>
          </a:p>
          <a:p>
            <a:pPr lvl="1"/>
            <a:r>
              <a:rPr lang="en-GB" dirty="0"/>
              <a:t>Does the whole system work as expected in a real scenario?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65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A44F-218C-930D-9357-9212A8769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16090-6FCB-18EC-FA49-6C466CA81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Ensures that </a:t>
            </a:r>
            <a:r>
              <a:rPr lang="en-GB" b="1" dirty="0"/>
              <a:t>new changes don’t break existing functionality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Re-runs previous tests after updates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Important when modifying or extending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Often automated using test suites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Example: After updating a function, confirm old results are unchanged </a:t>
            </a:r>
          </a:p>
          <a:p>
            <a:r>
              <a:rPr lang="en-GB" b="1" dirty="0"/>
              <a:t>Key Idea:</a:t>
            </a:r>
          </a:p>
          <a:p>
            <a:pPr lvl="1"/>
            <a:r>
              <a:rPr lang="en-GB" dirty="0"/>
              <a:t>Did changes accidentally break something that used to work?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545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A73D-35EC-8C7E-4A0A-74F7404C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E2AA7-CBF6-5D23-7FA4-43871BDD1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unittest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Standard library</a:t>
            </a:r>
          </a:p>
          <a:p>
            <a:pPr lvl="1"/>
            <a:r>
              <a:rPr lang="en-US" dirty="0"/>
              <a:t>Class-based</a:t>
            </a:r>
          </a:p>
          <a:p>
            <a:r>
              <a:rPr lang="en-US" dirty="0" err="1"/>
              <a:t>pytest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User-written package (install with pip)</a:t>
            </a:r>
          </a:p>
          <a:p>
            <a:pPr lvl="1"/>
            <a:r>
              <a:rPr lang="en-US" dirty="0"/>
              <a:t>Function-based</a:t>
            </a:r>
          </a:p>
        </p:txBody>
      </p:sp>
    </p:spTree>
    <p:extLst>
      <p:ext uri="{BB962C8B-B14F-4D97-AF65-F5344CB8AC3E}">
        <p14:creationId xmlns:p14="http://schemas.microsoft.com/office/powerpoint/2010/main" val="8316764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1760</TotalTime>
  <Words>825</Words>
  <Application>Microsoft Office PowerPoint</Application>
  <PresentationFormat>Widescreen</PresentationFormat>
  <Paragraphs>152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 Unicode MS</vt:lpstr>
      <vt:lpstr>Century Gothic</vt:lpstr>
      <vt:lpstr>var(--font-mono)</vt:lpstr>
      <vt:lpstr>Wingdings 3</vt:lpstr>
      <vt:lpstr>Ion</vt:lpstr>
      <vt:lpstr>Testing and Debugging</vt:lpstr>
      <vt:lpstr>Outline</vt:lpstr>
      <vt:lpstr>When things go wrong</vt:lpstr>
      <vt:lpstr>PowerPoint Presentation</vt:lpstr>
      <vt:lpstr>Main Python Error types</vt:lpstr>
      <vt:lpstr>Runtime errors</vt:lpstr>
      <vt:lpstr>Reading tracebacks</vt:lpstr>
      <vt:lpstr>Logical errors</vt:lpstr>
      <vt:lpstr>Logical error fixes</vt:lpstr>
      <vt:lpstr>Finding errors</vt:lpstr>
      <vt:lpstr>Debugging</vt:lpstr>
      <vt:lpstr>Assert statements</vt:lpstr>
      <vt:lpstr>Print statements</vt:lpstr>
      <vt:lpstr>Debuggers</vt:lpstr>
      <vt:lpstr>Debuggers, part 2</vt:lpstr>
      <vt:lpstr>Preventing errors</vt:lpstr>
      <vt:lpstr>Assertions</vt:lpstr>
      <vt:lpstr>Exceptions</vt:lpstr>
      <vt:lpstr>Exceptions, part 2</vt:lpstr>
      <vt:lpstr>Types of testing</vt:lpstr>
      <vt:lpstr>PowerPoint Presentation</vt:lpstr>
      <vt:lpstr>PowerPoint Presentation</vt:lpstr>
      <vt:lpstr>Unit tests</vt:lpstr>
      <vt:lpstr>Integration tests</vt:lpstr>
      <vt:lpstr>End to end tests</vt:lpstr>
      <vt:lpstr>Regression testing</vt:lpstr>
      <vt:lpstr>Testing packages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Hicks</dc:creator>
  <cp:lastModifiedBy>Raymond Hicks</cp:lastModifiedBy>
  <cp:revision>7</cp:revision>
  <dcterms:created xsi:type="dcterms:W3CDTF">2026-03-24T13:10:59Z</dcterms:created>
  <dcterms:modified xsi:type="dcterms:W3CDTF">2026-03-25T18:31:24Z</dcterms:modified>
</cp:coreProperties>
</file>