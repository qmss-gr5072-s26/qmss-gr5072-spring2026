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74" r:id="rId4"/>
    <p:sldId id="259" r:id="rId5"/>
    <p:sldId id="262" r:id="rId6"/>
    <p:sldId id="270" r:id="rId7"/>
    <p:sldId id="272" r:id="rId8"/>
    <p:sldId id="273" r:id="rId9"/>
    <p:sldId id="271" r:id="rId10"/>
    <p:sldId id="261" r:id="rId11"/>
    <p:sldId id="263" r:id="rId12"/>
    <p:sldId id="265" r:id="rId13"/>
    <p:sldId id="264" r:id="rId14"/>
    <p:sldId id="266" r:id="rId15"/>
    <p:sldId id="267" r:id="rId16"/>
    <p:sldId id="268" r:id="rId17"/>
    <p:sldId id="269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F1818-00F5-4564-B080-9BE07E525E2B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EDFB6-19FE-420A-849A-F8D60C78DB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437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F1818-00F5-4564-B080-9BE07E525E2B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EDFB6-19FE-420A-849A-F8D60C78DB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303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F1818-00F5-4564-B080-9BE07E525E2B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EDFB6-19FE-420A-849A-F8D60C78DB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171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F1818-00F5-4564-B080-9BE07E525E2B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EDFB6-19FE-420A-849A-F8D60C78DB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288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F1818-00F5-4564-B080-9BE07E525E2B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EDFB6-19FE-420A-849A-F8D60C78DB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0210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F1818-00F5-4564-B080-9BE07E525E2B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EDFB6-19FE-420A-849A-F8D60C78DB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494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F1818-00F5-4564-B080-9BE07E525E2B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EDFB6-19FE-420A-849A-F8D60C78DB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719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F1818-00F5-4564-B080-9BE07E525E2B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EDFB6-19FE-420A-849A-F8D60C78DB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537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F1818-00F5-4564-B080-9BE07E525E2B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EDFB6-19FE-420A-849A-F8D60C78DB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798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F1818-00F5-4564-B080-9BE07E525E2B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EDFB6-19FE-420A-849A-F8D60C78DB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69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F1818-00F5-4564-B080-9BE07E525E2B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EDFB6-19FE-420A-849A-F8D60C78DB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4968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F1818-00F5-4564-B080-9BE07E525E2B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EDFB6-19FE-420A-849A-F8D60C78DB6C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14374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F1818-00F5-4564-B080-9BE07E525E2B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EDFB6-19FE-420A-849A-F8D60C78DB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2738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F1818-00F5-4564-B080-9BE07E525E2B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EDFB6-19FE-420A-849A-F8D60C78DB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8935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F1818-00F5-4564-B080-9BE07E525E2B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EDFB6-19FE-420A-849A-F8D60C78DB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9408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F1818-00F5-4564-B080-9BE07E525E2B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EDFB6-19FE-420A-849A-F8D60C78DB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9838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F1818-00F5-4564-B080-9BE07E525E2B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EDFB6-19FE-420A-849A-F8D60C78DB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156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394F1818-00F5-4564-B080-9BE07E525E2B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BEDFB6-19FE-420A-849A-F8D60C78DB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6536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“Tagged” data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5089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scraping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Questionably legal and moral</a:t>
            </a:r>
          </a:p>
          <a:p>
            <a:pPr lvl="1"/>
            <a:r>
              <a:rPr lang="en-US" sz="2000" dirty="0"/>
              <a:t>Some sites forbid it, some sites allow it</a:t>
            </a:r>
          </a:p>
          <a:p>
            <a:pPr lvl="1"/>
            <a:r>
              <a:rPr lang="en-US" dirty="0"/>
              <a:t>Read terms of use </a:t>
            </a:r>
          </a:p>
          <a:p>
            <a:r>
              <a:rPr lang="en-US" dirty="0"/>
              <a:t>Arms race between web developers and users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2494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1B634-3026-5F7D-7F27-7274AD047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Robots.txt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79A46E-36E3-31E1-C887-D0E1B3994D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“simple text file hosted on a website that communicates crawling permissions to automated agents: bots, crawlers, and scrapers.”</a:t>
            </a:r>
          </a:p>
          <a:p>
            <a:r>
              <a:rPr lang="en-US" dirty="0"/>
              <a:t>Sort of provides rules of </a:t>
            </a:r>
            <a:br>
              <a:rPr lang="en-US" dirty="0"/>
            </a:br>
            <a:r>
              <a:rPr lang="en-US" dirty="0"/>
              <a:t>use for a website</a:t>
            </a:r>
          </a:p>
          <a:p>
            <a:r>
              <a:rPr lang="en-US" dirty="0"/>
              <a:t>Should read before </a:t>
            </a:r>
            <a:br>
              <a:rPr lang="en-US" dirty="0"/>
            </a:br>
            <a:r>
              <a:rPr lang="en-US" dirty="0"/>
              <a:t>scraping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D1684A-90A7-0CC9-5758-7A27CEF0ED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299" y="2804329"/>
            <a:ext cx="6925642" cy="3600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6318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scraping 101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/>
              <a:t>Basic idea: Download the html source of a webpage</a:t>
            </a:r>
          </a:p>
          <a:p>
            <a:pPr lvl="1"/>
            <a:r>
              <a:rPr lang="en-US" sz="2000" dirty="0"/>
              <a:t>Send request to website </a:t>
            </a:r>
          </a:p>
          <a:p>
            <a:pPr lvl="1"/>
            <a:r>
              <a:rPr lang="en-US" sz="2000" dirty="0"/>
              <a:t>Website returns the html code</a:t>
            </a:r>
          </a:p>
          <a:p>
            <a:pPr lvl="1"/>
            <a:r>
              <a:rPr lang="en-US" sz="2000" dirty="0"/>
              <a:t>Store html code  as object</a:t>
            </a:r>
          </a:p>
          <a:p>
            <a:r>
              <a:rPr lang="en-US" sz="2400" dirty="0"/>
              <a:t>Very easy with static pages</a:t>
            </a:r>
          </a:p>
          <a:p>
            <a:pPr lvl="1"/>
            <a:r>
              <a:rPr lang="en-US" sz="2200" dirty="0"/>
              <a:t>Automated recording – download once, and have everything</a:t>
            </a:r>
          </a:p>
          <a:p>
            <a:r>
              <a:rPr lang="en-US" sz="2400" dirty="0"/>
              <a:t>Not as easy with dynamic pages</a:t>
            </a:r>
          </a:p>
          <a:p>
            <a:pPr lvl="1"/>
            <a:r>
              <a:rPr lang="en-US" sz="2000" dirty="0"/>
              <a:t>Client and server in dialogue</a:t>
            </a:r>
          </a:p>
          <a:p>
            <a:pPr lvl="1"/>
            <a:r>
              <a:rPr lang="en-US" sz="2000" dirty="0"/>
              <a:t>Content loads as you interact</a:t>
            </a:r>
          </a:p>
        </p:txBody>
      </p:sp>
    </p:spTree>
    <p:extLst>
      <p:ext uri="{BB962C8B-B14F-4D97-AF65-F5344CB8AC3E}">
        <p14:creationId xmlns:p14="http://schemas.microsoft.com/office/powerpoint/2010/main" val="41267649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Tags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Defines structure on a webpage</a:t>
            </a:r>
          </a:p>
          <a:p>
            <a:pPr lvl="1"/>
            <a:r>
              <a:rPr lang="en-US" dirty="0"/>
              <a:t>Used for links, formatting of text (bold, italics), paragraphs, bullets, </a:t>
            </a:r>
            <a:r>
              <a:rPr lang="en-US" dirty="0" err="1"/>
              <a:t>etc</a:t>
            </a:r>
            <a:endParaRPr lang="en-US" dirty="0"/>
          </a:p>
          <a:p>
            <a:r>
              <a:rPr lang="en-US" dirty="0"/>
              <a:t>Web browsers turn tags into a formatted page</a:t>
            </a:r>
          </a:p>
          <a:p>
            <a:r>
              <a:rPr lang="en-US" dirty="0"/>
              <a:t>Tags used to extract information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6976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58586-8311-004A-E6C5-923713957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C049CD-3973-300F-90CF-E9EDBF4339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HTML - Definition &amp; Examples | Parse.ly">
            <a:extLst>
              <a:ext uri="{FF2B5EF4-FFF2-40B4-BE49-F238E27FC236}">
                <a16:creationId xmlns:a16="http://schemas.microsoft.com/office/drawing/2014/main" id="{B8E5C102-23BB-14B6-6913-98EAEA403E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5581" y="2150174"/>
            <a:ext cx="5591175" cy="381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57645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FEEAE-5AEA-5EB8-BC5D-22514007D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231E1-F7A7-BBCA-C3B3-A086A298D2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Define structure of webpage</a:t>
            </a:r>
          </a:p>
          <a:p>
            <a:r>
              <a:rPr lang="en-US" dirty="0"/>
              <a:t>Many examples:</a:t>
            </a:r>
          </a:p>
          <a:p>
            <a:pPr lvl="1"/>
            <a:r>
              <a:rPr lang="en-US" dirty="0"/>
              <a:t>&lt;p&gt; - Paragraph element</a:t>
            </a:r>
          </a:p>
          <a:p>
            <a:pPr lvl="1"/>
            <a:r>
              <a:rPr lang="en-US" dirty="0"/>
              <a:t>&lt;table&gt; - Defines table</a:t>
            </a:r>
          </a:p>
          <a:p>
            <a:pPr lvl="2"/>
            <a:r>
              <a:rPr lang="en-US" dirty="0"/>
              <a:t>&lt;tr&gt; - [Nested within table] Sets row of table</a:t>
            </a:r>
          </a:p>
          <a:p>
            <a:pPr lvl="2"/>
            <a:r>
              <a:rPr lang="en-US" dirty="0"/>
              <a:t>&lt;td&gt; - [Nested within tr] Sets cell of table row</a:t>
            </a:r>
          </a:p>
          <a:p>
            <a:pPr lvl="1"/>
            <a:r>
              <a:rPr lang="en-US" dirty="0"/>
              <a:t>&lt;div&gt; - Content division element </a:t>
            </a:r>
          </a:p>
          <a:p>
            <a:pPr lvl="1"/>
            <a:r>
              <a:rPr lang="en-US" dirty="0"/>
              <a:t>&lt;a&gt; - Anchor tag [also seen in Markdown]</a:t>
            </a:r>
          </a:p>
          <a:p>
            <a:pPr lvl="1"/>
            <a:r>
              <a:rPr lang="en-US" dirty="0"/>
              <a:t>&lt;span&gt; - Inline element </a:t>
            </a:r>
          </a:p>
        </p:txBody>
      </p:sp>
    </p:spTree>
    <p:extLst>
      <p:ext uri="{BB962C8B-B14F-4D97-AF65-F5344CB8AC3E}">
        <p14:creationId xmlns:p14="http://schemas.microsoft.com/office/powerpoint/2010/main" val="26060731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73ECE-C500-752B-6ABD-302CFF3DA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Attributes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856FD-5E31-B5AF-D6D0-E38AA84CE8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Properties that identify or configure elements</a:t>
            </a:r>
          </a:p>
          <a:p>
            <a:pPr lvl="1"/>
            <a:r>
              <a:rPr lang="en-US" dirty="0"/>
              <a:t>id - Unique identifier for an element</a:t>
            </a:r>
          </a:p>
          <a:p>
            <a:pPr lvl="1"/>
            <a:r>
              <a:rPr lang="en-US" dirty="0"/>
              <a:t>class - CSS class(es) for styling or targeting </a:t>
            </a:r>
          </a:p>
          <a:p>
            <a:pPr lvl="1"/>
            <a:r>
              <a:rPr lang="en-US" dirty="0" err="1"/>
              <a:t>href</a:t>
            </a:r>
            <a:r>
              <a:rPr lang="en-US" dirty="0"/>
              <a:t> - URL link (used in &lt;a&gt; tags)</a:t>
            </a:r>
          </a:p>
          <a:p>
            <a:pPr lvl="1"/>
            <a:r>
              <a:rPr lang="en-US" dirty="0" err="1"/>
              <a:t>src</a:t>
            </a:r>
            <a:r>
              <a:rPr lang="en-US" dirty="0"/>
              <a:t> - Source file path (used in &lt;</a:t>
            </a:r>
            <a:r>
              <a:rPr lang="en-US" dirty="0" err="1"/>
              <a:t>img</a:t>
            </a:r>
            <a:r>
              <a:rPr lang="en-US" dirty="0"/>
              <a:t>&gt;, &lt;script&gt; tags)</a:t>
            </a:r>
          </a:p>
        </p:txBody>
      </p:sp>
    </p:spTree>
    <p:extLst>
      <p:ext uri="{BB962C8B-B14F-4D97-AF65-F5344CB8AC3E}">
        <p14:creationId xmlns:p14="http://schemas.microsoft.com/office/powerpoint/2010/main" val="41320569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1D7A7-69D9-5FDE-0D99-12370902F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Nested tags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77569-164B-2D1D-A902-DD1AC4FE82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Tags within tags:</a:t>
            </a:r>
          </a:p>
          <a:p>
            <a:pPr lvl="1"/>
            <a:r>
              <a:rPr lang="en-US" dirty="0"/>
              <a:t>&lt;tr&gt; within &lt;table&gt; and &lt;td&gt; within &lt;tr&gt;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05429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Beautiful Soup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Python package for parsing tagged data</a:t>
            </a:r>
          </a:p>
          <a:p>
            <a:r>
              <a:rPr lang="en-US" dirty="0"/>
              <a:t>Converts raw html or xml into </a:t>
            </a:r>
            <a:r>
              <a:rPr lang="en-US" dirty="0" err="1"/>
              <a:t>parsible</a:t>
            </a:r>
            <a:r>
              <a:rPr lang="en-US" dirty="0"/>
              <a:t> data </a:t>
            </a:r>
          </a:p>
          <a:p>
            <a:r>
              <a:rPr lang="en-US" dirty="0"/>
              <a:t>Navigate using tags and attributes to find and extract data </a:t>
            </a:r>
          </a:p>
          <a:p>
            <a:r>
              <a:rPr lang="en-US" dirty="0"/>
              <a:t>(Same logic works in other programs (e.g., </a:t>
            </a:r>
            <a:r>
              <a:rPr lang="en-US" dirty="0" err="1"/>
              <a:t>rvest</a:t>
            </a:r>
            <a:r>
              <a:rPr lang="en-US" dirty="0"/>
              <a:t> for R)</a:t>
            </a:r>
          </a:p>
        </p:txBody>
      </p:sp>
    </p:spTree>
    <p:extLst>
      <p:ext uri="{BB962C8B-B14F-4D97-AF65-F5344CB8AC3E}">
        <p14:creationId xmlns:p14="http://schemas.microsoft.com/office/powerpoint/2010/main" val="21871657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&lt;div class="field field-name-field-taxonomy-doc-type field-type-taxonomy-term-reference field-label-inline </a:t>
            </a:r>
            <a:r>
              <a:rPr lang="en-US" dirty="0" err="1"/>
              <a:t>clearfix</a:t>
            </a:r>
            <a:r>
              <a:rPr lang="en-US" dirty="0"/>
              <a:t>"&gt;&lt;div class="field-label"&gt;Document Type:&amp;</a:t>
            </a:r>
            <a:r>
              <a:rPr lang="en-US" dirty="0" err="1"/>
              <a:t>nbsp</a:t>
            </a:r>
            <a:r>
              <a:rPr lang="en-US" dirty="0"/>
              <a:t>;&lt;/div&gt;&lt;div class="field-items"&gt;&lt;div class="field-item even"&gt;&lt;a href="/</a:t>
            </a:r>
            <a:r>
              <a:rPr lang="en-US" dirty="0" err="1"/>
              <a:t>readingroom</a:t>
            </a:r>
            <a:r>
              <a:rPr lang="en-US" dirty="0"/>
              <a:t>/document-type/</a:t>
            </a:r>
            <a:r>
              <a:rPr lang="en-US" dirty="0" err="1"/>
              <a:t>specialcollection</a:t>
            </a:r>
            <a:r>
              <a:rPr lang="en-US" dirty="0"/>
              <a:t>" </a:t>
            </a:r>
            <a:r>
              <a:rPr lang="en-US" dirty="0" err="1"/>
              <a:t>typeof</a:t>
            </a:r>
            <a:r>
              <a:rPr lang="en-US" dirty="0"/>
              <a:t>="</a:t>
            </a:r>
            <a:r>
              <a:rPr lang="en-US" dirty="0" err="1"/>
              <a:t>skos:Concept</a:t>
            </a:r>
            <a:r>
              <a:rPr lang="en-US" dirty="0"/>
              <a:t>" property="</a:t>
            </a:r>
            <a:r>
              <a:rPr lang="en-US" dirty="0" err="1"/>
              <a:t>rdfs:label</a:t>
            </a:r>
            <a:r>
              <a:rPr lang="en-US" dirty="0"/>
              <a:t> </a:t>
            </a:r>
            <a:r>
              <a:rPr lang="en-US" dirty="0" err="1"/>
              <a:t>skos:prefLabel</a:t>
            </a:r>
            <a:r>
              <a:rPr lang="en-US" dirty="0"/>
              <a:t>" datatype=""&gt;SPECIALCOLLECTION&lt;/a&gt;&lt;/div&gt;&lt;/div&gt;&lt;/div&gt;</a:t>
            </a:r>
          </a:p>
          <a:p>
            <a:pPr marL="0" indent="0">
              <a:buNone/>
            </a:pPr>
            <a:r>
              <a:rPr lang="en-US" dirty="0"/>
              <a:t>&lt;div class="field field-name-field-collection field-type-node-reference field-label-inline </a:t>
            </a:r>
            <a:r>
              <a:rPr lang="en-US" dirty="0" err="1"/>
              <a:t>clearfix</a:t>
            </a:r>
            <a:r>
              <a:rPr lang="en-US" dirty="0"/>
              <a:t>"&gt;&lt;div class="field-label"&gt;Collection:&amp;</a:t>
            </a:r>
            <a:r>
              <a:rPr lang="en-US" dirty="0" err="1"/>
              <a:t>nbsp</a:t>
            </a:r>
            <a:r>
              <a:rPr lang="en-US" dirty="0"/>
              <a:t>;&lt;/div&gt;&lt;div class="field-items"&gt;&lt;div class="field-item even"&gt;&lt;a href="/</a:t>
            </a:r>
            <a:r>
              <a:rPr lang="en-US" dirty="0" err="1"/>
              <a:t>readingroom</a:t>
            </a:r>
            <a:r>
              <a:rPr lang="en-US" dirty="0"/>
              <a:t>/collection/daily-summary"&gt;Daily Summary Collection&lt;/a&gt;&lt;/div&gt;&lt;/div&gt;&lt;/div&gt;</a:t>
            </a:r>
          </a:p>
          <a:p>
            <a:pPr marL="0" indent="0">
              <a:buNone/>
            </a:pPr>
            <a:r>
              <a:rPr lang="en-US" dirty="0"/>
              <a:t>&lt;div class="field field-name-field-document-number field-type-text field-label-inline </a:t>
            </a:r>
            <a:r>
              <a:rPr lang="en-US" dirty="0" err="1"/>
              <a:t>clearfix</a:t>
            </a:r>
            <a:r>
              <a:rPr lang="en-US" dirty="0"/>
              <a:t>"&gt;&lt;div class="field-label"&gt;Document Number (FOIA) /ESDN (CREST):&amp;</a:t>
            </a:r>
            <a:r>
              <a:rPr lang="en-US" dirty="0" err="1"/>
              <a:t>nbsp</a:t>
            </a:r>
            <a:r>
              <a:rPr lang="en-US" dirty="0"/>
              <a:t>;&lt;/div&gt;&lt;div class="field-items"&gt;&lt;div class="field-item even"&gt;03164645&lt;/div&gt;&lt;/div&gt;&lt;/div&gt;</a:t>
            </a:r>
          </a:p>
          <a:p>
            <a:pPr marL="0" indent="0">
              <a:buNone/>
            </a:pPr>
            <a:r>
              <a:rPr lang="en-US" dirty="0"/>
              <a:t>&lt;div class="field field-name-field-page-count field-type-text field-label-inline </a:t>
            </a:r>
            <a:r>
              <a:rPr lang="en-US" dirty="0" err="1"/>
              <a:t>clearfix</a:t>
            </a:r>
            <a:r>
              <a:rPr lang="en-US" dirty="0"/>
              <a:t>"&gt;&lt;div class="field-label"&gt;Document Page Count:&amp;</a:t>
            </a:r>
            <a:r>
              <a:rPr lang="en-US" dirty="0" err="1"/>
              <a:t>nbsp</a:t>
            </a:r>
            <a:r>
              <a:rPr lang="en-US" dirty="0"/>
              <a:t>;&lt;/div&gt;&lt;div class="field-items"&gt;&lt;div class="field-item even"&gt;&lt;/div&gt;&lt;/div&gt;&lt;/div&gt;&lt;div class="field field-name-field-creation-date field-type-datetime field-label-inline </a:t>
            </a:r>
            <a:r>
              <a:rPr lang="en-US" dirty="0" err="1"/>
              <a:t>clearfix</a:t>
            </a:r>
            <a:r>
              <a:rPr lang="en-US" dirty="0"/>
              <a:t>"&gt;&lt;div class="field-label"&gt;Document Creation Date:&amp;</a:t>
            </a:r>
            <a:r>
              <a:rPr lang="en-US" dirty="0" err="1"/>
              <a:t>nbsp</a:t>
            </a:r>
            <a:r>
              <a:rPr lang="en-US" dirty="0"/>
              <a:t>;&lt;/div&gt;&lt;div class="field-items"&gt;&lt;div class="field-item even"&gt;&lt;span class="date-display-single" property="</a:t>
            </a:r>
            <a:r>
              <a:rPr lang="en-US" dirty="0" err="1"/>
              <a:t>dc:date</a:t>
            </a:r>
            <a:r>
              <a:rPr lang="en-US" dirty="0"/>
              <a:t>" datatype="</a:t>
            </a:r>
            <a:r>
              <a:rPr lang="en-US" dirty="0" err="1"/>
              <a:t>xsd:dateTime</a:t>
            </a:r>
            <a:r>
              <a:rPr lang="en-US" dirty="0"/>
              <a:t>" content="2018-08-03T00:00:00-04:00"&gt;August 3, 2018&lt;/span&gt;&lt;/div&gt;&lt;/div&gt;&lt;/div&gt;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43407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XML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Extensible Markup Language</a:t>
            </a:r>
          </a:p>
          <a:p>
            <a:r>
              <a:rPr lang="en-US" sz="2400" dirty="0"/>
              <a:t>Tagged language </a:t>
            </a:r>
          </a:p>
          <a:p>
            <a:pPr lvl="1"/>
            <a:r>
              <a:rPr lang="en-US" sz="2000" dirty="0"/>
              <a:t>Could use </a:t>
            </a:r>
            <a:r>
              <a:rPr lang="en-US" sz="2000" dirty="0" err="1"/>
              <a:t>BeautifulSoup</a:t>
            </a:r>
            <a:endParaRPr lang="en-US" sz="2000" dirty="0"/>
          </a:p>
          <a:p>
            <a:pPr marL="201168" lvl="1" indent="0">
              <a:buNone/>
            </a:pPr>
            <a:endParaRPr lang="en-US" sz="2000" dirty="0"/>
          </a:p>
          <a:p>
            <a:pPr marL="201168" lvl="1" indent="0">
              <a:buNone/>
            </a:pPr>
            <a:r>
              <a:rPr lang="en-US" sz="2000" dirty="0"/>
              <a:t>Lots of programs read it easily</a:t>
            </a:r>
          </a:p>
          <a:p>
            <a:pPr marL="201168" lvl="1" indent="0">
              <a:buNone/>
            </a:pPr>
            <a:r>
              <a:rPr lang="en-US" sz="2000" dirty="0"/>
              <a:t>	Including Excel</a:t>
            </a:r>
          </a:p>
          <a:p>
            <a:pPr marL="201168" lvl="1" indent="0">
              <a:buNone/>
            </a:pPr>
            <a:r>
              <a:rPr lang="en-US" sz="2000" dirty="0"/>
              <a:t>But it might not be in format you want</a:t>
            </a:r>
          </a:p>
        </p:txBody>
      </p:sp>
    </p:spTree>
    <p:extLst>
      <p:ext uri="{BB962C8B-B14F-4D97-AF65-F5344CB8AC3E}">
        <p14:creationId xmlns:p14="http://schemas.microsoft.com/office/powerpoint/2010/main" val="7172486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Beautiful Soup usage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Extract text from webpage</a:t>
            </a:r>
          </a:p>
          <a:p>
            <a:r>
              <a:rPr lang="en-US" dirty="0"/>
              <a:t>Follow links on webpage</a:t>
            </a:r>
          </a:p>
        </p:txBody>
      </p:sp>
    </p:spTree>
    <p:extLst>
      <p:ext uri="{BB962C8B-B14F-4D97-AF65-F5344CB8AC3E}">
        <p14:creationId xmlns:p14="http://schemas.microsoft.com/office/powerpoint/2010/main" val="22780542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105969"/>
          </a:xfrm>
        </p:spPr>
        <p:txBody>
          <a:bodyPr/>
          <a:lstStyle/>
          <a:p>
            <a:r>
              <a:rPr lang="en-US" dirty="0"/>
              <a:t>Example of XML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539597"/>
            <a:ext cx="10515600" cy="45550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-31740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92608" lvl="1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&lt;div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frus:doc-dateTime-max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="1970-03-26T23:59:59-05:00"</a:t>
            </a:r>
          </a:p>
          <a:p>
            <a:pPr marL="292608" lvl="1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                      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frus:doc-dateTime-min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="1970-03-26T00:00:00-05:00" n="12"</a:t>
            </a:r>
          </a:p>
          <a:p>
            <a:pPr marL="292608" lvl="1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                       subtype="historical-document" type="document"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xml:id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="d12"&gt;</a:t>
            </a:r>
          </a:p>
          <a:p>
            <a:pPr marL="292608" lvl="1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                       &lt;head&gt;12. Letter From President &lt;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persName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corresp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="#p_NRM1" type="from"</a:t>
            </a:r>
          </a:p>
          <a:p>
            <a:pPr marL="292608" lvl="1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                               &gt;Nixon&lt;/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persName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&gt; to Secretary of State &lt;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persName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corresp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="#p_RWP1"</a:t>
            </a:r>
          </a:p>
          <a:p>
            <a:pPr marL="292608" lvl="1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                               type="to"&gt;Rogers&lt;/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persName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&gt;&lt;note n="1" type="source"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xml:id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="d12fn1"</a:t>
            </a:r>
          </a:p>
          <a:p>
            <a:pPr marL="292608" lvl="1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                               &gt;Source: National Archives, &lt;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persName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corresp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="#p_NRM1"</a:t>
            </a:r>
          </a:p>
          <a:p>
            <a:pPr marL="292608" lvl="1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                                   &gt;Nixon&lt;/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persName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&gt; Presidential Materials, &lt;gloss</a:t>
            </a:r>
          </a:p>
          <a:p>
            <a:pPr marL="292608" lvl="1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                                   target="#t_NSC1"&gt;NSC&lt;/gloss&gt; Files, Box 281, Agency Files,</a:t>
            </a:r>
          </a:p>
          <a:p>
            <a:pPr marL="292608" lvl="1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                               Department of State, Vol. VI. No classification marking. Under</a:t>
            </a:r>
          </a:p>
          <a:p>
            <a:pPr marL="292608" lvl="1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                                   &lt;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persName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corresp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="#p_NRM1"&gt;Nixon&lt;/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persName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&gt;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ʼs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signature is</a:t>
            </a:r>
          </a:p>
          <a:p>
            <a:pPr marL="292608" lvl="1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                               written in an unidentified hand, “Do the notes on the next two pages</a:t>
            </a:r>
          </a:p>
          <a:p>
            <a:pPr marL="292608" lvl="1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                               suggest this was signed by machine after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HAKʼs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approval? The carbon</a:t>
            </a:r>
          </a:p>
          <a:p>
            <a:pPr marL="292608" lvl="1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                               copy indicates /s/RN.” The next two pages, which are not published,</a:t>
            </a:r>
          </a:p>
          <a:p>
            <a:pPr marL="292608" lvl="1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                               include handwritten notes stating that “HAK Approves for</a:t>
            </a:r>
          </a:p>
          <a:p>
            <a:pPr marL="292608" lvl="1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                               President.”&lt;/note&gt;</a:t>
            </a:r>
          </a:p>
          <a:p>
            <a:pPr marL="292608" lvl="1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                           &lt;note n="2" type="summary"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xml:id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="d12fn2"&gt;</a:t>
            </a:r>
          </a:p>
          <a:p>
            <a:pPr marL="292608" lvl="1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                               &lt;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persName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corresp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="#p_NRM1"&gt;Nixon&lt;/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persName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&gt; responded favorably to</a:t>
            </a:r>
          </a:p>
          <a:p>
            <a:pPr marL="292608" lvl="1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                                   &lt;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persName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corresp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="#p_RWP1"&gt;Rogers&lt;/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persName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&gt;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ʼs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statement on</a:t>
            </a:r>
          </a:p>
          <a:p>
            <a:pPr marL="292608" lvl="1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                               U.S. African policy, which was a more detailed and in-depth</a:t>
            </a:r>
          </a:p>
          <a:p>
            <a:pPr marL="292608" lvl="1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                               discussion on the subject than was given in &lt;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persName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292608" lvl="1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                                  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corresp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="#p_NRM1"&gt;Nixon&lt;/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persName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&gt;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ʼs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February 18 Report to</a:t>
            </a:r>
          </a:p>
          <a:p>
            <a:pPr marL="292608" lvl="1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                               Congress (&lt;ref target="#d7"&gt;Document 7&lt;/ref&gt;).&lt;/note&gt;</a:t>
            </a:r>
          </a:p>
          <a:p>
            <a:pPr marL="292608" lvl="1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                       &lt;/head&gt;</a:t>
            </a:r>
          </a:p>
          <a:p>
            <a:pPr marL="292608" lvl="1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                       &lt;dateline&gt;</a:t>
            </a:r>
          </a:p>
          <a:p>
            <a:pPr marL="292608" lvl="1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                           &lt;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placeName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&gt;Washington&lt;/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placeName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&gt;, &lt;date calendar="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gregorian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"</a:t>
            </a:r>
          </a:p>
          <a:p>
            <a:pPr marL="292608" lvl="1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                               when="1970-03-26"&gt;March 26, 1970&lt;/date&gt;</a:t>
            </a:r>
          </a:p>
          <a:p>
            <a:pPr marL="292608" lvl="1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                       &lt;/dateline&gt;</a:t>
            </a:r>
          </a:p>
          <a:p>
            <a:pPr marL="292608" lvl="1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                   &lt;/div&gt;</a:t>
            </a:r>
          </a:p>
        </p:txBody>
      </p:sp>
    </p:spTree>
    <p:extLst>
      <p:ext uri="{BB962C8B-B14F-4D97-AF65-F5344CB8AC3E}">
        <p14:creationId xmlns:p14="http://schemas.microsoft.com/office/powerpoint/2010/main" val="21520811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995803-8B83-24C1-8398-6A14B83661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447" y="2361857"/>
            <a:ext cx="10707149" cy="3384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759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XML tags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 with HTML, provide structure</a:t>
            </a:r>
          </a:p>
          <a:p>
            <a:r>
              <a:rPr lang="en-US" dirty="0"/>
              <a:t>Separate out different fields</a:t>
            </a:r>
          </a:p>
          <a:p>
            <a:r>
              <a:rPr lang="en-US" dirty="0"/>
              <a:t>Can be used to get </a:t>
            </a:r>
            <a:r>
              <a:rPr lang="en-US"/>
              <a:t>relevant information/data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81373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 &amp;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Know the data</a:t>
            </a:r>
          </a:p>
          <a:p>
            <a:r>
              <a:rPr lang="en-US" dirty="0"/>
              <a:t>Find the tags for data you want</a:t>
            </a:r>
          </a:p>
          <a:p>
            <a:r>
              <a:rPr lang="en-US" dirty="0"/>
              <a:t>Easy to extract data</a:t>
            </a:r>
          </a:p>
        </p:txBody>
      </p:sp>
    </p:spTree>
    <p:extLst>
      <p:ext uri="{BB962C8B-B14F-4D97-AF65-F5344CB8AC3E}">
        <p14:creationId xmlns:p14="http://schemas.microsoft.com/office/powerpoint/2010/main" val="31433627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25159</TotalTime>
  <Words>1096</Words>
  <Application>Microsoft Office PowerPoint</Application>
  <PresentationFormat>Widescreen</PresentationFormat>
  <Paragraphs>105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Century Gothic</vt:lpstr>
      <vt:lpstr>Wingdings 3</vt:lpstr>
      <vt:lpstr>Ion</vt:lpstr>
      <vt:lpstr>“Tagged” data</vt:lpstr>
      <vt:lpstr>Web scraping</vt:lpstr>
      <vt:lpstr>Robots.txt</vt:lpstr>
      <vt:lpstr>Web scraping 101</vt:lpstr>
      <vt:lpstr>HTML Tags </vt:lpstr>
      <vt:lpstr>HTML</vt:lpstr>
      <vt:lpstr>Tags</vt:lpstr>
      <vt:lpstr>Attributes</vt:lpstr>
      <vt:lpstr>Nested tags</vt:lpstr>
      <vt:lpstr>Beautiful Soup</vt:lpstr>
      <vt:lpstr>Example </vt:lpstr>
      <vt:lpstr>XML data</vt:lpstr>
      <vt:lpstr>Beautiful Soup usage</vt:lpstr>
      <vt:lpstr>Example of XML</vt:lpstr>
      <vt:lpstr>PowerPoint Presentation</vt:lpstr>
      <vt:lpstr>XML tags</vt:lpstr>
      <vt:lpstr>Structure &amp; Patterns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Raymond Hicks</dc:creator>
  <cp:lastModifiedBy>Raymond Hicks</cp:lastModifiedBy>
  <cp:revision>3</cp:revision>
  <dcterms:created xsi:type="dcterms:W3CDTF">2026-04-08T17:02:31Z</dcterms:created>
  <dcterms:modified xsi:type="dcterms:W3CDTF">2026-04-27T15:07:56Z</dcterms:modified>
</cp:coreProperties>
</file>