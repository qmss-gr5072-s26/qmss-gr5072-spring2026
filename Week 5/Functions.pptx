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77" r:id="rId9"/>
    <p:sldId id="273" r:id="rId10"/>
    <p:sldId id="272" r:id="rId11"/>
    <p:sldId id="271" r:id="rId12"/>
    <p:sldId id="270" r:id="rId13"/>
    <p:sldId id="261" r:id="rId14"/>
    <p:sldId id="260" r:id="rId15"/>
    <p:sldId id="262" r:id="rId16"/>
    <p:sldId id="263" r:id="rId17"/>
    <p:sldId id="264" r:id="rId18"/>
    <p:sldId id="265" r:id="rId19"/>
    <p:sldId id="266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7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9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4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0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8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4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8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7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6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0865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5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64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32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4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8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095245-6DA6-4FBE-8A2E-F43C77B474A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AC452-BBDA-4EBF-A920-60BB8424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03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CA6E-BCA2-7EBF-6F5F-088D4F191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102D1-59A1-C57B-32A8-DD0AF37C3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73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57FC-2131-BA9F-DB2A-BEFD7D9F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7F347-3234-FC74-7982-99F628A8F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of statements that performs specific task</a:t>
            </a:r>
          </a:p>
        </p:txBody>
      </p:sp>
      <p:pic>
        <p:nvPicPr>
          <p:cNvPr id="2050" name="Picture 2" descr="Python Functions [Complete Guide] – PYnative">
            <a:extLst>
              <a:ext uri="{FF2B5EF4-FFF2-40B4-BE49-F238E27FC236}">
                <a16:creationId xmlns:a16="http://schemas.microsoft.com/office/drawing/2014/main" id="{688AF6A3-D9A9-04F4-1709-1A42FA7EE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853" y="2490026"/>
            <a:ext cx="805815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37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E631-07D9-987A-2AED-D85ED16A6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Why/when to use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45DD-BAF9-4D07-274C-F403222B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 of thumb</a:t>
            </a:r>
          </a:p>
          <a:p>
            <a:pPr marL="457200" lvl="1" indent="0">
              <a:buNone/>
            </a:pPr>
            <a:r>
              <a:rPr lang="en-GB" dirty="0"/>
              <a:t>1. Copy-pasted code → Make a function </a:t>
            </a:r>
          </a:p>
          <a:p>
            <a:pPr marL="457200" lvl="1" indent="0">
              <a:buNone/>
            </a:pPr>
            <a:r>
              <a:rPr lang="en-GB" dirty="0"/>
              <a:t>2. More than ~20 lines → Consider breaking up </a:t>
            </a:r>
          </a:p>
          <a:p>
            <a:pPr marL="457200" lvl="1" indent="0">
              <a:buNone/>
            </a:pPr>
            <a:r>
              <a:rPr lang="en-GB" dirty="0"/>
              <a:t>3. Clear subtask → Probably a function </a:t>
            </a:r>
          </a:p>
          <a:p>
            <a:pPr marL="457200" lvl="1" indent="0">
              <a:buNone/>
            </a:pPr>
            <a:r>
              <a:rPr lang="en-GB" dirty="0"/>
              <a:t>4. Used more than once → Definitely a function </a:t>
            </a:r>
          </a:p>
          <a:p>
            <a:pPr marL="457200" lvl="1" indent="0">
              <a:buNone/>
            </a:pPr>
            <a:r>
              <a:rPr lang="en-GB" dirty="0"/>
              <a:t>5. Hard to explain what code does → Break into smaller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0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1F20-AA69-3BAE-EE49-49C2363E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46314"/>
          </a:xfrm>
        </p:spPr>
        <p:txBody>
          <a:bodyPr/>
          <a:lstStyle/>
          <a:p>
            <a:r>
              <a:rPr lang="en-US" dirty="0"/>
              <a:t>Function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5E2A-4EA0-F93E-B797-7003F8391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27632"/>
            <a:ext cx="8946541" cy="4620767"/>
          </a:xfrm>
        </p:spPr>
        <p:txBody>
          <a:bodyPr/>
          <a:lstStyle/>
          <a:p>
            <a:r>
              <a:rPr lang="en-US" dirty="0"/>
              <a:t>Functions are like recipes</a:t>
            </a:r>
          </a:p>
          <a:p>
            <a:r>
              <a:rPr lang="en-US" dirty="0"/>
              <a:t>Three main components:</a:t>
            </a:r>
          </a:p>
          <a:p>
            <a:pPr lvl="1"/>
            <a:r>
              <a:rPr lang="en-US" dirty="0"/>
              <a:t>Name – what the function is making (recipe title) </a:t>
            </a:r>
          </a:p>
          <a:p>
            <a:pPr lvl="1"/>
            <a:r>
              <a:rPr lang="en-US" dirty="0"/>
              <a:t>Inputs – what the function needs from you (ingredients)</a:t>
            </a:r>
          </a:p>
          <a:p>
            <a:pPr lvl="1"/>
            <a:r>
              <a:rPr lang="en-US" dirty="0"/>
              <a:t>Output (return value) – what the function returns to you (final dish)</a:t>
            </a:r>
          </a:p>
          <a:p>
            <a:r>
              <a:rPr lang="en-US" dirty="0"/>
              <a:t>The innards define how the function does its task (cooking steps)</a:t>
            </a:r>
          </a:p>
        </p:txBody>
      </p:sp>
    </p:spTree>
    <p:extLst>
      <p:ext uri="{BB962C8B-B14F-4D97-AF65-F5344CB8AC3E}">
        <p14:creationId xmlns:p14="http://schemas.microsoft.com/office/powerpoint/2010/main" val="96941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C8D0-4C5D-A4DA-598E-1829126C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039E-BF56-B68D-8920-AFE5CFDCD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and descriptive function name</a:t>
            </a:r>
          </a:p>
          <a:p>
            <a:pPr lvl="1"/>
            <a:r>
              <a:rPr lang="en-US" dirty="0"/>
              <a:t>Function_1 not good but </a:t>
            </a:r>
            <a:r>
              <a:rPr lang="en-US" dirty="0" err="1"/>
              <a:t>get_csv_data</a:t>
            </a:r>
            <a:r>
              <a:rPr lang="en-US" dirty="0"/>
              <a:t> descriptive</a:t>
            </a:r>
          </a:p>
          <a:p>
            <a:r>
              <a:rPr lang="en-US" dirty="0"/>
              <a:t>All needed ingredients listed and only needed ingredients</a:t>
            </a:r>
          </a:p>
          <a:p>
            <a:pPr lvl="1"/>
            <a:r>
              <a:rPr lang="en-US" dirty="0"/>
              <a:t>Do not list flour if it is not needed</a:t>
            </a:r>
          </a:p>
          <a:p>
            <a:pPr lvl="1"/>
            <a:r>
              <a:rPr lang="en-US" dirty="0"/>
              <a:t>Don’t forget the eggs</a:t>
            </a:r>
          </a:p>
          <a:p>
            <a:r>
              <a:rPr lang="en-US" dirty="0"/>
              <a:t>Final dish matches expectations</a:t>
            </a:r>
          </a:p>
          <a:p>
            <a:pPr lvl="1"/>
            <a:r>
              <a:rPr lang="en-GB" dirty="0"/>
              <a:t>If the recipe says "cake," don't return soup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8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67B1-D20D-D061-2D1E-F30627EE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54874"/>
          </a:xfrm>
        </p:spPr>
        <p:txBody>
          <a:bodyPr/>
          <a:lstStyle/>
          <a:p>
            <a:r>
              <a:rPr lang="en-US" dirty="0"/>
              <a:t>Understanding functions,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EDC6-6F71-17CE-B3BB-25929FC7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USING a function someone else wrote: </a:t>
            </a:r>
          </a:p>
          <a:p>
            <a:pPr lvl="1"/>
            <a:r>
              <a:rPr lang="en-GB" dirty="0"/>
              <a:t>Read the name to understand what it does </a:t>
            </a:r>
          </a:p>
          <a:p>
            <a:pPr lvl="1"/>
            <a:r>
              <a:rPr lang="en-GB" dirty="0"/>
              <a:t>Provide the required inputs </a:t>
            </a:r>
          </a:p>
          <a:p>
            <a:pPr lvl="1"/>
            <a:r>
              <a:rPr lang="en-GB" dirty="0"/>
              <a:t>Receive the output </a:t>
            </a:r>
          </a:p>
          <a:p>
            <a:pPr lvl="1"/>
            <a:r>
              <a:rPr lang="en-GB" dirty="0"/>
              <a:t>Inner steps are a "black box" - you don't need to know </a:t>
            </a:r>
          </a:p>
          <a:p>
            <a:r>
              <a:rPr lang="en-GB" dirty="0"/>
              <a:t>When WRITING your own function: </a:t>
            </a:r>
          </a:p>
          <a:p>
            <a:pPr lvl="1"/>
            <a:r>
              <a:rPr lang="en-GB" dirty="0"/>
              <a:t>Choose a clear name  </a:t>
            </a:r>
          </a:p>
          <a:p>
            <a:pPr lvl="1"/>
            <a:r>
              <a:rPr lang="en-GB" dirty="0"/>
              <a:t>Define what inputs you need</a:t>
            </a:r>
          </a:p>
          <a:p>
            <a:pPr lvl="1"/>
            <a:r>
              <a:rPr lang="en-GB" dirty="0"/>
              <a:t>Write the inner steps (the "recipe") </a:t>
            </a:r>
          </a:p>
          <a:p>
            <a:pPr lvl="1"/>
            <a:r>
              <a:rPr lang="en-GB" dirty="0"/>
              <a:t>Return the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2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BC74-B7C3-C806-016A-FB0275CD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coding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D6BF-91AF-2AF6-08C5-9F5E4F83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Descriptive names for variables</a:t>
            </a:r>
          </a:p>
          <a:p>
            <a:r>
              <a:rPr lang="en-US" dirty="0"/>
              <a:t>Keep code DRY</a:t>
            </a:r>
          </a:p>
          <a:p>
            <a:pPr lvl="1"/>
            <a:r>
              <a:rPr lang="en-US" dirty="0"/>
              <a:t>Do not repeat yourself</a:t>
            </a:r>
          </a:p>
          <a:p>
            <a:r>
              <a:rPr lang="en-US" dirty="0"/>
              <a:t>Consistent coding style</a:t>
            </a:r>
          </a:p>
          <a:p>
            <a:r>
              <a:rPr lang="en-US" dirty="0"/>
              <a:t>Document your code</a:t>
            </a:r>
          </a:p>
          <a:p>
            <a:r>
              <a:rPr lang="en-US" dirty="0"/>
              <a:t>Keep code modular</a:t>
            </a:r>
          </a:p>
          <a:p>
            <a:r>
              <a:rPr lang="en-US" dirty="0"/>
              <a:t>Avoid global variables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3816199-2DB5-C104-F2FA-A2BF81A18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182" y="4150658"/>
            <a:ext cx="7048500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95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D52E-DE0D-38AF-F444-299D5ACB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r/ProgrammerHumor - The most difficult part of programming">
            <a:extLst>
              <a:ext uri="{FF2B5EF4-FFF2-40B4-BE49-F238E27FC236}">
                <a16:creationId xmlns:a16="http://schemas.microsoft.com/office/drawing/2014/main" id="{4ADEC4F3-C3B8-FE52-D491-10A72F902E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728" y="2080070"/>
            <a:ext cx="4338106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C Programming Style Guide">
            <a:extLst>
              <a:ext uri="{FF2B5EF4-FFF2-40B4-BE49-F238E27FC236}">
                <a16:creationId xmlns:a16="http://schemas.microsoft.com/office/drawing/2014/main" id="{B5D925E9-11C6-E28E-EC7F-56ACD2AB3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29" y="2110263"/>
            <a:ext cx="4338107" cy="417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7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EBE8-4C06-B0E6-7142-DDF1FF4B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4330-36D6-4F18-B31C-B4EB354E1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 of variables, functions, </a:t>
            </a:r>
            <a:br>
              <a:rPr lang="en-US" dirty="0"/>
            </a:br>
            <a:r>
              <a:rPr lang="en-US" dirty="0"/>
              <a:t>objects, etc., should provide </a:t>
            </a:r>
            <a:br>
              <a:rPr lang="en-US" dirty="0"/>
            </a:br>
            <a:r>
              <a:rPr lang="en-US" dirty="0"/>
              <a:t>information about content</a:t>
            </a:r>
          </a:p>
          <a:p>
            <a:r>
              <a:rPr lang="en-US" dirty="0"/>
              <a:t>Improves readability</a:t>
            </a:r>
          </a:p>
          <a:p>
            <a:r>
              <a:rPr lang="en-US" dirty="0"/>
              <a:t>Communicates intent</a:t>
            </a:r>
          </a:p>
          <a:p>
            <a:r>
              <a:rPr lang="en-US" dirty="0"/>
              <a:t>Reduces errors and confusion</a:t>
            </a:r>
          </a:p>
          <a:p>
            <a:r>
              <a:rPr lang="en-US" dirty="0"/>
              <a:t>Eases maintenance and </a:t>
            </a:r>
            <a:br>
              <a:rPr lang="en-US" dirty="0"/>
            </a:br>
            <a:r>
              <a:rPr lang="en-US" dirty="0"/>
              <a:t>collaboration</a:t>
            </a:r>
          </a:p>
        </p:txBody>
      </p:sp>
      <p:pic>
        <p:nvPicPr>
          <p:cNvPr id="3076" name="Picture 4" descr="Modular Code">
            <a:extLst>
              <a:ext uri="{FF2B5EF4-FFF2-40B4-BE49-F238E27FC236}">
                <a16:creationId xmlns:a16="http://schemas.microsoft.com/office/drawing/2014/main" id="{1896D7E9-326C-2EB8-3961-30856F50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879" y="874967"/>
            <a:ext cx="6191250" cy="585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87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BF40E-4414-9903-F8C0-2FA3BF8C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 (Don’t Repeat Yourself)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6D1E-21BE-B362-6DEB-5D8962BE3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Repeated code = opportunity for a function </a:t>
            </a:r>
          </a:p>
          <a:p>
            <a:pPr lvl="1"/>
            <a:r>
              <a:rPr lang="en-GB" dirty="0"/>
              <a:t>If you copy-paste code 3 times, make it a function </a:t>
            </a:r>
          </a:p>
          <a:p>
            <a:r>
              <a:rPr lang="en-GB" dirty="0"/>
              <a:t>When you find a bug, fix it in ONE place, not everywhere </a:t>
            </a:r>
          </a:p>
          <a:p>
            <a:pPr lvl="1"/>
            <a:r>
              <a:rPr lang="en-GB" dirty="0"/>
              <a:t>With repetition: have to remember all the places to fix </a:t>
            </a:r>
          </a:p>
          <a:p>
            <a:r>
              <a:rPr lang="en-GB" dirty="0"/>
              <a:t>Changes become easier</a:t>
            </a:r>
          </a:p>
          <a:p>
            <a:pPr lvl="1"/>
            <a:r>
              <a:rPr lang="en-GB" dirty="0"/>
              <a:t>update logic once, applies everywhere </a:t>
            </a:r>
          </a:p>
          <a:p>
            <a:r>
              <a:rPr lang="en-GB" dirty="0"/>
              <a:t>Repetition creates inconsistency </a:t>
            </a:r>
          </a:p>
          <a:p>
            <a:pPr lvl="1"/>
            <a:r>
              <a:rPr lang="en-GB" dirty="0"/>
              <a:t>easy to update one place and miss others </a:t>
            </a:r>
          </a:p>
          <a:p>
            <a:r>
              <a:rPr lang="en-GB" dirty="0"/>
              <a:t>Functions are the tool to avoid repetition </a:t>
            </a:r>
          </a:p>
          <a:p>
            <a:pPr lvl="1"/>
            <a:r>
              <a:rPr lang="en-GB" dirty="0"/>
              <a:t>Write once, use many times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6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C563-9EE5-0486-3E71-2948328F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coding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E041-A511-80D2-68B8-E45143686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naming style for objects functions</a:t>
            </a:r>
          </a:p>
          <a:p>
            <a:pPr lvl="1"/>
            <a:r>
              <a:rPr lang="en-US" dirty="0"/>
              <a:t>Lower case with underscores (snake case), for example</a:t>
            </a:r>
          </a:p>
          <a:p>
            <a:r>
              <a:rPr lang="en-US" dirty="0"/>
              <a:t>Consistent spacing and indentation</a:t>
            </a:r>
          </a:p>
          <a:p>
            <a:pPr lvl="1"/>
            <a:r>
              <a:rPr lang="en-US" dirty="0"/>
              <a:t>Tabs or space but not both</a:t>
            </a:r>
          </a:p>
          <a:p>
            <a:r>
              <a:rPr lang="en-US" dirty="0"/>
              <a:t>Spaces around operators for readability</a:t>
            </a:r>
          </a:p>
          <a:p>
            <a:pPr lvl="1"/>
            <a:r>
              <a:rPr lang="en-US" dirty="0"/>
              <a:t>X = y + 3</a:t>
            </a:r>
          </a:p>
          <a:p>
            <a:pPr lvl="1"/>
            <a:r>
              <a:rPr lang="en-US" dirty="0"/>
              <a:t>Not x=y+3</a:t>
            </a:r>
          </a:p>
          <a:p>
            <a:r>
              <a:rPr lang="en-US" dirty="0"/>
              <a:t>Consistent quotations</a:t>
            </a:r>
          </a:p>
          <a:p>
            <a:pPr lvl="1"/>
            <a:r>
              <a:rPr lang="en-US" dirty="0"/>
              <a:t>Single or double quotation marks</a:t>
            </a:r>
          </a:p>
        </p:txBody>
      </p:sp>
    </p:spTree>
    <p:extLst>
      <p:ext uri="{BB962C8B-B14F-4D97-AF65-F5344CB8AC3E}">
        <p14:creationId xmlns:p14="http://schemas.microsoft.com/office/powerpoint/2010/main" val="209862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B2DA-BE77-0712-7370-2E367744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2405-77D4-2621-C46A-41380C21C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 each section to create narrative</a:t>
            </a:r>
          </a:p>
          <a:p>
            <a:r>
              <a:rPr lang="en-US" dirty="0"/>
              <a:t>Inline comments explain “why”</a:t>
            </a:r>
          </a:p>
          <a:p>
            <a:r>
              <a:rPr lang="en-US" dirty="0"/>
              <a:t>Save time in the future </a:t>
            </a:r>
          </a:p>
          <a:p>
            <a:r>
              <a:rPr lang="en-US" dirty="0"/>
              <a:t>Makes collaboration easier</a:t>
            </a:r>
          </a:p>
        </p:txBody>
      </p:sp>
    </p:spTree>
    <p:extLst>
      <p:ext uri="{BB962C8B-B14F-4D97-AF65-F5344CB8AC3E}">
        <p14:creationId xmlns:p14="http://schemas.microsoft.com/office/powerpoint/2010/main" val="372368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42CD-BD0B-1F0E-29FF-84BA3923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422D-1706-6E6D-BA7D-975B6AD1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block performs specific tasks and only those tasks</a:t>
            </a:r>
          </a:p>
          <a:p>
            <a:r>
              <a:rPr lang="en-US" dirty="0"/>
              <a:t>Easier to fix if something goes wrong (like with version control) </a:t>
            </a:r>
          </a:p>
          <a:p>
            <a:r>
              <a:rPr lang="en-US" dirty="0"/>
              <a:t>Supports DRY principle and error testing</a:t>
            </a:r>
          </a:p>
        </p:txBody>
      </p:sp>
    </p:spTree>
    <p:extLst>
      <p:ext uri="{BB962C8B-B14F-4D97-AF65-F5344CB8AC3E}">
        <p14:creationId xmlns:p14="http://schemas.microsoft.com/office/powerpoint/2010/main" val="11076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F447-3CA4-8399-B189-F9ACBBB4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and 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54457-4CAE-5AB7-044D-7AB5B1CB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variable: Only visible to function</a:t>
            </a:r>
          </a:p>
          <a:p>
            <a:pPr lvl="1"/>
            <a:r>
              <a:rPr lang="en-US" dirty="0"/>
              <a:t>Once function completes, variable </a:t>
            </a:r>
            <a:br>
              <a:rPr lang="en-US" dirty="0"/>
            </a:br>
            <a:r>
              <a:rPr lang="en-US" dirty="0"/>
              <a:t>disappears</a:t>
            </a:r>
          </a:p>
          <a:p>
            <a:r>
              <a:rPr lang="en-US" dirty="0"/>
              <a:t>Global variable: Visible outside functions</a:t>
            </a:r>
          </a:p>
          <a:p>
            <a:pPr lvl="1"/>
            <a:r>
              <a:rPr lang="en-US" dirty="0"/>
              <a:t>Can be read inside functions automatically</a:t>
            </a:r>
          </a:p>
          <a:p>
            <a:pPr lvl="1"/>
            <a:r>
              <a:rPr lang="en-US" dirty="0"/>
              <a:t>Can be changed within functions </a:t>
            </a:r>
            <a:br>
              <a:rPr lang="en-US" dirty="0"/>
            </a:br>
            <a:r>
              <a:rPr lang="en-US" dirty="0"/>
              <a:t>with ‘global’</a:t>
            </a:r>
          </a:p>
        </p:txBody>
      </p:sp>
      <p:pic>
        <p:nvPicPr>
          <p:cNvPr id="4098" name="Picture 2" descr="Local vs. global variable in Python">
            <a:extLst>
              <a:ext uri="{FF2B5EF4-FFF2-40B4-BE49-F238E27FC236}">
                <a16:creationId xmlns:a16="http://schemas.microsoft.com/office/drawing/2014/main" id="{92B52186-22FE-C1EB-0582-1A66E9A6B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968" y="1095085"/>
            <a:ext cx="5336032" cy="576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297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B909-6D85-4294-BF64-39DE9CD4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Good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AA21D-58E7-85D9-48B9-96B8D189D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it simple</a:t>
            </a:r>
          </a:p>
          <a:p>
            <a:r>
              <a:rPr lang="en-US" dirty="0"/>
              <a:t>Make inputs explicit</a:t>
            </a:r>
          </a:p>
          <a:p>
            <a:r>
              <a:rPr lang="en-US" dirty="0"/>
              <a:t>Return results</a:t>
            </a:r>
          </a:p>
          <a:p>
            <a:r>
              <a:rPr lang="en-US" dirty="0"/>
              <a:t>Clear names for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93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D797-C51D-66CF-B232-A8AE98DE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it simple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5D67-0846-94EE-1A92-F0F58194F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task per function</a:t>
            </a:r>
          </a:p>
          <a:p>
            <a:r>
              <a:rPr lang="en-US" dirty="0"/>
              <a:t>Limited number of inputs/parameters</a:t>
            </a:r>
          </a:p>
          <a:p>
            <a:r>
              <a:rPr lang="en-US" dirty="0"/>
              <a:t>Simple logic over clever solutions</a:t>
            </a:r>
          </a:p>
          <a:p>
            <a:r>
              <a:rPr lang="en-US" dirty="0"/>
              <a:t>Avoid unnecessary features (premature generalization)</a:t>
            </a:r>
          </a:p>
          <a:p>
            <a:r>
              <a:rPr lang="en-US" dirty="0"/>
              <a:t>Code that is easy to read and maintain</a:t>
            </a:r>
          </a:p>
        </p:txBody>
      </p:sp>
    </p:spTree>
    <p:extLst>
      <p:ext uri="{BB962C8B-B14F-4D97-AF65-F5344CB8AC3E}">
        <p14:creationId xmlns:p14="http://schemas.microsoft.com/office/powerpoint/2010/main" val="1973108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6106-92E2-86F4-4076-A60B089F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inputs explicit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6ABF-5F83-344F-6818-2CB1F3840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needed information should be arguments</a:t>
            </a:r>
          </a:p>
          <a:p>
            <a:r>
              <a:rPr lang="en-US" dirty="0"/>
              <a:t>Avoid global variables in functions</a:t>
            </a:r>
          </a:p>
          <a:p>
            <a:r>
              <a:rPr lang="en-US" dirty="0"/>
              <a:t>Makes functions reusable across scripts</a:t>
            </a:r>
          </a:p>
        </p:txBody>
      </p:sp>
    </p:spTree>
    <p:extLst>
      <p:ext uri="{BB962C8B-B14F-4D97-AF65-F5344CB8AC3E}">
        <p14:creationId xmlns:p14="http://schemas.microsoft.com/office/powerpoint/2010/main" val="225181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B1DC-FEB7-AE8E-C695-23F6A312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9CB11-6000-8027-FAAA-F804FE4BE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should output values</a:t>
            </a:r>
          </a:p>
          <a:p>
            <a:pPr lvl="1"/>
            <a:r>
              <a:rPr lang="en-US" dirty="0"/>
              <a:t>Not only print to console</a:t>
            </a:r>
          </a:p>
          <a:p>
            <a:r>
              <a:rPr lang="en-US" dirty="0"/>
              <a:t>Building blocks</a:t>
            </a:r>
          </a:p>
          <a:p>
            <a:pPr lvl="1"/>
            <a:r>
              <a:rPr lang="en-US" dirty="0"/>
              <a:t>Can be inputted to other functions </a:t>
            </a:r>
          </a:p>
          <a:p>
            <a:r>
              <a:rPr lang="en-US" dirty="0"/>
              <a:t>Testing and debugging</a:t>
            </a:r>
          </a:p>
          <a:p>
            <a:pPr lvl="1"/>
            <a:r>
              <a:rPr lang="en-US" dirty="0"/>
              <a:t>Easier to verify whether functions working</a:t>
            </a:r>
          </a:p>
          <a:p>
            <a:r>
              <a:rPr lang="en-US" dirty="0"/>
              <a:t>Flexibility</a:t>
            </a:r>
          </a:p>
          <a:p>
            <a:pPr lvl="1"/>
            <a:r>
              <a:rPr lang="en-US" dirty="0"/>
              <a:t>User decides what to do with results</a:t>
            </a:r>
          </a:p>
        </p:txBody>
      </p:sp>
    </p:spTree>
    <p:extLst>
      <p:ext uri="{BB962C8B-B14F-4D97-AF65-F5344CB8AC3E}">
        <p14:creationId xmlns:p14="http://schemas.microsoft.com/office/powerpoint/2010/main" val="1338297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B75A-45EF-C26C-A620-54A33772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names for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7CA48-DB04-142C-3F50-3B914725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should describe what function does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Relates to descriptive variable names in</a:t>
            </a:r>
            <a:br>
              <a:rPr lang="en-US" dirty="0"/>
            </a:br>
            <a:r>
              <a:rPr lang="en-US" dirty="0"/>
              <a:t>coding practices</a:t>
            </a:r>
          </a:p>
        </p:txBody>
      </p:sp>
      <p:pic>
        <p:nvPicPr>
          <p:cNvPr id="3074" name="Picture 2" descr="How Do You Choose Python Function Names? – Real Python">
            <a:extLst>
              <a:ext uri="{FF2B5EF4-FFF2-40B4-BE49-F238E27FC236}">
                <a16:creationId xmlns:a16="http://schemas.microsoft.com/office/drawing/2014/main" id="{3DA35C0A-1773-0F2D-2A91-4222C851F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704" y="3654170"/>
            <a:ext cx="5175504" cy="291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36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6052-718C-1CC5-5A00-BC0CDDDC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v. External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46A1B-CB0C-AB45-11A5-EB5BD025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Internal Functions (just for you): </a:t>
            </a:r>
          </a:p>
          <a:p>
            <a:pPr lvl="1"/>
            <a:r>
              <a:rPr lang="en-GB" dirty="0"/>
              <a:t>Research scripts, homework, personal analysis </a:t>
            </a:r>
          </a:p>
          <a:p>
            <a:pPr lvl="1"/>
            <a:r>
              <a:rPr lang="en-GB" dirty="0"/>
              <a:t>Minimal error checking - you know the inputs </a:t>
            </a:r>
          </a:p>
          <a:p>
            <a:pPr lvl="1"/>
            <a:r>
              <a:rPr lang="en-GB" dirty="0"/>
              <a:t>Brief or no docstrings </a:t>
            </a:r>
          </a:p>
          <a:p>
            <a:pPr lvl="1"/>
            <a:r>
              <a:rPr lang="en-GB" dirty="0"/>
              <a:t>Optimize for getting work done quickly</a:t>
            </a:r>
          </a:p>
          <a:p>
            <a:r>
              <a:rPr lang="en-GB" dirty="0"/>
              <a:t>External Functions (for others): </a:t>
            </a:r>
          </a:p>
          <a:p>
            <a:pPr lvl="1"/>
            <a:r>
              <a:rPr lang="en-GB" dirty="0"/>
              <a:t>Shared code, packages, team projects </a:t>
            </a:r>
          </a:p>
          <a:p>
            <a:pPr lvl="1"/>
            <a:r>
              <a:rPr lang="en-GB" dirty="0"/>
              <a:t>Extensive error checking and validation </a:t>
            </a:r>
          </a:p>
          <a:p>
            <a:pPr lvl="1"/>
            <a:r>
              <a:rPr lang="en-GB" dirty="0"/>
              <a:t>Detailed docstrings </a:t>
            </a:r>
          </a:p>
          <a:p>
            <a:pPr lvl="1"/>
            <a:r>
              <a:rPr lang="en-GB" dirty="0"/>
              <a:t>Optimize for clarity and robustness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40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BC02-5FB6-43AC-D7A9-9886DFD8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FBBE0-3216-2F04-41A5-5A6E79D9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B2BF3-8E1B-AF7E-B3B6-03B7EF21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904" y="2514600"/>
            <a:ext cx="5124747" cy="37417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def _</a:t>
            </a:r>
            <a:r>
              <a:rPr lang="en-GB" sz="1600" dirty="0" err="1"/>
              <a:t>growth_rate</a:t>
            </a:r>
            <a:r>
              <a:rPr lang="en-GB" sz="1600" dirty="0"/>
              <a:t>(current, previous):</a:t>
            </a:r>
          </a:p>
          <a:p>
            <a:pPr marL="0" indent="0">
              <a:buNone/>
            </a:pPr>
            <a:r>
              <a:rPr lang="en-GB" sz="1600" dirty="0"/>
              <a:t>    # assumes previous != 0 and inputs are numeric</a:t>
            </a:r>
          </a:p>
          <a:p>
            <a:pPr marL="0" indent="0">
              <a:buNone/>
            </a:pPr>
            <a:r>
              <a:rPr lang="en-GB" sz="1600" dirty="0"/>
              <a:t>    return (current - previous) / previous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009453-4B5D-2BE0-B827-8C2EF9991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4495" y="603506"/>
            <a:ext cx="4396339" cy="576262"/>
          </a:xfrm>
        </p:spPr>
        <p:txBody>
          <a:bodyPr/>
          <a:lstStyle/>
          <a:p>
            <a:r>
              <a:rPr lang="en-US" dirty="0"/>
              <a:t>External function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F8A3EB-0ADB-33E3-1488-E65139BF1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54495" y="1204216"/>
            <a:ext cx="6162601" cy="463283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1200" dirty="0"/>
              <a:t>def </a:t>
            </a:r>
            <a:r>
              <a:rPr lang="en-GB" sz="1200" dirty="0" err="1"/>
              <a:t>growth_rate</a:t>
            </a:r>
            <a:r>
              <a:rPr lang="en-GB" sz="1200" dirty="0"/>
              <a:t>(current, previous):</a:t>
            </a:r>
            <a:br>
              <a:rPr lang="en-GB" sz="1200" dirty="0"/>
            </a:br>
            <a:r>
              <a:rPr lang="en-GB" sz="1200" dirty="0"/>
              <a:t>    “””</a:t>
            </a:r>
            <a:br>
              <a:rPr lang="en-GB" sz="1200" dirty="0"/>
            </a:br>
            <a:r>
              <a:rPr lang="en-GB" sz="1200" dirty="0"/>
              <a:t>    Calculate the percentage growth rate between two values.</a:t>
            </a:r>
            <a:br>
              <a:rPr lang="en-GB" sz="1200" dirty="0"/>
            </a:br>
            <a:r>
              <a:rPr lang="en-GB" sz="1200" dirty="0"/>
              <a:t>    Parameters</a:t>
            </a:r>
            <a:br>
              <a:rPr lang="en-GB" sz="1200" dirty="0"/>
            </a:br>
            <a:r>
              <a:rPr lang="en-GB" sz="1200" dirty="0"/>
              <a:t>    ----------</a:t>
            </a:r>
            <a:br>
              <a:rPr lang="en-GB" sz="1200" dirty="0"/>
            </a:br>
            <a:r>
              <a:rPr lang="en-GB" sz="1200" dirty="0"/>
              <a:t>    current : float or int</a:t>
            </a:r>
            <a:br>
              <a:rPr lang="en-GB" sz="1200" dirty="0"/>
            </a:br>
            <a:r>
              <a:rPr lang="en-GB" sz="1200" dirty="0"/>
              <a:t>     The current value.</a:t>
            </a:r>
            <a:br>
              <a:rPr lang="en-GB" sz="1200" dirty="0"/>
            </a:br>
            <a:r>
              <a:rPr lang="en-GB" sz="1200" dirty="0"/>
              <a:t>    previous : float or int</a:t>
            </a:r>
            <a:br>
              <a:rPr lang="en-GB" sz="1200" dirty="0"/>
            </a:br>
            <a:r>
              <a:rPr lang="en-GB" sz="1200" dirty="0"/>
              <a:t>        The previous value. Must be nonzero.</a:t>
            </a:r>
            <a:br>
              <a:rPr lang="en-GB" sz="1200" dirty="0"/>
            </a:br>
            <a:r>
              <a:rPr lang="en-GB" sz="1200" dirty="0"/>
              <a:t>     Returns</a:t>
            </a:r>
            <a:br>
              <a:rPr lang="en-GB" sz="1200" dirty="0"/>
            </a:br>
            <a:r>
              <a:rPr lang="en-GB" sz="1200" dirty="0"/>
              <a:t>    -------</a:t>
            </a:r>
            <a:br>
              <a:rPr lang="en-GB" sz="1200" dirty="0"/>
            </a:br>
            <a:r>
              <a:rPr lang="en-GB" sz="1200" dirty="0"/>
              <a:t>    float</a:t>
            </a:r>
            <a:br>
              <a:rPr lang="en-GB" sz="1200" dirty="0"/>
            </a:br>
            <a:r>
              <a:rPr lang="en-GB" sz="1200" dirty="0"/>
              <a:t>        The growth rate, defined as (current - previous) / previous.</a:t>
            </a:r>
            <a:br>
              <a:rPr lang="en-GB" sz="1200" dirty="0"/>
            </a:br>
            <a:r>
              <a:rPr lang="en-GB" sz="1200" dirty="0"/>
              <a:t>   “””</a:t>
            </a:r>
            <a:br>
              <a:rPr lang="en-GB" sz="1200" dirty="0"/>
            </a:br>
            <a:r>
              <a:rPr lang="en-GB" sz="1200" dirty="0"/>
              <a:t>    # Type checking</a:t>
            </a:r>
            <a:br>
              <a:rPr lang="en-GB" sz="1200" dirty="0"/>
            </a:br>
            <a:r>
              <a:rPr lang="en-GB" sz="1200" dirty="0"/>
              <a:t>    if not </a:t>
            </a:r>
            <a:r>
              <a:rPr lang="en-GB" sz="1200" dirty="0" err="1"/>
              <a:t>isinstance</a:t>
            </a:r>
            <a:r>
              <a:rPr lang="en-GB" sz="1200" dirty="0"/>
              <a:t>(current, (int, float)):</a:t>
            </a:r>
            <a:br>
              <a:rPr lang="en-GB" sz="1200" dirty="0"/>
            </a:br>
            <a:r>
              <a:rPr lang="en-GB" sz="1200" dirty="0"/>
              <a:t>        raise </a:t>
            </a:r>
            <a:r>
              <a:rPr lang="en-GB" sz="1200" dirty="0" err="1"/>
              <a:t>TypeError</a:t>
            </a:r>
            <a:r>
              <a:rPr lang="en-GB" sz="1200" dirty="0"/>
              <a:t>("current must be numeric")</a:t>
            </a:r>
            <a:br>
              <a:rPr lang="en-GB" sz="1200" dirty="0"/>
            </a:br>
            <a:r>
              <a:rPr lang="en-GB" sz="1200" dirty="0"/>
              <a:t>    if not </a:t>
            </a:r>
            <a:r>
              <a:rPr lang="en-GB" sz="1200" dirty="0" err="1"/>
              <a:t>isinstance</a:t>
            </a:r>
            <a:r>
              <a:rPr lang="en-GB" sz="1200" dirty="0"/>
              <a:t>(previous, (int, float)):</a:t>
            </a:r>
            <a:br>
              <a:rPr lang="en-GB" sz="1200" dirty="0"/>
            </a:br>
            <a:r>
              <a:rPr lang="en-GB" sz="1200" dirty="0"/>
              <a:t>        raise </a:t>
            </a:r>
            <a:r>
              <a:rPr lang="en-GB" sz="1200" dirty="0" err="1"/>
              <a:t>TypeError</a:t>
            </a:r>
            <a:r>
              <a:rPr lang="en-GB" sz="1200" dirty="0"/>
              <a:t>("previous must be numeric")</a:t>
            </a:r>
            <a:br>
              <a:rPr lang="en-GB" sz="1200" dirty="0"/>
            </a:br>
            <a:r>
              <a:rPr lang="en-GB" sz="1200" dirty="0"/>
              <a:t>    # Value checking</a:t>
            </a:r>
            <a:br>
              <a:rPr lang="en-GB" sz="1200" dirty="0"/>
            </a:br>
            <a:r>
              <a:rPr lang="en-GB" sz="1200" dirty="0"/>
              <a:t>    if previous == 0:</a:t>
            </a:r>
            <a:br>
              <a:rPr lang="en-GB" sz="1200" dirty="0"/>
            </a:br>
            <a:r>
              <a:rPr lang="en-GB" sz="1200" dirty="0"/>
              <a:t>        raise </a:t>
            </a:r>
            <a:r>
              <a:rPr lang="en-GB" sz="1200" dirty="0" err="1"/>
              <a:t>ValueError</a:t>
            </a:r>
            <a:r>
              <a:rPr lang="en-GB" sz="1200" dirty="0"/>
              <a:t>("previous must be nonzero")</a:t>
            </a:r>
            <a:br>
              <a:rPr lang="en-GB" sz="1200" dirty="0"/>
            </a:br>
            <a:r>
              <a:rPr lang="en-GB" sz="1200" dirty="0"/>
              <a:t>    return (current - previous) / previous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1924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9CC8AC-1767-0E88-1107-B7A57FE6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200D6-6EA6-5198-34F0-002BCE193BF2}"/>
              </a:ext>
            </a:extLst>
          </p:cNvPr>
          <p:cNvSpPr txBox="1"/>
          <p:nvPr/>
        </p:nvSpPr>
        <p:spPr>
          <a:xfrm>
            <a:off x="493776" y="3924544"/>
            <a:ext cx="110368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# Function to extract and clean the columns</a:t>
            </a:r>
          </a:p>
          <a:p>
            <a:r>
              <a:rPr lang="en-US"/>
              <a:t>def extract_and_clean(df, column_name, regex_pattern, replace_pattern):</a:t>
            </a:r>
          </a:p>
          <a:p>
            <a:r>
              <a:rPr lang="en-US"/>
              <a:t>	df['itemt']=df.item</a:t>
            </a:r>
          </a:p>
          <a:p>
            <a:r>
              <a:rPr lang="en-US"/>
              <a:t>	df[[ 'item', column_name]] = df['item'].str.extract(regex_pattern, flags=re.M)</a:t>
            </a:r>
          </a:p>
          <a:p>
            <a:r>
              <a:rPr lang="en-US"/>
              <a:t>	df[column_name] = df[column_name].str.replace(replace_pattern, '', regex=True).str.strip()</a:t>
            </a:r>
          </a:p>
          <a:p>
            <a:r>
              <a:rPr lang="en-US"/>
              <a:t>	df[column_name] = df[column_name].str.replace(r'\.$','', regex=True)</a:t>
            </a:r>
          </a:p>
          <a:p>
            <a:r>
              <a:rPr lang="en-US"/>
              <a:t>	df['item'] = df['item'].fillna(df['itemt'])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10336-3524-024D-25FC-6C2D146B0BE5}"/>
              </a:ext>
            </a:extLst>
          </p:cNvPr>
          <p:cNvSpPr txBox="1"/>
          <p:nvPr/>
        </p:nvSpPr>
        <p:spPr>
          <a:xfrm>
            <a:off x="646110" y="2088172"/>
            <a:ext cx="108844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&lt;ENT&gt;Framed, matted, and signed photographic portrait of Prince William. Rec'd—12/8/2014. Est. Value—$888.00. Disposition—National Archives and Records Administration&lt;/ENT&gt;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C4653-1A76-76B1-5193-BC91CA30F60A}"/>
              </a:ext>
            </a:extLst>
          </p:cNvPr>
          <p:cNvSpPr/>
          <p:nvPr/>
        </p:nvSpPr>
        <p:spPr>
          <a:xfrm>
            <a:off x="563814" y="2404873"/>
            <a:ext cx="2343978" cy="384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92A5A-D99C-43B5-2634-18ACB04C36A9}"/>
              </a:ext>
            </a:extLst>
          </p:cNvPr>
          <p:cNvSpPr/>
          <p:nvPr/>
        </p:nvSpPr>
        <p:spPr>
          <a:xfrm>
            <a:off x="9006840" y="2033307"/>
            <a:ext cx="2343978" cy="38449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ABE761-98E1-6370-CC70-8C8011217A74}"/>
              </a:ext>
            </a:extLst>
          </p:cNvPr>
          <p:cNvSpPr/>
          <p:nvPr/>
        </p:nvSpPr>
        <p:spPr>
          <a:xfrm>
            <a:off x="2971800" y="2411337"/>
            <a:ext cx="6483096" cy="37803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56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21231</TotalTime>
  <Words>1102</Words>
  <Application>Microsoft Office PowerPoint</Application>
  <PresentationFormat>Widescreen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Century Gothic</vt:lpstr>
      <vt:lpstr>Wingdings 3</vt:lpstr>
      <vt:lpstr>Ion</vt:lpstr>
      <vt:lpstr>Functions</vt:lpstr>
      <vt:lpstr>What is a function?</vt:lpstr>
      <vt:lpstr>Why/when to use functions?</vt:lpstr>
      <vt:lpstr>Function syntax</vt:lpstr>
      <vt:lpstr>Understanding functions</vt:lpstr>
      <vt:lpstr>Understanding functions, part 2</vt:lpstr>
      <vt:lpstr>Good coding practices</vt:lpstr>
      <vt:lpstr>PowerPoint Presentation</vt:lpstr>
      <vt:lpstr>Descriptive names</vt:lpstr>
      <vt:lpstr>DRY (Don’t Repeat Yourself)</vt:lpstr>
      <vt:lpstr>Consistent coding style</vt:lpstr>
      <vt:lpstr>Document your code</vt:lpstr>
      <vt:lpstr>Modular code</vt:lpstr>
      <vt:lpstr>Global and local variables</vt:lpstr>
      <vt:lpstr>Rules for Good Functions</vt:lpstr>
      <vt:lpstr>Keep it simple</vt:lpstr>
      <vt:lpstr>Make inputs explicit</vt:lpstr>
      <vt:lpstr>Return results</vt:lpstr>
      <vt:lpstr>Clear names for functions</vt:lpstr>
      <vt:lpstr>Internal v. External Functions</vt:lpstr>
      <vt:lpstr>Examples</vt:lpstr>
      <vt:lpstr>PowerPoint Presentation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11</cp:revision>
  <dcterms:created xsi:type="dcterms:W3CDTF">2026-02-09T19:53:17Z</dcterms:created>
  <dcterms:modified xsi:type="dcterms:W3CDTF">2026-02-26T18:31:33Z</dcterms:modified>
</cp:coreProperties>
</file>