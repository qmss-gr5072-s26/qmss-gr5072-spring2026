
<file path=[Content_Types].xml><?xml version="1.0" encoding="utf-8"?>
<Types xmlns="http://schemas.openxmlformats.org/package/2006/content-types">
  <Default Extension="bin" ContentType="image/unknown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287" r:id="rId3"/>
    <p:sldId id="286" r:id="rId4"/>
    <p:sldId id="288" r:id="rId5"/>
    <p:sldId id="258" r:id="rId6"/>
    <p:sldId id="280" r:id="rId7"/>
    <p:sldId id="259" r:id="rId8"/>
    <p:sldId id="268" r:id="rId9"/>
    <p:sldId id="272" r:id="rId10"/>
    <p:sldId id="273" r:id="rId11"/>
    <p:sldId id="275" r:id="rId12"/>
    <p:sldId id="285" r:id="rId13"/>
    <p:sldId id="260" r:id="rId14"/>
    <p:sldId id="266" r:id="rId15"/>
    <p:sldId id="274" r:id="rId16"/>
    <p:sldId id="281" r:id="rId17"/>
    <p:sldId id="282" r:id="rId18"/>
    <p:sldId id="271" r:id="rId19"/>
    <p:sldId id="283" r:id="rId20"/>
    <p:sldId id="284" r:id="rId21"/>
    <p:sldId id="267" r:id="rId22"/>
    <p:sldId id="269" r:id="rId23"/>
    <p:sldId id="270" r:id="rId24"/>
    <p:sldId id="276" r:id="rId25"/>
    <p:sldId id="277" r:id="rId26"/>
    <p:sldId id="261" r:id="rId27"/>
    <p:sldId id="265" r:id="rId28"/>
    <p:sldId id="262" r:id="rId29"/>
    <p:sldId id="257" r:id="rId30"/>
    <p:sldId id="278" r:id="rId31"/>
    <p:sldId id="279" r:id="rId32"/>
    <p:sldId id="263" r:id="rId33"/>
    <p:sldId id="26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2782E-D08F-4AF4-A08B-869406F6E59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70553-68EC-4126-8EB1-857F80526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2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</a:t>
            </a:r>
            <a:r>
              <a:rPr lang="en-US" dirty="0" err="1"/>
              <a:t>dropbox</a:t>
            </a:r>
            <a:r>
              <a:rPr lang="en-US" dirty="0"/>
              <a:t> and google drive as examples of version control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70553-68EC-4126-8EB1-857F8052665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23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eecodecamp.org/news/writing-good-commit-messages-a-practical-guide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bin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markdownguide.org/cheat-sheet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F9D-9ADB-46F1-B8E6-BF32A270D2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</a:t>
            </a:r>
            <a:br>
              <a:rPr lang="en-US" dirty="0"/>
            </a:br>
            <a:r>
              <a:rPr lang="en-US" dirty="0"/>
              <a:t>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80666-B7D4-46D6-B2C3-B1DCC93DFD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919E4F-F9B7-426D-9398-D7CFF1B1B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619" y="621371"/>
            <a:ext cx="3771428" cy="546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6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6C92-F3B1-A6BE-41F2-590BF32F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80BC-271A-8148-1C9D-5620B37D6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GitHub?</a:t>
            </a:r>
          </a:p>
          <a:p>
            <a:r>
              <a:rPr lang="en-US" dirty="0"/>
              <a:t>Version control</a:t>
            </a:r>
          </a:p>
          <a:p>
            <a:r>
              <a:rPr lang="en-US" dirty="0"/>
              <a:t>Using GitHub</a:t>
            </a:r>
          </a:p>
          <a:p>
            <a:r>
              <a:rPr lang="en-US" dirty="0"/>
              <a:t>Python dependencies</a:t>
            </a:r>
          </a:p>
          <a:p>
            <a:r>
              <a:rPr lang="en-US" dirty="0"/>
              <a:t>Virtual environments</a:t>
            </a:r>
          </a:p>
          <a:p>
            <a:r>
              <a:rPr lang="en-US" dirty="0"/>
              <a:t>Markdown</a:t>
            </a:r>
          </a:p>
        </p:txBody>
      </p:sp>
    </p:spTree>
    <p:extLst>
      <p:ext uri="{BB962C8B-B14F-4D97-AF65-F5344CB8AC3E}">
        <p14:creationId xmlns:p14="http://schemas.microsoft.com/office/powerpoint/2010/main" val="113399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DA259-FEFE-FDF4-B0CB-4844DE4D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7EC9-F330-589F-B2C3-6CCD452D1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GB" dirty="0"/>
              <a:t>web-based interface that uses Git, the open source version control software that lets multiple people make separate changes to web pages at the same time”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3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5D659-E20E-69FD-8E1E-D165C0665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CFF17-936F-E15D-4A93-979993F52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source = free</a:t>
            </a:r>
          </a:p>
          <a:p>
            <a:r>
              <a:rPr lang="en-GB" dirty="0"/>
              <a:t>multiple people make separate changes</a:t>
            </a:r>
            <a:r>
              <a:rPr lang="en-US" dirty="0"/>
              <a:t> = collaborative</a:t>
            </a:r>
          </a:p>
          <a:p>
            <a:r>
              <a:rPr lang="en-US" dirty="0"/>
              <a:t>So, </a:t>
            </a:r>
            <a:r>
              <a:rPr lang="en-US" dirty="0" err="1"/>
              <a:t>Github</a:t>
            </a:r>
            <a:r>
              <a:rPr lang="en-US" dirty="0"/>
              <a:t> is a free tool that allows users to work together on a project and tracks the local changes each one makes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588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76544-AF1D-4D5A-8770-E43D6BAF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401649-7FA2-405C-B914-D1012FCCB6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6363" y="1286933"/>
            <a:ext cx="5262738" cy="493078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AEBAEE5-B383-42DD-9F8E-39E2868EF1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77372" y="1286933"/>
            <a:ext cx="3727053" cy="4969405"/>
          </a:xfrm>
        </p:spPr>
      </p:pic>
    </p:spTree>
    <p:extLst>
      <p:ext uri="{BB962C8B-B14F-4D97-AF65-F5344CB8AC3E}">
        <p14:creationId xmlns:p14="http://schemas.microsoft.com/office/powerpoint/2010/main" val="131787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4F1908-8347-469D-95D4-C6CBDB6C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version control?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AAA07-E662-45D9-83F5-D3D8F5837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practice of controlling, organizing, and tracking different versions in history of computer files</a:t>
            </a:r>
          </a:p>
          <a:p>
            <a:r>
              <a:rPr lang="en-GB" dirty="0"/>
              <a:t>Change the code/text with ability to go back to earlier revisions</a:t>
            </a:r>
          </a:p>
          <a:p>
            <a:r>
              <a:rPr lang="en-GB" dirty="0"/>
              <a:t>GitHub does this for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53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7C74-5E14-4483-85B6-32745502B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Workflow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4C6C71-2D85-49B9-8668-526550B4B82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1473199" y="1470287"/>
            <a:ext cx="8774472" cy="4934995"/>
          </a:xfrm>
        </p:spPr>
      </p:pic>
    </p:spTree>
    <p:extLst>
      <p:ext uri="{BB962C8B-B14F-4D97-AF65-F5344CB8AC3E}">
        <p14:creationId xmlns:p14="http://schemas.microsoft.com/office/powerpoint/2010/main" val="2327718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DC6F2-5DD2-4F23-9F46-788F0DC0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commands/files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9DA21-910B-4398-AE9B-BB6543806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status – See what files on the local branch have been changed from the last commit</a:t>
            </a:r>
          </a:p>
          <a:p>
            <a:r>
              <a:rPr lang="en-US" dirty="0"/>
              <a:t>.</a:t>
            </a:r>
            <a:r>
              <a:rPr lang="en-US" dirty="0" err="1"/>
              <a:t>gitignore</a:t>
            </a:r>
            <a:r>
              <a:rPr lang="en-US" dirty="0"/>
              <a:t> – List of files or folders that will be ignored when moving between local and origin repositories</a:t>
            </a:r>
          </a:p>
          <a:p>
            <a:r>
              <a:rPr lang="en-US" dirty="0"/>
              <a:t>git log – Display all commits </a:t>
            </a:r>
          </a:p>
          <a:p>
            <a:r>
              <a:rPr lang="en-US" dirty="0"/>
              <a:t>git revert [</a:t>
            </a:r>
            <a:r>
              <a:rPr lang="en-US" dirty="0" err="1"/>
              <a:t>commitid</a:t>
            </a:r>
            <a:r>
              <a:rPr lang="en-US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8304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0F1D5-D421-4A90-B0AC-F0D9AB0AE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1F7A12-EF98-4883-86EF-D28B877CFE38}"/>
              </a:ext>
            </a:extLst>
          </p:cNvPr>
          <p:cNvSpPr txBox="1"/>
          <p:nvPr/>
        </p:nvSpPr>
        <p:spPr>
          <a:xfrm>
            <a:off x="863600" y="2396067"/>
            <a:ext cx="27940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Working directory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LOCAL FILES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53D3F-529B-403D-BD28-F13E87999074}"/>
              </a:ext>
            </a:extLst>
          </p:cNvPr>
          <p:cNvSpPr txBox="1"/>
          <p:nvPr/>
        </p:nvSpPr>
        <p:spPr>
          <a:xfrm>
            <a:off x="4347633" y="2419430"/>
            <a:ext cx="29972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LOCAL CHANGES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0C8D08-6FD9-48F8-99A9-78817787BCA0}"/>
              </a:ext>
            </a:extLst>
          </p:cNvPr>
          <p:cNvSpPr txBox="1"/>
          <p:nvPr/>
        </p:nvSpPr>
        <p:spPr>
          <a:xfrm>
            <a:off x="8034867" y="2396065"/>
            <a:ext cx="29972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repository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STABLE VERSION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D87F04-1126-4275-86CF-34D7C4F22C0D}"/>
              </a:ext>
            </a:extLst>
          </p:cNvPr>
          <p:cNvCxnSpPr>
            <a:cxnSpLocks/>
          </p:cNvCxnSpPr>
          <p:nvPr/>
        </p:nvCxnSpPr>
        <p:spPr>
          <a:xfrm>
            <a:off x="3733800" y="3429000"/>
            <a:ext cx="6138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F07D581-BB3D-46D9-B548-D4C155792CDB}"/>
              </a:ext>
            </a:extLst>
          </p:cNvPr>
          <p:cNvCxnSpPr/>
          <p:nvPr/>
        </p:nvCxnSpPr>
        <p:spPr>
          <a:xfrm>
            <a:off x="7459133" y="3429000"/>
            <a:ext cx="5757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03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4AF9-F2F5-4F59-A538-A7074600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4695-41FC-4AC5-8DA2-35D5FF24B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all your local files are stored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931E1-2F68-4F52-A341-8790E45113C4}"/>
              </a:ext>
            </a:extLst>
          </p:cNvPr>
          <p:cNvSpPr txBox="1"/>
          <p:nvPr/>
        </p:nvSpPr>
        <p:spPr>
          <a:xfrm>
            <a:off x="7145867" y="2136338"/>
            <a:ext cx="27940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Working directory</a:t>
            </a:r>
          </a:p>
          <a:p>
            <a:endParaRPr lang="en-US" dirty="0"/>
          </a:p>
          <a:p>
            <a:r>
              <a:rPr lang="en-US" dirty="0"/>
              <a:t>	- File 1</a:t>
            </a:r>
          </a:p>
          <a:p>
            <a:r>
              <a:rPr lang="en-US" dirty="0"/>
              <a:t>	- File 2</a:t>
            </a:r>
          </a:p>
          <a:p>
            <a:r>
              <a:rPr lang="en-US" dirty="0"/>
              <a:t>	- File 3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822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B877-D35E-4112-88FE-2BC2BAFF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831D-8EAF-4ABD-9181-45627AEBF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git keeps track of changes you want to make to repository</a:t>
            </a:r>
          </a:p>
          <a:p>
            <a:r>
              <a:rPr lang="en-US" dirty="0"/>
              <a:t>Information stored in .git folder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EB670-2B24-4521-B2C0-75FC0FB55778}"/>
              </a:ext>
            </a:extLst>
          </p:cNvPr>
          <p:cNvSpPr txBox="1"/>
          <p:nvPr/>
        </p:nvSpPr>
        <p:spPr>
          <a:xfrm>
            <a:off x="7382933" y="3090331"/>
            <a:ext cx="362373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34FFE-A43B-48C3-81EC-827E604BB195}"/>
              </a:ext>
            </a:extLst>
          </p:cNvPr>
          <p:cNvSpPr txBox="1"/>
          <p:nvPr/>
        </p:nvSpPr>
        <p:spPr>
          <a:xfrm>
            <a:off x="7645400" y="3716867"/>
            <a:ext cx="145626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Staging area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070C7-A6AF-41A3-A732-667158CED3D2}"/>
              </a:ext>
            </a:extLst>
          </p:cNvPr>
          <p:cNvSpPr txBox="1"/>
          <p:nvPr/>
        </p:nvSpPr>
        <p:spPr>
          <a:xfrm>
            <a:off x="9296360" y="3699934"/>
            <a:ext cx="145626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136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B877-D35E-4112-88FE-2BC2BAFF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A831D-8EAF-4ABD-9181-45627AEBFF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version of repositories</a:t>
            </a:r>
          </a:p>
          <a:p>
            <a:r>
              <a:rPr lang="en-US" dirty="0"/>
              <a:t>Master/main version and all branches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5EB670-2B24-4521-B2C0-75FC0FB55778}"/>
              </a:ext>
            </a:extLst>
          </p:cNvPr>
          <p:cNvSpPr txBox="1"/>
          <p:nvPr/>
        </p:nvSpPr>
        <p:spPr>
          <a:xfrm>
            <a:off x="7382933" y="3090331"/>
            <a:ext cx="362373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34FFE-A43B-48C3-81EC-827E604BB195}"/>
              </a:ext>
            </a:extLst>
          </p:cNvPr>
          <p:cNvSpPr txBox="1"/>
          <p:nvPr/>
        </p:nvSpPr>
        <p:spPr>
          <a:xfrm>
            <a:off x="7645400" y="3716867"/>
            <a:ext cx="14562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Master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5070C7-A6AF-41A3-A732-667158CED3D2}"/>
              </a:ext>
            </a:extLst>
          </p:cNvPr>
          <p:cNvSpPr txBox="1"/>
          <p:nvPr/>
        </p:nvSpPr>
        <p:spPr>
          <a:xfrm>
            <a:off x="9296360" y="3699934"/>
            <a:ext cx="145626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Branches</a:t>
            </a:r>
          </a:p>
          <a:p>
            <a:r>
              <a:rPr lang="en-US" dirty="0"/>
              <a:t>- branch1</a:t>
            </a:r>
          </a:p>
          <a:p>
            <a:r>
              <a:rPr lang="en-US" dirty="0"/>
              <a:t>- branch2</a:t>
            </a:r>
          </a:p>
          <a:p>
            <a:r>
              <a:rPr lang="en-US" dirty="0"/>
              <a:t>- branch3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209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8D9E-35A9-4AC4-AFD5-88B05F24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A5FB9-31E6-42EC-A06A-4B3F1E948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51157"/>
            <a:ext cx="2774421" cy="30658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clone</a:t>
            </a:r>
          </a:p>
          <a:p>
            <a:r>
              <a:rPr lang="en-US" dirty="0"/>
              <a:t>git pull </a:t>
            </a:r>
          </a:p>
          <a:p>
            <a:endParaRPr lang="en-US" dirty="0"/>
          </a:p>
          <a:p>
            <a:r>
              <a:rPr lang="en-US" dirty="0"/>
              <a:t>git add</a:t>
            </a:r>
          </a:p>
          <a:p>
            <a:r>
              <a:rPr lang="en-US" dirty="0"/>
              <a:t>git commit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git push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04E9B3-2EE9-4BEE-9486-CD8AB5229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77733" y="1720334"/>
            <a:ext cx="6173101" cy="266830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 files from GitHub repository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Prepare files for repository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182880" indent="0">
              <a:spcBef>
                <a:spcPts val="0"/>
              </a:spcBef>
              <a:buNone/>
            </a:pPr>
            <a:r>
              <a:rPr lang="en-US" dirty="0"/>
              <a:t>	</a:t>
            </a:r>
          </a:p>
          <a:p>
            <a:pPr marL="182880" indent="0">
              <a:spcBef>
                <a:spcPts val="0"/>
              </a:spcBef>
              <a:buNone/>
            </a:pPr>
            <a:r>
              <a:rPr lang="en-US" dirty="0"/>
              <a:t>Send files to repository</a:t>
            </a:r>
          </a:p>
        </p:txBody>
      </p:sp>
    </p:spTree>
    <p:extLst>
      <p:ext uri="{BB962C8B-B14F-4D97-AF65-F5344CB8AC3E}">
        <p14:creationId xmlns:p14="http://schemas.microsoft.com/office/powerpoint/2010/main" val="359910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88FD-7815-4021-AFC2-BBFE446F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files from GitHub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D60C68-499B-4FD9-9C3E-7807F1B35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182533"/>
            <a:ext cx="8946541" cy="2065866"/>
          </a:xfrm>
        </p:spPr>
        <p:txBody>
          <a:bodyPr>
            <a:normAutofit/>
          </a:bodyPr>
          <a:lstStyle/>
          <a:p>
            <a:r>
              <a:rPr lang="en-US" dirty="0"/>
              <a:t>git clone – copy entire repository to a local directory</a:t>
            </a:r>
          </a:p>
          <a:p>
            <a:r>
              <a:rPr lang="en-US" dirty="0"/>
              <a:t>git fork – copy remote repository to local repository</a:t>
            </a:r>
          </a:p>
          <a:p>
            <a:r>
              <a:rPr lang="en-US" dirty="0"/>
              <a:t>git pull – copies files from new commits to local drive</a:t>
            </a:r>
          </a:p>
          <a:p>
            <a:r>
              <a:rPr lang="en-US" dirty="0"/>
              <a:t>git fetch – takes new files from remote repository to local repository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BC0FD8-5B59-423D-AED1-5569B794A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815"/>
            <a:ext cx="12192000" cy="296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C666-8D39-4A27-AE7B-D3CE3384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clone vs. git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E5D7A-C3AD-4AA6-95D3-D696CB382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git clone: Takes all files from remote repository and saves them to local directory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E81BF-2382-40D3-84FA-FE5096C1F212}"/>
              </a:ext>
            </a:extLst>
          </p:cNvPr>
          <p:cNvSpPr txBox="1"/>
          <p:nvPr/>
        </p:nvSpPr>
        <p:spPr>
          <a:xfrm>
            <a:off x="1016000" y="2884564"/>
            <a:ext cx="29972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repository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Readme.MD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Helloworld.py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requirements.txt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data/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79946-9D4C-4D63-926E-883895B7B940}"/>
              </a:ext>
            </a:extLst>
          </p:cNvPr>
          <p:cNvSpPr txBox="1"/>
          <p:nvPr/>
        </p:nvSpPr>
        <p:spPr>
          <a:xfrm>
            <a:off x="6553200" y="2884564"/>
            <a:ext cx="27940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Working directory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Readme.MD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Helloworld.py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requirements.txt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data/ 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4216490-AF8B-4676-9745-BAEBB3A5DFE8}"/>
              </a:ext>
            </a:extLst>
          </p:cNvPr>
          <p:cNvCxnSpPr/>
          <p:nvPr/>
        </p:nvCxnSpPr>
        <p:spPr>
          <a:xfrm>
            <a:off x="4135966" y="4047352"/>
            <a:ext cx="2294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9E8D79-F58E-4F2B-A827-C901F8F99023}"/>
              </a:ext>
            </a:extLst>
          </p:cNvPr>
          <p:cNvSpPr txBox="1"/>
          <p:nvPr/>
        </p:nvSpPr>
        <p:spPr>
          <a:xfrm>
            <a:off x="4191000" y="3426841"/>
            <a:ext cx="21844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 clone remote</a:t>
            </a:r>
          </a:p>
        </p:txBody>
      </p:sp>
    </p:spTree>
    <p:extLst>
      <p:ext uri="{BB962C8B-B14F-4D97-AF65-F5344CB8AC3E}">
        <p14:creationId xmlns:p14="http://schemas.microsoft.com/office/powerpoint/2010/main" val="116921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9053-7BFC-052A-390B-BA46E283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clone vs. git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53A03-7E47-CFD7-AA0A-8E32F0A8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fork: Move from remote repository to local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8D4B7-0871-8334-F733-9B12BC690C81}"/>
              </a:ext>
            </a:extLst>
          </p:cNvPr>
          <p:cNvSpPr txBox="1"/>
          <p:nvPr/>
        </p:nvSpPr>
        <p:spPr>
          <a:xfrm>
            <a:off x="1016000" y="2884564"/>
            <a:ext cx="29972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repository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Readme.MD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Helloworld.py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requirements.txt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data/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E67BA-8D52-60C5-BDDD-430EA910B955}"/>
              </a:ext>
            </a:extLst>
          </p:cNvPr>
          <p:cNvSpPr txBox="1"/>
          <p:nvPr/>
        </p:nvSpPr>
        <p:spPr>
          <a:xfrm>
            <a:off x="6904525" y="2879279"/>
            <a:ext cx="279400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Readme.MD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Helloworld.py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requirements.txt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data/ 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9DEE05-2337-CC0E-8C2C-DC5B8D5D96AD}"/>
              </a:ext>
            </a:extLst>
          </p:cNvPr>
          <p:cNvCxnSpPr/>
          <p:nvPr/>
        </p:nvCxnSpPr>
        <p:spPr>
          <a:xfrm>
            <a:off x="4135966" y="4047352"/>
            <a:ext cx="22944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7A6018-C54C-6B53-CA02-2FF3BEA1725D}"/>
              </a:ext>
            </a:extLst>
          </p:cNvPr>
          <p:cNvSpPr txBox="1"/>
          <p:nvPr/>
        </p:nvSpPr>
        <p:spPr>
          <a:xfrm>
            <a:off x="4190999" y="3426841"/>
            <a:ext cx="25893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git fork remote local</a:t>
            </a:r>
          </a:p>
        </p:txBody>
      </p:sp>
    </p:spTree>
    <p:extLst>
      <p:ext uri="{BB962C8B-B14F-4D97-AF65-F5344CB8AC3E}">
        <p14:creationId xmlns:p14="http://schemas.microsoft.com/office/powerpoint/2010/main" val="2750332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5653-76D5-D14D-A461-BA8A9FB9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clone vs. git fork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0281-7C72-1F48-F401-C64E53EE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fork – Use when do not have write-access to remote repository</a:t>
            </a:r>
          </a:p>
          <a:p>
            <a:r>
              <a:rPr lang="en-US" dirty="0"/>
              <a:t>Still have to clone repository to move to working directory</a:t>
            </a:r>
          </a:p>
          <a:p>
            <a:r>
              <a:rPr lang="en-US" dirty="0"/>
              <a:t>To add to remote repository, submit pull request</a:t>
            </a:r>
          </a:p>
        </p:txBody>
      </p:sp>
    </p:spTree>
    <p:extLst>
      <p:ext uri="{BB962C8B-B14F-4D97-AF65-F5344CB8AC3E}">
        <p14:creationId xmlns:p14="http://schemas.microsoft.com/office/powerpoint/2010/main" val="424787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4A02-98A5-418A-AAB8-7654CBA6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pull vs. git 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EF7B-2209-4A2E-A755-0E84BCB6A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difference between git pull and git fetch?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565F3-ACAB-4E4B-A277-24381EDA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46" y="2602675"/>
            <a:ext cx="6924495" cy="384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48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6E80-2680-1E8B-5BE3-5E66FF76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pull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95C0-D82A-25EE-EF2E-1FC875837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 all changed files from remote repository to working directory</a:t>
            </a:r>
          </a:p>
        </p:txBody>
      </p:sp>
    </p:spTree>
    <p:extLst>
      <p:ext uri="{BB962C8B-B14F-4D97-AF65-F5344CB8AC3E}">
        <p14:creationId xmlns:p14="http://schemas.microsoft.com/office/powerpoint/2010/main" val="203080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64A9-1272-6054-2789-094C3986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fetch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7366-07AC-84EF-361C-B1E6EF960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 all changed files from remote repository to local repository</a:t>
            </a:r>
          </a:p>
          <a:p>
            <a:r>
              <a:rPr lang="en-US" dirty="0"/>
              <a:t>Use “git merge” to copy files in local repository to files in working directory</a:t>
            </a:r>
          </a:p>
          <a:p>
            <a:r>
              <a:rPr lang="en-US" dirty="0"/>
              <a:t>git merge: compare versions of the same files to see if changes are compatible  </a:t>
            </a:r>
          </a:p>
        </p:txBody>
      </p:sp>
    </p:spTree>
    <p:extLst>
      <p:ext uri="{BB962C8B-B14F-4D97-AF65-F5344CB8AC3E}">
        <p14:creationId xmlns:p14="http://schemas.microsoft.com/office/powerpoint/2010/main" val="934813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CCD5-B5A9-4DB1-95C2-59FBD1D48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8922-B48F-4672-9A1D-3DAEDEBC3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create a branch? </a:t>
            </a:r>
          </a:p>
          <a:p>
            <a:pPr lvl="1"/>
            <a:r>
              <a:rPr lang="en-US" dirty="0"/>
              <a:t>Work on features in isolation</a:t>
            </a:r>
          </a:p>
          <a:p>
            <a:pPr lvl="1"/>
            <a:r>
              <a:rPr lang="en-US" dirty="0"/>
              <a:t>Make changes safely</a:t>
            </a:r>
          </a:p>
          <a:p>
            <a:endParaRPr lang="en-US" dirty="0"/>
          </a:p>
          <a:p>
            <a:r>
              <a:rPr lang="en-US" dirty="0"/>
              <a:t>git branch hello-world-images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472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30EBA-0D8E-4BF1-BE27-580A9B93C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E89D1-E6A3-4FA6-AA30-598FA80ED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branches: git branch -a</a:t>
            </a:r>
          </a:p>
          <a:p>
            <a:r>
              <a:rPr lang="en-US" dirty="0"/>
              <a:t>Move to a new branch: git checkout [ branch name]</a:t>
            </a:r>
          </a:p>
          <a:p>
            <a:r>
              <a:rPr lang="en-US" dirty="0"/>
              <a:t>Delete a branch: git branch –d [branch name]</a:t>
            </a:r>
          </a:p>
          <a:p>
            <a:r>
              <a:rPr lang="en-US" dirty="0"/>
              <a:t>Compare two branches: git diff [source branch] [target branch]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891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580E-C966-4FE7-AB0C-5C5CFB5F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DAB68-76F5-42B5-BA4E-624D999BB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does not automatically add changes to a file</a:t>
            </a:r>
          </a:p>
          <a:p>
            <a:pPr lvl="1"/>
            <a:r>
              <a:rPr lang="en-US" dirty="0"/>
              <a:t>Files are saved in working directory</a:t>
            </a:r>
          </a:p>
          <a:p>
            <a:pPr lvl="1"/>
            <a:r>
              <a:rPr lang="en-US" dirty="0"/>
              <a:t>Need to tell Git what changes to add to local repository</a:t>
            </a:r>
          </a:p>
        </p:txBody>
      </p:sp>
    </p:spTree>
    <p:extLst>
      <p:ext uri="{BB962C8B-B14F-4D97-AF65-F5344CB8AC3E}">
        <p14:creationId xmlns:p14="http://schemas.microsoft.com/office/powerpoint/2010/main" val="1753893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CDFF-9729-4045-AA41-8B6930F8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add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B98A8-BF56-4D62-846E-50EBFA4A2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 files from working directory to local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9A4AB4-942B-4D77-B05D-DF2301F178C3}"/>
              </a:ext>
            </a:extLst>
          </p:cNvPr>
          <p:cNvSpPr txBox="1"/>
          <p:nvPr/>
        </p:nvSpPr>
        <p:spPr>
          <a:xfrm>
            <a:off x="7382933" y="3090331"/>
            <a:ext cx="2540000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0D541-2C5F-42BE-93A8-DA7964689CD7}"/>
              </a:ext>
            </a:extLst>
          </p:cNvPr>
          <p:cNvSpPr txBox="1"/>
          <p:nvPr/>
        </p:nvSpPr>
        <p:spPr>
          <a:xfrm>
            <a:off x="7645400" y="3716867"/>
            <a:ext cx="17610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Staging area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NEWFILE.py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22416-43BA-471E-8A43-75DFB4FDE7E8}"/>
              </a:ext>
            </a:extLst>
          </p:cNvPr>
          <p:cNvSpPr txBox="1"/>
          <p:nvPr/>
        </p:nvSpPr>
        <p:spPr>
          <a:xfrm>
            <a:off x="1854200" y="2931211"/>
            <a:ext cx="25400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Working directory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data/ </a:t>
            </a:r>
          </a:p>
          <a:p>
            <a:pPr marL="285750" indent="-285750">
              <a:buFontTx/>
              <a:buChar char="-"/>
            </a:pPr>
            <a:r>
              <a:rPr lang="en-US" dirty="0"/>
              <a:t>Readme.MD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Helloworld.py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requirements.txt</a:t>
            </a:r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NEWFILE.py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A293BC-774B-459E-B174-9A3FF27C58AA}"/>
              </a:ext>
            </a:extLst>
          </p:cNvPr>
          <p:cNvCxnSpPr/>
          <p:nvPr/>
        </p:nvCxnSpPr>
        <p:spPr>
          <a:xfrm>
            <a:off x="4521200" y="4316508"/>
            <a:ext cx="286173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710FB5F-10E1-40B7-A2A2-5F9F9AA7E6D7}"/>
              </a:ext>
            </a:extLst>
          </p:cNvPr>
          <p:cNvSpPr txBox="1"/>
          <p:nvPr/>
        </p:nvSpPr>
        <p:spPr>
          <a:xfrm>
            <a:off x="4762499" y="3847341"/>
            <a:ext cx="237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add NEWFILE.py</a:t>
            </a:r>
          </a:p>
        </p:txBody>
      </p:sp>
    </p:spTree>
    <p:extLst>
      <p:ext uri="{BB962C8B-B14F-4D97-AF65-F5344CB8AC3E}">
        <p14:creationId xmlns:p14="http://schemas.microsoft.com/office/powerpoint/2010/main" val="22144755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F280-D917-42C9-B30E-324A5058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Committing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746A-BCC9-491A-BD3C-930EC1C87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B0D2C-CABB-4E60-AA13-EA216DA150E2}"/>
              </a:ext>
            </a:extLst>
          </p:cNvPr>
          <p:cNvSpPr txBox="1"/>
          <p:nvPr/>
        </p:nvSpPr>
        <p:spPr>
          <a:xfrm>
            <a:off x="1405464" y="2857996"/>
            <a:ext cx="728133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A7ADD-5B41-4A26-822F-B6AF940F65AA}"/>
              </a:ext>
            </a:extLst>
          </p:cNvPr>
          <p:cNvSpPr txBox="1"/>
          <p:nvPr/>
        </p:nvSpPr>
        <p:spPr>
          <a:xfrm>
            <a:off x="1566333" y="3522133"/>
            <a:ext cx="17610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Staging area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NEWFILE.py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90DE5-A52F-4BD4-8180-32E237455222}"/>
              </a:ext>
            </a:extLst>
          </p:cNvPr>
          <p:cNvSpPr txBox="1"/>
          <p:nvPr/>
        </p:nvSpPr>
        <p:spPr>
          <a:xfrm>
            <a:off x="6777527" y="3490668"/>
            <a:ext cx="17610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NEWFILE.py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734D66-6F7A-4521-9AED-C5D3F6888084}"/>
              </a:ext>
            </a:extLst>
          </p:cNvPr>
          <p:cNvCxnSpPr>
            <a:cxnSpLocks/>
          </p:cNvCxnSpPr>
          <p:nvPr/>
        </p:nvCxnSpPr>
        <p:spPr>
          <a:xfrm>
            <a:off x="3429000" y="4318000"/>
            <a:ext cx="33485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A8B5A6F-161E-4004-9779-5F4C50E622D8}"/>
              </a:ext>
            </a:extLst>
          </p:cNvPr>
          <p:cNvSpPr txBox="1"/>
          <p:nvPr/>
        </p:nvSpPr>
        <p:spPr>
          <a:xfrm>
            <a:off x="3629552" y="3583001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commit –m “added NEWFILE.py</a:t>
            </a:r>
          </a:p>
        </p:txBody>
      </p:sp>
    </p:spTree>
    <p:extLst>
      <p:ext uri="{BB962C8B-B14F-4D97-AF65-F5344CB8AC3E}">
        <p14:creationId xmlns:p14="http://schemas.microsoft.com/office/powerpoint/2010/main" val="2925196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7099A-F7F8-4042-B50A-95756834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Commit Files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DA8B7D-4120-40DA-8659-5588BFC8EC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2907" y="2302933"/>
            <a:ext cx="5456193" cy="310717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1BEE9-237B-4BA5-B878-43711911C6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git commit -m "First release of Hello World!" </a:t>
            </a:r>
          </a:p>
          <a:p>
            <a:r>
              <a:rPr lang="en-GB" dirty="0"/>
              <a:t>-m specifies message to use when committing files</a:t>
            </a:r>
          </a:p>
          <a:p>
            <a:r>
              <a:rPr lang="en-US" dirty="0"/>
              <a:t>Message describes changes made in commit</a:t>
            </a:r>
          </a:p>
          <a:p>
            <a:pPr lvl="1"/>
            <a:r>
              <a:rPr lang="en-US" dirty="0"/>
              <a:t>Should be informative and clear</a:t>
            </a:r>
          </a:p>
        </p:txBody>
      </p:sp>
    </p:spTree>
    <p:extLst>
      <p:ext uri="{BB962C8B-B14F-4D97-AF65-F5344CB8AC3E}">
        <p14:creationId xmlns:p14="http://schemas.microsoft.com/office/powerpoint/2010/main" val="1886535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AE09A0-4035-49BA-9144-95B25CFE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commit messages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78657E-F97E-4E58-A4B0-745AFC36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https://www.freecodecamp.org/news/writing-good-commit-messages-a-practical-guide/</a:t>
            </a:r>
            <a:endParaRPr lang="en-US" dirty="0"/>
          </a:p>
          <a:p>
            <a:r>
              <a:rPr lang="en-US" dirty="0"/>
              <a:t>Summary: Write commit messages similar to email</a:t>
            </a:r>
          </a:p>
          <a:p>
            <a:pPr lvl="1"/>
            <a:r>
              <a:rPr lang="en-US" dirty="0"/>
              <a:t>First line like subject: Contains short summary of changes</a:t>
            </a:r>
          </a:p>
          <a:p>
            <a:pPr lvl="1"/>
            <a:r>
              <a:rPr lang="en-US" dirty="0"/>
              <a:t>Following lines like body: More detailed but still brief explanation of changes</a:t>
            </a:r>
          </a:p>
          <a:p>
            <a:r>
              <a:rPr lang="en-US" dirty="0"/>
              <a:t>Want to be able to return to commit in the future and easily tell what was done	</a:t>
            </a:r>
          </a:p>
        </p:txBody>
      </p:sp>
    </p:spTree>
    <p:extLst>
      <p:ext uri="{BB962C8B-B14F-4D97-AF65-F5344CB8AC3E}">
        <p14:creationId xmlns:p14="http://schemas.microsoft.com/office/powerpoint/2010/main" val="743631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4D3E-F83D-43BD-BBDE-F5A92731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push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1A8129-63DF-485F-AE14-964D7797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push [remote repository] [local repository]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796AD-2489-45B6-8CFF-6FA0EE4FCA18}"/>
              </a:ext>
            </a:extLst>
          </p:cNvPr>
          <p:cNvSpPr txBox="1"/>
          <p:nvPr/>
        </p:nvSpPr>
        <p:spPr>
          <a:xfrm>
            <a:off x="1103312" y="3064931"/>
            <a:ext cx="251195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Local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61824-2607-4205-8437-5B5660CECCF2}"/>
              </a:ext>
            </a:extLst>
          </p:cNvPr>
          <p:cNvSpPr txBox="1"/>
          <p:nvPr/>
        </p:nvSpPr>
        <p:spPr>
          <a:xfrm>
            <a:off x="1468927" y="3618928"/>
            <a:ext cx="17610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Commits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NEWFILE.py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8AA6C1-77C5-42A8-92EA-8B6C69C7D5A4}"/>
              </a:ext>
            </a:extLst>
          </p:cNvPr>
          <p:cNvCxnSpPr/>
          <p:nvPr/>
        </p:nvCxnSpPr>
        <p:spPr>
          <a:xfrm>
            <a:off x="3801533" y="4030133"/>
            <a:ext cx="293793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1E828B-C946-45BE-B46C-BA176B5514CB}"/>
              </a:ext>
            </a:extLst>
          </p:cNvPr>
          <p:cNvSpPr txBox="1"/>
          <p:nvPr/>
        </p:nvSpPr>
        <p:spPr>
          <a:xfrm>
            <a:off x="6835246" y="3064930"/>
            <a:ext cx="251195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Remote repository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80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FD47-D0B5-47DF-B99D-6B9AD25B8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E64070-9830-4188-B734-507DD34058A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6111" y="1148621"/>
            <a:ext cx="4259707" cy="5569174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E15B1-BE6B-4F79-868E-58A93543CF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8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C42B79-6F94-4767-8B83-D07AC21F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virtual environments?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49677D-F9A2-4B40-9C12-7CBF7535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 conflicts</a:t>
            </a:r>
          </a:p>
          <a:p>
            <a:pPr lvl="1"/>
            <a:r>
              <a:rPr lang="en-US" dirty="0"/>
              <a:t>Different versions of same package for different projects</a:t>
            </a:r>
          </a:p>
        </p:txBody>
      </p:sp>
    </p:spTree>
    <p:extLst>
      <p:ext uri="{BB962C8B-B14F-4D97-AF65-F5344CB8AC3E}">
        <p14:creationId xmlns:p14="http://schemas.microsoft.com/office/powerpoint/2010/main" val="3837475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30CE-5ED1-46B8-A0D7-4B04E8BF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to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ED61-7A38-4E57-916F-2C2F587AF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 freeze – list dependencies in virtual environment</a:t>
            </a:r>
          </a:p>
          <a:p>
            <a:r>
              <a:rPr lang="en-US" dirty="0"/>
              <a:t>pip freeze &gt; requirements.txt </a:t>
            </a:r>
          </a:p>
          <a:p>
            <a:pPr lvl="1"/>
            <a:r>
              <a:rPr lang="en-US" dirty="0"/>
              <a:t>Write dependencies in virtual environment to file</a:t>
            </a:r>
          </a:p>
          <a:p>
            <a:pPr lvl="1"/>
            <a:r>
              <a:rPr lang="en-US" dirty="0"/>
              <a:t>Allows anyone to easily replicate GitHub project </a:t>
            </a:r>
          </a:p>
        </p:txBody>
      </p:sp>
    </p:spTree>
    <p:extLst>
      <p:ext uri="{BB962C8B-B14F-4D97-AF65-F5344CB8AC3E}">
        <p14:creationId xmlns:p14="http://schemas.microsoft.com/office/powerpoint/2010/main" val="1013209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F3EF-AFA9-4C68-9107-1F0395DC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Markdown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3B5518-E2D6-1D8B-FD35-79F977F3E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387" y="2027038"/>
            <a:ext cx="8946541" cy="4195481"/>
          </a:xfrm>
        </p:spPr>
        <p:txBody>
          <a:bodyPr/>
          <a:lstStyle/>
          <a:p>
            <a:r>
              <a:rPr lang="en-US" dirty="0"/>
              <a:t>Code important but readme file tells users how to use code</a:t>
            </a:r>
          </a:p>
          <a:p>
            <a:r>
              <a:rPr lang="en-US" dirty="0"/>
              <a:t>Markdown used to format file </a:t>
            </a:r>
          </a:p>
          <a:p>
            <a:r>
              <a:rPr lang="en-US" dirty="0">
                <a:hlinkClick r:id="rId2"/>
              </a:rPr>
              <a:t>https://www.markdownguide.org/cheat-sheet/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BF18D-7ADE-16D0-9DCB-D9A819FA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343" y="2405280"/>
            <a:ext cx="4508187" cy="423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486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439B9-7C20-4B35-9B54-38BDE9EC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for Learning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9E95-7FBE-4C16-8B88-7C6E90291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10208155" cy="4195481"/>
          </a:xfrm>
        </p:spPr>
        <p:txBody>
          <a:bodyPr/>
          <a:lstStyle/>
          <a:p>
            <a:r>
              <a:rPr lang="en-US" dirty="0"/>
              <a:t>https://teamtreehouse.com/library/introduction-to-git</a:t>
            </a:r>
          </a:p>
          <a:p>
            <a:r>
              <a:rPr lang="en-US" dirty="0"/>
              <a:t>https://www.codecademy.com/learn/learn-git?utm_source=pepperjam&amp;utm_medium=affiliate&amp;utm_term=21181&amp;clickId=4868498184&amp;pj_creativeid=8-12462&amp;pj_publisherid=21181</a:t>
            </a:r>
          </a:p>
          <a:p>
            <a:r>
              <a:rPr lang="en-US" dirty="0"/>
              <a:t>https://docs.github.com/en/get-started/start-your-journey/hello-world</a:t>
            </a:r>
          </a:p>
          <a:p>
            <a:r>
              <a:rPr lang="en-US" dirty="0"/>
              <a:t>http://www-cs-students.stanford.edu/~blynn/gitmagic/</a:t>
            </a:r>
          </a:p>
        </p:txBody>
      </p:sp>
    </p:spTree>
    <p:extLst>
      <p:ext uri="{BB962C8B-B14F-4D97-AF65-F5344CB8AC3E}">
        <p14:creationId xmlns:p14="http://schemas.microsoft.com/office/powerpoint/2010/main" val="1298952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14614</TotalTime>
  <Words>982</Words>
  <Application>Microsoft Office PowerPoint</Application>
  <PresentationFormat>Widescreen</PresentationFormat>
  <Paragraphs>254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Century Gothic</vt:lpstr>
      <vt:lpstr>Wingdings 3</vt:lpstr>
      <vt:lpstr>Ion</vt:lpstr>
      <vt:lpstr>Understanding GitHub</vt:lpstr>
      <vt:lpstr>Class outline</vt:lpstr>
      <vt:lpstr>What is GitHub</vt:lpstr>
      <vt:lpstr>PowerPoint Presentation</vt:lpstr>
      <vt:lpstr>Version Control</vt:lpstr>
      <vt:lpstr>What is version control?</vt:lpstr>
      <vt:lpstr>GitHub Workflow</vt:lpstr>
      <vt:lpstr>Useful commands/files</vt:lpstr>
      <vt:lpstr>GitHub structure</vt:lpstr>
      <vt:lpstr>Working directory</vt:lpstr>
      <vt:lpstr>Local repository</vt:lpstr>
      <vt:lpstr>Remote repository</vt:lpstr>
      <vt:lpstr>Key commands</vt:lpstr>
      <vt:lpstr>Taking files from GitHub</vt:lpstr>
      <vt:lpstr>Git clone vs. git fork</vt:lpstr>
      <vt:lpstr>Git clone vs. git fork</vt:lpstr>
      <vt:lpstr>Git clone vs. git fork</vt:lpstr>
      <vt:lpstr>git pull vs. git fetch</vt:lpstr>
      <vt:lpstr>Git pull</vt:lpstr>
      <vt:lpstr>Git fetch</vt:lpstr>
      <vt:lpstr>Creating a branch</vt:lpstr>
      <vt:lpstr>Navigating branches</vt:lpstr>
      <vt:lpstr>Adding files</vt:lpstr>
      <vt:lpstr>Git add </vt:lpstr>
      <vt:lpstr>Committing files</vt:lpstr>
      <vt:lpstr>Commit Files</vt:lpstr>
      <vt:lpstr>Writing commit messages</vt:lpstr>
      <vt:lpstr>Git push </vt:lpstr>
      <vt:lpstr>Virtual Environments</vt:lpstr>
      <vt:lpstr>Why virtual environments?</vt:lpstr>
      <vt:lpstr>Relevance to GitHub</vt:lpstr>
      <vt:lpstr>Markdown</vt:lpstr>
      <vt:lpstr>Resources for Learning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GitHub</dc:title>
  <dc:creator>Raymond Hicks</dc:creator>
  <cp:lastModifiedBy>Raymond Hicks</cp:lastModifiedBy>
  <cp:revision>43</cp:revision>
  <dcterms:created xsi:type="dcterms:W3CDTF">2024-10-07T14:37:59Z</dcterms:created>
  <dcterms:modified xsi:type="dcterms:W3CDTF">2026-01-27T17:36:45Z</dcterms:modified>
</cp:coreProperties>
</file>